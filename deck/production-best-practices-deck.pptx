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</p:sldIdLst>
  <p:sldSz cy="10287000" cx="18288000"/>
  <p:notesSz cx="10287000" cy="18288000"/>
  <p:embeddedFontLst>
    <p:embeddedFont>
      <p:font typeface="Inter"/>
      <p:regular r:id="rId76"/>
      <p:bold r:id="rId77"/>
      <p:italic r:id="rId78"/>
      <p:boldItalic r:id="rId79"/>
    </p:embeddedFont>
    <p:embeddedFont>
      <p:font typeface="Plus Jakarta Sans"/>
      <p:regular r:id="rId80"/>
      <p:bold r:id="rId81"/>
      <p:italic r:id="rId82"/>
      <p:boldItalic r:id="rId8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slide" Target="slides/slide68.xml"/><Relationship Id="rId73" Type="http://schemas.openxmlformats.org/officeDocument/2006/relationships/slide" Target="slides/slide69.xml"/><Relationship Id="rId74" Type="http://schemas.openxmlformats.org/officeDocument/2006/relationships/slide" Target="slides/slide70.xml"/><Relationship Id="rId75" Type="http://schemas.openxmlformats.org/officeDocument/2006/relationships/slide" Target="slides/slide71.xml"/><Relationship Id="rId76" Type="http://schemas.openxmlformats.org/officeDocument/2006/relationships/font" Target="fonts/Inter-regular.fntdata"/><Relationship Id="rId77" Type="http://schemas.openxmlformats.org/officeDocument/2006/relationships/font" Target="fonts/Inter-bold.fntdata"/><Relationship Id="rId78" Type="http://schemas.openxmlformats.org/officeDocument/2006/relationships/font" Target="fonts/Inter-italic.fntdata"/><Relationship Id="rId79" Type="http://schemas.openxmlformats.org/officeDocument/2006/relationships/font" Target="fonts/Inter-boldItalic.fntdata"/><Relationship Id="rId80" Type="http://schemas.openxmlformats.org/officeDocument/2006/relationships/font" Target="fonts/PlusJakartaSans-regular.fntdata"/><Relationship Id="rId81" Type="http://schemas.openxmlformats.org/officeDocument/2006/relationships/font" Target="fonts/PlusJakartaSans-bold.fntdata"/><Relationship Id="rId82" Type="http://schemas.openxmlformats.org/officeDocument/2006/relationships/font" Target="fonts/PlusJakartaSans-italic.fntdata"/><Relationship Id="rId83" Type="http://schemas.openxmlformats.org/officeDocument/2006/relationships/font" Target="fonts/PlusJakarta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95" name="Google Shape;9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68" name="Google Shape;16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99" name="Google Shape;19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227" name="Google Shape;22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247" name="Google Shape;24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315" name="Google Shape;31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374" name="Google Shape;37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409" name="Google Shape;40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438" name="Google Shape;43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473" name="Google Shape;47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492" name="Google Shape;49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554" name="Google Shape;55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6" name="Google Shape;57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577" name="Google Shape;57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600" name="Google Shape;60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" name="Google Shape;62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629" name="Google Shape;62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6" name="Google Shape;65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657" name="Google Shape;65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691" name="Google Shape;69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0" name="Google Shape;71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711" name="Google Shape;71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8" name="Google Shape;74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749" name="Google Shape;74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4" name="Google Shape;77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775" name="Google Shape;775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3" name="Google Shape;80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804" name="Google Shape;804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8" name="Google Shape;83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839" name="Google Shape;839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7" name="Google Shape;85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858" name="Google Shape;858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4" name="Google Shape;90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905" name="Google Shape;905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7" name="Google Shape;92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928" name="Google Shape;92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7" name="Google Shape;95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958" name="Google Shape;958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4" name="Google Shape;97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975" name="Google Shape;975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7" name="Google Shape;997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998" name="Google Shape;998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6" name="Google Shape;1026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027" name="Google Shape;1027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9" name="Google Shape;1049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050" name="Google Shape;1050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0" name="Google Shape;109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091" name="Google Shape;1091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1" name="Google Shape;1121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122" name="Google Shape;1122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6" name="Google Shape;1156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157" name="Google Shape;1157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5" name="Google Shape;117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176" name="Google Shape;1176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6" name="Google Shape;1216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217" name="Google Shape;1217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0" name="Google Shape;126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261" name="Google Shape;1261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5" name="Google Shape;1295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296" name="Google Shape;1296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5" name="Google Shape;1315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316" name="Google Shape;1316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9" name="Google Shape;1339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340" name="Google Shape;1340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9" name="Google Shape;1359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360" name="Google Shape;1360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0" name="Google Shape;1390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391" name="Google Shape;1391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5" name="Google Shape;1425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426" name="Google Shape;1426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4" name="Google Shape;1444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445" name="Google Shape;1445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3" name="Google Shape;1473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474" name="Google Shape;1474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1" name="Google Shape;1501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502" name="Google Shape;1502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6" name="Google Shape;1566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567" name="Google Shape;1567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0" name="Google Shape;1600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601" name="Google Shape;1601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8" name="Google Shape;1628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629" name="Google Shape;1629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4" name="Google Shape;1654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655" name="Google Shape;1655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5" name="Google Shape;1695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696" name="Google Shape;1696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3" name="Google Shape;1723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724" name="Google Shape;1724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9" name="Google Shape;1749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750" name="Google Shape;1750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5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Google Shape;1776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7" name="Google Shape;1777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778" name="Google Shape;1778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9" name="Google Shape;1789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790" name="Google Shape;1790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9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1940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1" name="Google Shape;1941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942" name="Google Shape;1942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7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Google Shape;2028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9" name="Google Shape;2029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2030" name="Google Shape;2030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7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9" name="Google Shape;2059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2060" name="Google Shape;2060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6" name="Shape 2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Google Shape;2077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8" name="Google Shape;2078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2079" name="Google Shape;2079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4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6" name="Google Shape;2126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2127" name="Google Shape;2127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4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6" name="Google Shape;2156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2157" name="Google Shape;2157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4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6" name="Google Shape;2186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2187" name="Google Shape;2187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2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Google Shape;2213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4" name="Google Shape;2214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2215" name="Google Shape;2215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4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6" name="Google Shape;2236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2237" name="Google Shape;2237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4" name="Shape 2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5" name="Google Shape;2265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6" name="Google Shape;2266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2267" name="Google Shape;2267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8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9" name="Google Shape;2299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0" name="Google Shape;2300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2301" name="Google Shape;2301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4" name="Shape 2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5" name="Google Shape;2315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6" name="Google Shape;2316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2317" name="Google Shape;2317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4" name="Shape 2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" name="Google Shape;2345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6" name="Google Shape;2346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2347" name="Google Shape;2347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Relationship Id="rId4" Type="http://schemas.openxmlformats.org/officeDocument/2006/relationships/image" Target="../media/image3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png"/><Relationship Id="rId4" Type="http://schemas.openxmlformats.org/officeDocument/2006/relationships/image" Target="../media/image3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4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4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4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4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4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4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4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4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4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4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4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4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4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4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4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34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0C4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87" r="87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" y="857250"/>
            <a:ext cx="2214265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1047750" y="3777704"/>
            <a:ext cx="17811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871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A6D53B"/>
                </a:solidFill>
                <a:latin typeface="Inter"/>
                <a:ea typeface="Inter"/>
                <a:cs typeface="Inter"/>
                <a:sym typeface="Inter"/>
              </a:rPr>
              <a:t>COURSE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047750" y="4292054"/>
            <a:ext cx="12753975" cy="21981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0"/>
              <a:buFont typeface="Plus Jakarta Sans"/>
              <a:buNone/>
            </a:pPr>
            <a:r>
              <a:rPr b="1" i="0" lang="en-US" sz="81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Production Best Practices</a:t>
            </a:r>
            <a:endParaRPr b="0" i="0" sz="8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047750" y="8458200"/>
            <a:ext cx="971550" cy="971550"/>
          </a:xfrm>
          <a:prstGeom prst="ellipse">
            <a:avLst/>
          </a:prstGeom>
          <a:noFill/>
          <a:ln cap="flat" cmpd="sng" w="28575">
            <a:solidFill>
              <a:srgbClr val="A6D5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" name="Google Shape;21;p3" title="IMG_0074 2.JPG"/>
          <p:cNvPicPr preferRelativeResize="0"/>
          <p:nvPr/>
        </p:nvPicPr>
        <p:blipFill rotWithShape="1">
          <a:blip r:embed="rId5">
            <a:alphaModFix/>
          </a:blip>
          <a:srcRect b="12495" l="0" r="0" t="12503"/>
          <a:stretch/>
        </p:blipFill>
        <p:spPr>
          <a:xfrm>
            <a:off x="1047750" y="8458200"/>
            <a:ext cx="971700" cy="971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>
            <a:off x="2266950" y="8591550"/>
            <a:ext cx="397195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Mila Vernazza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2266950" y="9010650"/>
            <a:ext cx="397195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5E4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B9B5E4"/>
                </a:solidFill>
                <a:latin typeface="Inter"/>
                <a:ea typeface="Inter"/>
                <a:cs typeface="Inter"/>
                <a:sym typeface="Inter"/>
              </a:rPr>
              <a:t>Customer Solutions Engineering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0C49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" name="Google Shape;29;p4"/>
          <p:cNvPicPr preferRelativeResize="0"/>
          <p:nvPr/>
        </p:nvPicPr>
        <p:blipFill rotWithShape="1">
          <a:blip r:embed="rId3">
            <a:alphaModFix/>
          </a:blip>
          <a:srcRect b="0" l="87" r="87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/>
          <p:nvPr/>
        </p:nvSpPr>
        <p:spPr>
          <a:xfrm>
            <a:off x="1047750" y="952500"/>
            <a:ext cx="13307898" cy="7085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lus Jakarta Sans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Today: decide → measure → defend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047750" y="1794421"/>
            <a:ext cx="13307898" cy="4247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C9C6E8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C9C6E8"/>
                </a:solidFill>
                <a:latin typeface="Inter"/>
                <a:ea typeface="Inter"/>
                <a:cs typeface="Inter"/>
                <a:sym typeface="Inter"/>
              </a:rPr>
              <a:t>One operating loop all day — every lab deliverable is a defense with evidence, not a screenshot.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" name="Google Shape;3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11563" y="952500"/>
            <a:ext cx="928688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1047750" y="2752576"/>
            <a:ext cx="5168801" cy="6677174"/>
          </a:xfrm>
          <a:prstGeom prst="roundRect">
            <a:avLst>
              <a:gd fmla="val 3686" name="adj"/>
            </a:avLst>
          </a:prstGeom>
          <a:solidFill>
            <a:srgbClr val="FFFFFF">
              <a:alpha val="7059"/>
            </a:srgbClr>
          </a:solidFill>
          <a:ln cap="flat" cmpd="sng" w="9525">
            <a:solidFill>
              <a:srgbClr val="FFFFF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495425" y="3181201"/>
            <a:ext cx="4401654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2475"/>
              <a:buFont typeface="Plus Jakarta Sans"/>
              <a:buNone/>
            </a:pPr>
            <a:r>
              <a:rPr b="1" i="0" lang="en-US" sz="2475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Production ≠ a bigger dev cluster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495425" y="4162276"/>
            <a:ext cx="4401654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E4E2F5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E4E2F5"/>
                </a:solidFill>
                <a:latin typeface="Inter"/>
                <a:ea typeface="Inter"/>
                <a:cs typeface="Inter"/>
                <a:sym typeface="Inter"/>
              </a:rPr>
              <a:t>Different failure math, different cost math, different blast radius. The habits that shipped the prototype are not the habits that keep it up.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6559451" y="2752576"/>
            <a:ext cx="5168950" cy="6677174"/>
          </a:xfrm>
          <a:prstGeom prst="roundRect">
            <a:avLst>
              <a:gd fmla="val 3685" name="adj"/>
            </a:avLst>
          </a:prstGeom>
          <a:solidFill>
            <a:srgbClr val="FFFFFF">
              <a:alpha val="7059"/>
            </a:srgbClr>
          </a:solidFill>
          <a:ln cap="flat" cmpd="sng" w="9525">
            <a:solidFill>
              <a:srgbClr val="FFFFF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7007126" y="3181201"/>
            <a:ext cx="470096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2475"/>
              <a:buFont typeface="Plus Jakarta Sans"/>
              <a:buNone/>
            </a:pPr>
            <a:r>
              <a:rPr b="1" i="0" lang="en-US" sz="2475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Decisions over defaults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7007126" y="3762226"/>
            <a:ext cx="4401808" cy="1895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E4E2F5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E4E2F5"/>
                </a:solidFill>
                <a:latin typeface="Inter"/>
                <a:ea typeface="Inter"/>
                <a:cs typeface="Inter"/>
                <a:sym typeface="Inter"/>
              </a:rPr>
              <a:t>Consistency level, quantization, schema flags, filter strategy — every default is a decision someone else made. Today you make them explicitly and write down why.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2071300" y="2752576"/>
            <a:ext cx="5168950" cy="6677174"/>
          </a:xfrm>
          <a:prstGeom prst="roundRect">
            <a:avLst>
              <a:gd fmla="val 3685" name="adj"/>
            </a:avLst>
          </a:prstGeom>
          <a:solidFill>
            <a:srgbClr val="FFFFFF">
              <a:alpha val="7059"/>
            </a:srgbClr>
          </a:solidFill>
          <a:ln cap="flat" cmpd="sng" w="9525">
            <a:solidFill>
              <a:srgbClr val="FFFFF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12518975" y="3181201"/>
            <a:ext cx="470096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2475"/>
              <a:buFont typeface="Plus Jakarta Sans"/>
              <a:buNone/>
            </a:pPr>
            <a:r>
              <a:rPr b="1" i="0" lang="en-US" sz="2475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Evidence over folklore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2518975" y="3762226"/>
            <a:ext cx="4401808" cy="2266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E4E2F5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E4E2F5"/>
                </a:solidFill>
                <a:latin typeface="Inter"/>
                <a:ea typeface="Inter"/>
                <a:cs typeface="Inter"/>
                <a:sym typeface="Inter"/>
              </a:rPr>
              <a:t>Claims earn their place with measurements: recall@k with latency percentiles, predictions committed before reveals, assumptions labeled so they can be tested.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/>
          <p:nvPr/>
        </p:nvSpPr>
        <p:spPr>
          <a:xfrm>
            <a:off x="1047750" y="800100"/>
            <a:ext cx="6188765" cy="6457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397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4350"/>
              <a:buFont typeface="Plus Jakarta Sans"/>
              <a:buNone/>
            </a:pPr>
            <a:r>
              <a:rPr b="1" i="0" lang="en-US" sz="43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Agenda &amp; objectives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" name="Google Shape;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3475" y="800100"/>
            <a:ext cx="866775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5"/>
          <p:cNvSpPr/>
          <p:nvPr/>
        </p:nvSpPr>
        <p:spPr>
          <a:xfrm>
            <a:off x="1047750" y="1864965"/>
            <a:ext cx="7924800" cy="2388245"/>
          </a:xfrm>
          <a:prstGeom prst="roundRect">
            <a:avLst>
              <a:gd fmla="val 7179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1390650" y="2169765"/>
            <a:ext cx="4202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8571"/>
              </a:lnSpc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3300"/>
              <a:buFont typeface="Plus Jakarta Sans"/>
              <a:buNone/>
            </a:pPr>
            <a:r>
              <a:rPr b="1" i="0" lang="en-US" sz="3300" u="none" cap="none" strike="noStrike">
                <a:solidFill>
                  <a:srgbClr val="0C8C5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2001441" y="2169765"/>
            <a:ext cx="729103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75"/>
              <a:buFont typeface="Plus Jakarta Sans"/>
              <a:buNone/>
            </a:pPr>
            <a:r>
              <a:rPr b="1" i="0" lang="en-US" sz="217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Architecture &amp; capacity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2001441" y="2607915"/>
            <a:ext cx="6827056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Turn a workload profile into a sizing, deployment and responsibility decision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9315450" y="1864965"/>
            <a:ext cx="7924800" cy="2388245"/>
          </a:xfrm>
          <a:prstGeom prst="roundRect">
            <a:avLst>
              <a:gd fmla="val 7179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9658350" y="2169765"/>
            <a:ext cx="49708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8571"/>
              </a:lnSpc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3300"/>
              <a:buFont typeface="Plus Jakarta Sans"/>
              <a:buNone/>
            </a:pPr>
            <a:r>
              <a:rPr b="1" i="0" lang="en-US" sz="3300" u="none" cap="none" strike="noStrike">
                <a:solidFill>
                  <a:srgbClr val="0C8C5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10345936" y="2169765"/>
            <a:ext cx="720655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75"/>
              <a:buFont typeface="Plus Jakarta Sans"/>
              <a:buNone/>
            </a:pPr>
            <a:r>
              <a:rPr b="1" i="0" lang="en-US" sz="217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Performance engineering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10345936" y="2607915"/>
            <a:ext cx="6747956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Choose index and quantization from evidence — and tune one variable at a time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1047750" y="4500860"/>
            <a:ext cx="7924800" cy="2388245"/>
          </a:xfrm>
          <a:prstGeom prst="roundRect">
            <a:avLst>
              <a:gd fmla="val 7179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1390650" y="4805660"/>
            <a:ext cx="5037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8571"/>
              </a:lnSpc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3300"/>
              <a:buFont typeface="Plus Jakarta Sans"/>
              <a:buNone/>
            </a:pPr>
            <a:r>
              <a:rPr b="1" i="0" lang="en-US" sz="3300" u="none" cap="none" strike="noStrike">
                <a:solidFill>
                  <a:srgbClr val="0C8C5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2084933" y="4805660"/>
            <a:ext cx="719918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75"/>
              <a:buFont typeface="Plus Jakarta Sans"/>
              <a:buNone/>
            </a:pPr>
            <a:r>
              <a:rPr b="1" i="0" lang="en-US" sz="217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Designed-for-failure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2084933" y="5243810"/>
            <a:ext cx="6741058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Predict how the cluster behaves under failure before you cause 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9315450" y="4500860"/>
            <a:ext cx="7924800" cy="2388245"/>
          </a:xfrm>
          <a:prstGeom prst="roundRect">
            <a:avLst>
              <a:gd fmla="val 7179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9658350" y="4805660"/>
            <a:ext cx="524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8571"/>
              </a:lnSpc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3300"/>
              <a:buFont typeface="Plus Jakarta Sans"/>
              <a:buNone/>
            </a:pPr>
            <a:r>
              <a:rPr b="1" i="0" lang="en-US" sz="3300" u="none" cap="none" strike="noStrike">
                <a:solidFill>
                  <a:srgbClr val="0C8C5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10373618" y="4805660"/>
            <a:ext cx="717610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75"/>
              <a:buFont typeface="Plus Jakarta Sans"/>
              <a:buNone/>
            </a:pPr>
            <a:r>
              <a:rPr b="1" i="0" lang="en-US" sz="217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Observability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10373618" y="5243810"/>
            <a:ext cx="6719444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Alert on symptoms and run the evidence-first troubleshooting 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1047750" y="7136755"/>
            <a:ext cx="7924800" cy="2388245"/>
          </a:xfrm>
          <a:prstGeom prst="roundRect">
            <a:avLst>
              <a:gd fmla="val 7179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1390650" y="7441555"/>
            <a:ext cx="50452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8571"/>
              </a:lnSpc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3300"/>
              <a:buFont typeface="Plus Jakarta Sans"/>
              <a:buNone/>
            </a:pPr>
            <a:r>
              <a:rPr b="1" i="0" lang="en-US" sz="3300" u="none" cap="none" strike="noStrike">
                <a:solidFill>
                  <a:srgbClr val="0C8C5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2085677" y="7441555"/>
            <a:ext cx="719837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75"/>
              <a:buFont typeface="Plus Jakarta Sans"/>
              <a:buNone/>
            </a:pPr>
            <a:r>
              <a:rPr b="1" i="0" lang="en-US" sz="217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Safe change &amp; security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2085677" y="7879705"/>
            <a:ext cx="6740292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Least-privilege access, restore-tested backups, upgrades that can roll back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9315450" y="7136755"/>
            <a:ext cx="7924800" cy="2388245"/>
          </a:xfrm>
          <a:prstGeom prst="roundRect">
            <a:avLst>
              <a:gd fmla="val 7179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9658350" y="7441555"/>
            <a:ext cx="50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8571"/>
              </a:lnSpc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3300"/>
              <a:buFont typeface="Plus Jakarta Sans"/>
              <a:buNone/>
            </a:pPr>
            <a:r>
              <a:rPr b="1" i="0" lang="en-US" sz="3300" u="none" cap="none" strike="noStrike">
                <a:solidFill>
                  <a:srgbClr val="0C8C5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10349210" y="7441555"/>
            <a:ext cx="720295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75"/>
              <a:buFont typeface="Plus Jakarta Sans"/>
              <a:buNone/>
            </a:pPr>
            <a:r>
              <a:rPr b="1" i="0" lang="en-US" sz="217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Capstone &amp; action plan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0349210" y="7879705"/>
            <a:ext cx="6744584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Defend an </a:t>
            </a:r>
            <a:r>
              <a:rPr lang="en-US" sz="1800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Acme</a:t>
            </a: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 change brief and leave with your 30/60/90 plan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0C49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8" name="Google Shape;78;p6"/>
          <p:cNvPicPr preferRelativeResize="0"/>
          <p:nvPr/>
        </p:nvPicPr>
        <p:blipFill rotWithShape="1">
          <a:blip r:embed="rId3">
            <a:alphaModFix/>
          </a:blip>
          <a:srcRect b="0" l="87" r="87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6"/>
          <p:cNvSpPr/>
          <p:nvPr/>
        </p:nvSpPr>
        <p:spPr>
          <a:xfrm>
            <a:off x="1047750" y="952500"/>
            <a:ext cx="1339875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75"/>
              <a:buFont typeface="Inter"/>
              <a:buNone/>
            </a:pPr>
            <a:r>
              <a:rPr b="1" i="0" lang="en-US" sz="1875" u="none" cap="none" strike="noStrike">
                <a:solidFill>
                  <a:srgbClr val="A6D53B"/>
                </a:solidFill>
                <a:latin typeface="Inter"/>
                <a:ea typeface="Inter"/>
                <a:cs typeface="Inter"/>
                <a:sym typeface="Inter"/>
              </a:rPr>
              <a:t>SEGMENT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1047750" y="1381125"/>
            <a:ext cx="13398758" cy="8198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Plus Jakarta Sans"/>
              <a:buNone/>
            </a:pPr>
            <a:r>
              <a:rPr b="1" i="0" lang="en-US" sz="57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Architecture &amp; capacity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1047750" y="2353419"/>
            <a:ext cx="13398758" cy="4385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143"/>
              </a:lnSpc>
              <a:spcBef>
                <a:spcPts val="0"/>
              </a:spcBef>
              <a:spcAft>
                <a:spcPts val="0"/>
              </a:spcAft>
              <a:buClr>
                <a:srgbClr val="C9C6E8"/>
              </a:buClr>
              <a:buSzPts val="2175"/>
              <a:buFont typeface="Inter"/>
              <a:buNone/>
            </a:pPr>
            <a:r>
              <a:rPr b="0" i="0" lang="en-US" sz="2175" u="none" cap="none" strike="noStrike">
                <a:solidFill>
                  <a:srgbClr val="C9C6E8"/>
                </a:solidFill>
                <a:latin typeface="Inter"/>
                <a:ea typeface="Inter"/>
                <a:cs typeface="Inter"/>
                <a:sym typeface="Inter"/>
              </a:rPr>
              <a:t>Mis-sizing shows up months later — as a latency cliff or an invoice cliff. Decide it on purpose.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" name="Google Shape;8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11563" y="952500"/>
            <a:ext cx="928688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6"/>
          <p:cNvSpPr/>
          <p:nvPr/>
        </p:nvSpPr>
        <p:spPr>
          <a:xfrm>
            <a:off x="1047750" y="3287316"/>
            <a:ext cx="5168801" cy="6142434"/>
          </a:xfrm>
          <a:prstGeom prst="roundRect">
            <a:avLst>
              <a:gd fmla="val 3686" name="adj"/>
            </a:avLst>
          </a:prstGeom>
          <a:solidFill>
            <a:srgbClr val="FFFFFF">
              <a:alpha val="7059"/>
            </a:srgbClr>
          </a:solidFill>
          <a:ln cap="flat" cmpd="sng" w="9525">
            <a:solidFill>
              <a:srgbClr val="FFFFF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1476375" y="3677841"/>
            <a:ext cx="474270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consequence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1476375" y="4211241"/>
            <a:ext cx="4440897" cy="1824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4E2F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E4E2F5"/>
                </a:solidFill>
                <a:latin typeface="Inter"/>
                <a:ea typeface="Inter"/>
                <a:cs typeface="Inter"/>
                <a:sym typeface="Inter"/>
              </a:rPr>
              <a:t>A mis-sized cluster fails two ways: the latency cliff (vector cache eviction under memory pressure) and the invoice cliff. Both were decided at design time.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6559451" y="3287316"/>
            <a:ext cx="5168950" cy="6142434"/>
          </a:xfrm>
          <a:prstGeom prst="roundRect">
            <a:avLst>
              <a:gd fmla="val 3685" name="adj"/>
            </a:avLst>
          </a:prstGeom>
          <a:solidFill>
            <a:srgbClr val="FFFFFF">
              <a:alpha val="7059"/>
            </a:srgbClr>
          </a:solidFill>
          <a:ln cap="flat" cmpd="sng" w="9525">
            <a:solidFill>
              <a:srgbClr val="FFFFF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6988076" y="3677841"/>
            <a:ext cx="474287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decisions in this segment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6988076" y="4211241"/>
            <a:ext cx="4441051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4E2F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E4E2F5"/>
                </a:solidFill>
                <a:latin typeface="Inter"/>
                <a:ea typeface="Inter"/>
                <a:cs typeface="Inter"/>
                <a:sym typeface="Inter"/>
              </a:rPr>
              <a:t>Source-of-truth boundary · ingestion contract · schema and index flags · deployment responsibility · a capacity estimate you can defend with a range.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12071300" y="3287316"/>
            <a:ext cx="5168950" cy="6142434"/>
          </a:xfrm>
          <a:prstGeom prst="roundRect">
            <a:avLst>
              <a:gd fmla="val 3685" name="adj"/>
            </a:avLst>
          </a:prstGeom>
          <a:solidFill>
            <a:srgbClr val="FFFFFF">
              <a:alpha val="7059"/>
            </a:srgbClr>
          </a:solidFill>
          <a:ln cap="flat" cmpd="sng" w="9525">
            <a:solidFill>
              <a:srgbClr val="FFFFF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12499925" y="3677841"/>
            <a:ext cx="474287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2250"/>
              <a:buFont typeface="Plus Jakarta Sans"/>
              <a:buNone/>
            </a:pPr>
            <a:r>
              <a:rPr b="1" lang="en-US" sz="2250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Acme</a:t>
            </a:r>
            <a:r>
              <a:rPr b="1" i="0" lang="en-US" sz="225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Retail — illustrative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12499925" y="4211241"/>
            <a:ext cx="4441051" cy="1824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4E2F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E4E2F5"/>
                </a:solidFill>
                <a:latin typeface="Inter"/>
                <a:ea typeface="Inter"/>
                <a:cs typeface="Inter"/>
                <a:sym typeface="Inter"/>
              </a:rPr>
              <a:t>40 M objects · 768-dim × 2 named vectors · 1,200 tenants · 450 QPS peak · p95 ≤ 120 ms · 99.9 % · RPO 1 h / RTO 4 h. An invented scenario built to force trade-offs.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/>
          <p:nvPr/>
        </p:nvSpPr>
        <p:spPr>
          <a:xfrm>
            <a:off x="1047750" y="723900"/>
            <a:ext cx="10148932" cy="6037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353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4050"/>
              <a:buFont typeface="Plus Jakarta Sans"/>
              <a:buNone/>
            </a:pPr>
            <a:r>
              <a:rPr b="1" lang="en-US" sz="4050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Acme</a:t>
            </a:r>
            <a:r>
              <a:rPr b="1" i="0" lang="en-US" sz="40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Retail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1047750" y="1403896"/>
            <a:ext cx="10148932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The workload we carry all day — invented numbers chosen to force trade-offs.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12703969" y="733425"/>
            <a:ext cx="3502819" cy="476250"/>
          </a:xfrm>
          <a:prstGeom prst="roundRect">
            <a:avLst>
              <a:gd fmla="val 50000" name="adj"/>
            </a:avLst>
          </a:prstGeom>
          <a:solidFill>
            <a:srgbClr val="F3F9CF"/>
          </a:solidFill>
          <a:ln cap="flat" cmpd="sng" w="9525">
            <a:solidFill>
              <a:srgbClr val="C9D6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12923044" y="857250"/>
            <a:ext cx="316975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5B6614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5B6614"/>
                </a:solidFill>
                <a:latin typeface="Inter"/>
                <a:ea typeface="Inter"/>
                <a:cs typeface="Inter"/>
                <a:sym typeface="Inter"/>
              </a:rPr>
              <a:t>ILLUSTRATIVE SCENARIO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" name="Google Shape;10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72390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7"/>
          <p:cNvSpPr/>
          <p:nvPr/>
        </p:nvSpPr>
        <p:spPr>
          <a:xfrm>
            <a:off x="1047750" y="2074366"/>
            <a:ext cx="4210050" cy="601861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1257300" y="2226766"/>
            <a:ext cx="3917252" cy="335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Workload input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5257800" y="2074366"/>
            <a:ext cx="3886200" cy="601861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5467350" y="2226766"/>
            <a:ext cx="3583686" cy="335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9144000" y="2074366"/>
            <a:ext cx="4210050" cy="601861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9353550" y="2226766"/>
            <a:ext cx="3917252" cy="335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 / constraint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13354050" y="2074366"/>
            <a:ext cx="3886200" cy="601861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13563600" y="2226766"/>
            <a:ext cx="3583686" cy="335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1047750" y="3239095"/>
            <a:ext cx="42100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1257300" y="2800052"/>
            <a:ext cx="3917252" cy="3533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Objects (corpus today)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5257800" y="3239095"/>
            <a:ext cx="38862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5467350" y="2800052"/>
            <a:ext cx="3583686" cy="3533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40 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9144000" y="3239095"/>
            <a:ext cx="42100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9353550" y="2800052"/>
            <a:ext cx="3917252" cy="3533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p95 latency (reads)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13354050" y="3239095"/>
            <a:ext cx="38862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13563600" y="2800052"/>
            <a:ext cx="3583686" cy="3533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≤ 120 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1047750" y="3816251"/>
            <a:ext cx="42100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1257300" y="3372445"/>
            <a:ext cx="3917252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Vector dimensions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257800" y="3816251"/>
            <a:ext cx="38862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5467350" y="3372445"/>
            <a:ext cx="3583686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768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9144000" y="3816251"/>
            <a:ext cx="42100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9353550" y="3372445"/>
            <a:ext cx="3917252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recall@10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13354050" y="3816251"/>
            <a:ext cx="38862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13563600" y="3372445"/>
            <a:ext cx="3583686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≥ 0.97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1047750" y="4393406"/>
            <a:ext cx="42100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1257300" y="3949601"/>
            <a:ext cx="3917252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Named vectors / object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5257800" y="4393406"/>
            <a:ext cx="38862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5467350" y="3949601"/>
            <a:ext cx="3583686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2 — content, title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9144000" y="4393406"/>
            <a:ext cx="42100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9353550" y="3949601"/>
            <a:ext cx="3917252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Availability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13354050" y="4393406"/>
            <a:ext cx="38862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13563600" y="3949601"/>
            <a:ext cx="3583686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99.9 %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1047750" y="4970562"/>
            <a:ext cx="42100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1257300" y="4526756"/>
            <a:ext cx="3917252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Tenants (storefronts)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5257800" y="4970562"/>
            <a:ext cx="38862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5467350" y="4526756"/>
            <a:ext cx="3583686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1,200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9144000" y="4970562"/>
            <a:ext cx="42100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9353550" y="4526756"/>
            <a:ext cx="3917252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RPO / RTO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3354050" y="4970562"/>
            <a:ext cx="38862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3563600" y="4526756"/>
            <a:ext cx="3583686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1 h / 4 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47750" y="5547717"/>
            <a:ext cx="42100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1257300" y="5103912"/>
            <a:ext cx="3917252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Read QPS (peak)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5257800" y="5547717"/>
            <a:ext cx="38862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5467350" y="5103912"/>
            <a:ext cx="3583686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450 · 85/15 r/w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9144000" y="5547717"/>
            <a:ext cx="42100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9353550" y="5103912"/>
            <a:ext cx="3917252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Compliance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13354050" y="5547717"/>
            <a:ext cx="38862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13563600" y="5103912"/>
            <a:ext cx="3583686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SOC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1047750" y="6124873"/>
            <a:ext cx="42100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1257300" y="5681067"/>
            <a:ext cx="3917252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Ingest + growth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257800" y="6124873"/>
            <a:ext cx="38862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5467350" y="5681067"/>
            <a:ext cx="3583686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2 M/wk · +60 %/yr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9144000" y="6124873"/>
            <a:ext cx="42100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9353550" y="5681067"/>
            <a:ext cx="3917252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Budget context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13354050" y="6124873"/>
            <a:ext cx="38862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13563600" y="5681067"/>
            <a:ext cx="3583686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Cost program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1047750" y="6463010"/>
            <a:ext cx="7943850" cy="2513409"/>
          </a:xfrm>
          <a:prstGeom prst="roundRect">
            <a:avLst>
              <a:gd fmla="val 6821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1390650" y="6748760"/>
            <a:ext cx="79838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these numbers bite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1390650" y="7205960"/>
            <a:ext cx="7475792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2 named vectors double every memory number 1,200 tenants: shard placement + metric cardinality +60 %/yr growth — size month 12, not day 1 RPO 1 h is stricter than daily backups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9296400" y="6463010"/>
            <a:ext cx="7943850" cy="2513409"/>
          </a:xfrm>
          <a:prstGeom prst="roundRect">
            <a:avLst>
              <a:gd fmla="val 6821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9639300" y="6748760"/>
            <a:ext cx="79838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2B5E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Decisions this profile forces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9639300" y="7205960"/>
            <a:ext cx="7475792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3E5A2B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E5A2B"/>
                </a:solidFill>
                <a:latin typeface="Inter"/>
                <a:ea typeface="Inter"/>
                <a:cs typeface="Inter"/>
                <a:sym typeface="Inter"/>
              </a:rPr>
              <a:t>Source-of-truth boundary &amp; ingestion contract WCD tier vs BYOC responsibility split Index family + quantization under cost pressure RF, consistency, backup design for 99.9 % / RPO 1 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1047750" y="9300270"/>
            <a:ext cx="1781175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8B87B3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8B87B3"/>
                </a:solidFill>
                <a:latin typeface="Inter"/>
                <a:ea typeface="Inter"/>
                <a:cs typeface="Inter"/>
                <a:sym typeface="Inter"/>
              </a:rPr>
              <a:t>Illustrative — an invented scenario tuned to force trade-offs; not a real customer, not a sizing guarantee.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"/>
          <p:cNvSpPr/>
          <p:nvPr/>
        </p:nvSpPr>
        <p:spPr>
          <a:xfrm>
            <a:off x="1047750" y="723900"/>
            <a:ext cx="13080340" cy="6037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353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4050"/>
              <a:buFont typeface="Plus Jakarta Sans"/>
              <a:buNone/>
            </a:pPr>
            <a:r>
              <a:rPr b="1" i="0" lang="en-US" sz="40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Where Weaviate sits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1047750" y="1403896"/>
            <a:ext cx="1308034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Data flow and failure boundaries for </a:t>
            </a:r>
            <a:r>
              <a:rPr lang="en-US" sz="1950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Acme</a:t>
            </a: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 (illustrative) — and where responsibility changes hands.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2" name="Google Shape;17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72390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8"/>
          <p:cNvSpPr/>
          <p:nvPr/>
        </p:nvSpPr>
        <p:spPr>
          <a:xfrm>
            <a:off x="1047750" y="2093416"/>
            <a:ext cx="4911328" cy="1864816"/>
          </a:xfrm>
          <a:prstGeom prst="roundRect">
            <a:avLst>
              <a:gd fmla="val 8172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1333500" y="2341066"/>
            <a:ext cx="477381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Your application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1333500" y="2731591"/>
            <a:ext cx="4470023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Query path · retries · timeouts · fallbacks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6244828" y="2093416"/>
            <a:ext cx="4911328" cy="1864816"/>
          </a:xfrm>
          <a:prstGeom prst="roundRect">
            <a:avLst>
              <a:gd fmla="val 8172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6530578" y="2341066"/>
            <a:ext cx="477381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Your ETL / ingestion pipeline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6530578" y="2731591"/>
            <a:ext cx="4470023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Write path · deterministic IDs · DLQ · backpressure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11441906" y="2093416"/>
            <a:ext cx="5798344" cy="1864816"/>
          </a:xfrm>
          <a:prstGeom prst="roundRect">
            <a:avLst>
              <a:gd fmla="val 8172" name="adj"/>
            </a:avLst>
          </a:prstGeom>
          <a:solidFill>
            <a:srgbClr val="FDF9E3"/>
          </a:solidFill>
          <a:ln cap="flat" cmpd="sng" w="9525">
            <a:solidFill>
              <a:srgbClr val="E4D7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11737181" y="2350591"/>
            <a:ext cx="572857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E0E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6B5E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Embedding provider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11737181" y="2741116"/>
            <a:ext cx="5364028" cy="9980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6E643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E6430"/>
                </a:solidFill>
                <a:latin typeface="Inter"/>
                <a:ea typeface="Inter"/>
                <a:cs typeface="Inter"/>
                <a:sym typeface="Inter"/>
              </a:rPr>
              <a:t>External API on both paths — its quotas, latency and outages arrive as your symptoms, not as Weaviate time.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1047750" y="4301133"/>
            <a:ext cx="7953375" cy="1525786"/>
          </a:xfrm>
          <a:prstGeom prst="roundRect">
            <a:avLst>
              <a:gd fmla="val 9988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1333500" y="4548783"/>
            <a:ext cx="812006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Source-of-truth boundary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1333500" y="4939308"/>
            <a:ext cx="7603331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Primary store or auxiliary index? Auxiliary buys rebuild-from-source recovery; primary makes backup/DR carry everything.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9286875" y="4301133"/>
            <a:ext cx="7953375" cy="1525786"/>
          </a:xfrm>
          <a:prstGeom prst="roundRect">
            <a:avLst>
              <a:gd fmla="val 9988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9572625" y="4548783"/>
            <a:ext cx="812006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2B5E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breaks first?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9572625" y="4939308"/>
            <a:ext cx="7603331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3E5A2B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E5A2B"/>
                </a:solidFill>
                <a:latin typeface="Inter"/>
                <a:ea typeface="Inter"/>
                <a:cs typeface="Inter"/>
                <a:sym typeface="Inter"/>
              </a:rPr>
              <a:t>Commit a prediction before we size anything: memory, ingest backlog, or disk? Defend it in one sentence.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1047750" y="6346031"/>
            <a:ext cx="2942183" cy="38100"/>
          </a:xfrm>
          <a:prstGeom prst="rect">
            <a:avLst/>
          </a:prstGeom>
          <a:solidFill>
            <a:srgbClr val="0C8C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4180433" y="6226969"/>
            <a:ext cx="1091984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RESPONSIBILITY BOUNDARY — YOURS ABOVE, DEPLOYMENT-DEPENDENT BELOW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14298067" y="6346031"/>
            <a:ext cx="2942183" cy="38100"/>
          </a:xfrm>
          <a:prstGeom prst="rect">
            <a:avLst/>
          </a:prstGeom>
          <a:solidFill>
            <a:srgbClr val="0C8C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1047750" y="6846094"/>
            <a:ext cx="16192500" cy="2774156"/>
          </a:xfrm>
          <a:prstGeom prst="roundRect">
            <a:avLst>
              <a:gd fmla="val 6867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2" name="Google Shape;19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7396907"/>
            <a:ext cx="650081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8"/>
          <p:cNvSpPr/>
          <p:nvPr/>
        </p:nvSpPr>
        <p:spPr>
          <a:xfrm>
            <a:off x="2269331" y="7425482"/>
            <a:ext cx="642499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Plus Jakarta Sans"/>
              <a:buNone/>
            </a:pPr>
            <a:r>
              <a:rPr b="1" i="0" lang="en-US" sz="21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Weaviate cluster — baseline v1.39.x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1447800" y="7930307"/>
            <a:ext cx="15854172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C9C6E8"/>
              </a:buClr>
              <a:buSzPts val="1800"/>
              <a:buFont typeface="Inter"/>
              <a:buNone/>
            </a:pPr>
            <a:r>
              <a:rPr lang="en-US" sz="1800">
                <a:solidFill>
                  <a:srgbClr val="C9C6E8"/>
                </a:solidFill>
                <a:latin typeface="Inter"/>
                <a:ea typeface="Inter"/>
                <a:cs typeface="Inter"/>
                <a:sym typeface="Inter"/>
              </a:rPr>
              <a:t>Acme</a:t>
            </a:r>
            <a:r>
              <a:rPr b="0" i="0" lang="en-US" sz="1800" u="none" cap="none" strike="noStrike">
                <a:solidFill>
                  <a:srgbClr val="C9C6E8"/>
                </a:solidFill>
                <a:latin typeface="Inter"/>
                <a:ea typeface="Inter"/>
                <a:cs typeface="Inter"/>
                <a:sym typeface="Inter"/>
              </a:rPr>
              <a:t> (illustrative): 40 M objects · named vectors content + title · 1,200 tenant shards Writes: server-side batching, per-object errors captured · Reads: consistency level chosen per request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1447800" y="8749457"/>
            <a:ext cx="1693164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A6D53B"/>
                </a:solidFill>
                <a:latin typeface="Inter"/>
                <a:ea typeface="Inter"/>
                <a:cs typeface="Inter"/>
                <a:sym typeface="Inter"/>
              </a:rPr>
              <a:t>Below the line, infra operations move with the deployment model — topology, consistency and SLOs never do.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/>
          <p:nvPr/>
        </p:nvSpPr>
        <p:spPr>
          <a:xfrm>
            <a:off x="1047750" y="723900"/>
            <a:ext cx="11404922" cy="6037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353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4050"/>
              <a:buFont typeface="Plus Jakarta Sans"/>
              <a:buNone/>
            </a:pPr>
            <a:r>
              <a:rPr b="1" i="0" lang="en-US" sz="40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ingestion contract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1047750" y="1403896"/>
            <a:ext cx="11404922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Four clauses to write down before go-live — retry is a feature of the pipeline, not a hope.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3" name="Google Shape;20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72390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9"/>
          <p:cNvSpPr/>
          <p:nvPr/>
        </p:nvSpPr>
        <p:spPr>
          <a:xfrm>
            <a:off x="1047750" y="2169616"/>
            <a:ext cx="7953375" cy="3553867"/>
          </a:xfrm>
          <a:prstGeom prst="roundRect">
            <a:avLst>
              <a:gd fmla="val 4824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1428750" y="2531566"/>
            <a:ext cx="278063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75"/>
              <a:buFont typeface="Plus Jakarta Sans"/>
              <a:buNone/>
            </a:pPr>
            <a:r>
              <a:rPr b="1" i="0" lang="en-US" sz="217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Idempotent writes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6394698" y="2512516"/>
            <a:ext cx="2225427" cy="381000"/>
          </a:xfrm>
          <a:prstGeom prst="roundRect">
            <a:avLst>
              <a:gd fmla="val 20000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6547098" y="2588716"/>
            <a:ext cx="199682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889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A6D53B"/>
                </a:solidFill>
                <a:latin typeface="Courier New"/>
                <a:ea typeface="Courier New"/>
                <a:cs typeface="Courier New"/>
                <a:sym typeface="Courier New"/>
              </a:rPr>
              <a:t>generate_uuid5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1428750" y="3045916"/>
            <a:ext cx="7407116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Deterministic IDs from a natural key — generate_uuid5(row) — make every retry an upsert, not a duplicate. Idempotency is designed in, not hoped for.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9286875" y="2169616"/>
            <a:ext cx="7953375" cy="3553867"/>
          </a:xfrm>
          <a:prstGeom prst="roundRect">
            <a:avLst>
              <a:gd fmla="val 4824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9667875" y="2531566"/>
            <a:ext cx="201249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75"/>
              <a:buFont typeface="Plus Jakarta Sans"/>
              <a:buNone/>
            </a:pPr>
            <a:r>
              <a:rPr b="1" i="0" lang="en-US" sz="217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Retries + DLQ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14633823" y="2512516"/>
            <a:ext cx="2225427" cy="381000"/>
          </a:xfrm>
          <a:prstGeom prst="roundRect">
            <a:avLst>
              <a:gd fmla="val 20000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14786223" y="2588716"/>
            <a:ext cx="199682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889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A6D53B"/>
                </a:solidFill>
                <a:latin typeface="Courier New"/>
                <a:ea typeface="Courier New"/>
                <a:cs typeface="Courier New"/>
                <a:sym typeface="Courier New"/>
              </a:rPr>
              <a:t>failed_objects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9667875" y="3045916"/>
            <a:ext cx="7407116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Per-object batch failures do not raise. Watch errors in flight, capture failed_objects after exit, retry with the same IDs, park poison objects in a dead-letter queue.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1047750" y="6009233"/>
            <a:ext cx="7953375" cy="3553867"/>
          </a:xfrm>
          <a:prstGeom prst="roundRect">
            <a:avLst>
              <a:gd fmla="val 4824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1428750" y="6371183"/>
            <a:ext cx="337768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75"/>
              <a:buFont typeface="Plus Jakarta Sans"/>
              <a:buNone/>
            </a:pPr>
            <a:r>
              <a:rPr b="1" i="0" lang="en-US" sz="217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Backpressure honored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6394698" y="6352133"/>
            <a:ext cx="2225427" cy="381000"/>
          </a:xfrm>
          <a:prstGeom prst="roundRect">
            <a:avLst>
              <a:gd fmla="val 20000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6547098" y="6428333"/>
            <a:ext cx="199682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889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A6D53B"/>
                </a:solidFill>
                <a:latin typeface="Courier New"/>
                <a:ea typeface="Courier New"/>
                <a:cs typeface="Courier New"/>
                <a:sym typeface="Courier New"/>
              </a:rPr>
              <a:t>batch.stream()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1428750" y="6885533"/>
            <a:ext cx="7407116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Server-side batching lets the server pace the client from its own load (GA: server 1.36, Python client 4.20). Honor the signal end-to-end — a slow-down is information.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9286875" y="6009233"/>
            <a:ext cx="7953375" cy="3553867"/>
          </a:xfrm>
          <a:prstGeom prst="roundRect">
            <a:avLst>
              <a:gd fmla="val 4824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9667875" y="6371183"/>
            <a:ext cx="285282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75"/>
              <a:buFont typeface="Plus Jakarta Sans"/>
              <a:buNone/>
            </a:pPr>
            <a:r>
              <a:rPr b="1" i="0" lang="en-US" sz="217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Cache at the edges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15010061" y="6352133"/>
            <a:ext cx="1849189" cy="381000"/>
          </a:xfrm>
          <a:prstGeom prst="roundRect">
            <a:avLst>
              <a:gd fmla="val 20000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15162461" y="6428333"/>
            <a:ext cx="162058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design choice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9667875" y="6885533"/>
            <a:ext cx="7407116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Cache embeddings and hot query results in front of the pipeline — protects vectorizer quotas (or use rate_limit mode) and smooths ingest spikes.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"/>
          <p:cNvSpPr/>
          <p:nvPr/>
        </p:nvSpPr>
        <p:spPr>
          <a:xfrm>
            <a:off x="1047750" y="762000"/>
            <a:ext cx="13954720" cy="6037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353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4050"/>
              <a:buFont typeface="Plus Jakarta Sans"/>
              <a:buNone/>
            </a:pPr>
            <a:r>
              <a:rPr b="1" i="0" lang="en-US" sz="40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Schema is an operational decision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1047750" y="1441996"/>
            <a:ext cx="1395472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Surprise schema is surprise cost — schema changes are capacity changes, so they go through code review.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1" name="Google Shape;2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76200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0"/>
          <p:cNvSpPr/>
          <p:nvPr/>
        </p:nvSpPr>
        <p:spPr>
          <a:xfrm>
            <a:off x="1047750" y="2832646"/>
            <a:ext cx="16192500" cy="1857375"/>
          </a:xfrm>
          <a:prstGeom prst="roundRect">
            <a:avLst>
              <a:gd fmla="val 9231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1447800" y="3175546"/>
            <a:ext cx="122188" cy="1171575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E9E11E"/>
              </a:gs>
              <a:gs pos="100000">
                <a:srgbClr val="0C8C59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1836688" y="3175546"/>
            <a:ext cx="165038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Explicit schema · auto-schema off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1836688" y="3632746"/>
            <a:ext cx="15453617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Define collections in code and review them like code. Auto-schema in production means uncontrolled property types and index flags — turn it off.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1047750" y="4956721"/>
            <a:ext cx="16192500" cy="1857375"/>
          </a:xfrm>
          <a:prstGeom prst="roundRect">
            <a:avLst>
              <a:gd fmla="val 9231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1447800" y="5299621"/>
            <a:ext cx="113109" cy="1171575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E9E11E"/>
              </a:gs>
              <a:gs pos="100000">
                <a:srgbClr val="0C8C59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1827609" y="5299621"/>
            <a:ext cx="165138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index* flags are money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1827609" y="5756821"/>
            <a:ext cx="15462968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indexFilterable / indexSearchable / indexRangeFilters each build an inverted index — write amplification plus disk. Disable them where you never filter or sort.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1047750" y="7080796"/>
            <a:ext cx="16192500" cy="1857375"/>
          </a:xfrm>
          <a:prstGeom prst="roundRect">
            <a:avLst>
              <a:gd fmla="val 9231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1447800" y="7423696"/>
            <a:ext cx="109091" cy="1171575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E9E11E"/>
              </a:gs>
              <a:gs pos="100000">
                <a:srgbClr val="0C8C59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1823591" y="7423696"/>
            <a:ext cx="1651827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Tenants &amp; named vectors are capacity levers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1823591" y="7880896"/>
            <a:ext cx="15467107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Chosen up front, they multiply memory: </a:t>
            </a:r>
            <a:r>
              <a:rPr lang="en-US" sz="1875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Acme</a:t>
            </a: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’s 2 named vectors double vector RAM (illustrative). Several of these choices are effectively immutable at creation.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"/>
          <p:cNvSpPr/>
          <p:nvPr/>
        </p:nvSpPr>
        <p:spPr>
          <a:xfrm>
            <a:off x="1047750" y="762000"/>
            <a:ext cx="11934691" cy="6037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353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4050"/>
              <a:buFont typeface="Plus Jakarta Sans"/>
              <a:buNone/>
            </a:pPr>
            <a:r>
              <a:rPr b="1" i="0" lang="en-US" sz="40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Who owns what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1047750" y="1441996"/>
            <a:ext cx="11934691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Managed moves the chores. Your SLOs, topology, consistency and restore tests never move.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1" name="Google Shape;25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76200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1"/>
          <p:cNvSpPr/>
          <p:nvPr/>
        </p:nvSpPr>
        <p:spPr>
          <a:xfrm>
            <a:off x="1047750" y="2207716"/>
            <a:ext cx="6477000" cy="601861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1257300" y="2360116"/>
            <a:ext cx="6252210" cy="335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Concern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7524750" y="2207716"/>
            <a:ext cx="3238500" cy="601861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7734300" y="2360116"/>
            <a:ext cx="2916555" cy="335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WCD Shared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10763250" y="2207716"/>
            <a:ext cx="3238500" cy="601861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10972800" y="2360116"/>
            <a:ext cx="2916555" cy="335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WCD Dedicated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14001750" y="2207716"/>
            <a:ext cx="3238500" cy="601861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14211300" y="2360116"/>
            <a:ext cx="2916555" cy="335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BYOC / self-managed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1047750" y="3372445"/>
            <a:ext cx="64770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1257300" y="2933402"/>
            <a:ext cx="6252210" cy="3533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Server upgrades &amp; patching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7524750" y="3372445"/>
            <a:ext cx="32385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7734300" y="2933402"/>
            <a:ext cx="2916555" cy="3533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Weaviate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10763250" y="3372445"/>
            <a:ext cx="32385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10972800" y="2933402"/>
            <a:ext cx="2916555" cy="3533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Weaviate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14001750" y="3372445"/>
            <a:ext cx="32385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14211300" y="2933402"/>
            <a:ext cx="2916555" cy="3533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1047750" y="3949601"/>
            <a:ext cx="64770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1257300" y="3505795"/>
            <a:ext cx="625221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Network isolation &amp; TLS termination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7524750" y="3949601"/>
            <a:ext cx="32385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7734300" y="3505795"/>
            <a:ext cx="2916555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Weaviate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10763250" y="3949601"/>
            <a:ext cx="32385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"/>
          <p:cNvSpPr/>
          <p:nvPr/>
        </p:nvSpPr>
        <p:spPr>
          <a:xfrm>
            <a:off x="10972800" y="3505795"/>
            <a:ext cx="2916555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Weaviate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14001750" y="3949601"/>
            <a:ext cx="32385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14211300" y="3505795"/>
            <a:ext cx="2916555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1047750" y="4526756"/>
            <a:ext cx="64770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1257300" y="4082951"/>
            <a:ext cx="625221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Backup execution &amp; schedule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7524750" y="4526756"/>
            <a:ext cx="32385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7734300" y="4082951"/>
            <a:ext cx="2916555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Weaviate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10763250" y="4526756"/>
            <a:ext cx="32385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"/>
          <p:cNvSpPr/>
          <p:nvPr/>
        </p:nvSpPr>
        <p:spPr>
          <a:xfrm>
            <a:off x="10972800" y="4082951"/>
            <a:ext cx="2916555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Weaviate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14001750" y="4526756"/>
            <a:ext cx="32385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14211300" y="4082951"/>
            <a:ext cx="2916555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1047750" y="4536281"/>
            <a:ext cx="6477000" cy="577155"/>
          </a:xfrm>
          <a:prstGeom prst="rect">
            <a:avLst/>
          </a:prstGeom>
          <a:solidFill>
            <a:srgbClr val="FDF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1047750" y="5103912"/>
            <a:ext cx="64770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1257300" y="4660106"/>
            <a:ext cx="625221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Restore testing vs RPO / RTO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7524750" y="4536281"/>
            <a:ext cx="3238500" cy="577155"/>
          </a:xfrm>
          <a:prstGeom prst="rect">
            <a:avLst/>
          </a:prstGeom>
          <a:solidFill>
            <a:srgbClr val="FDF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7524750" y="5103912"/>
            <a:ext cx="32385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7734300" y="4660106"/>
            <a:ext cx="2916555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10763250" y="4536281"/>
            <a:ext cx="3238500" cy="577155"/>
          </a:xfrm>
          <a:prstGeom prst="rect">
            <a:avLst/>
          </a:prstGeom>
          <a:solidFill>
            <a:srgbClr val="FDF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10763250" y="5103912"/>
            <a:ext cx="32385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10972800" y="4660106"/>
            <a:ext cx="2916555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14001750" y="4536281"/>
            <a:ext cx="3238500" cy="577155"/>
          </a:xfrm>
          <a:prstGeom prst="rect">
            <a:avLst/>
          </a:prstGeom>
          <a:solidFill>
            <a:srgbClr val="FDF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14001750" y="5103912"/>
            <a:ext cx="32385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14211300" y="4660106"/>
            <a:ext cx="2916555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1047750" y="5681067"/>
            <a:ext cx="64770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1257300" y="5237262"/>
            <a:ext cx="625221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AuthN/Z design &amp; key rotation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7524750" y="5681067"/>
            <a:ext cx="32385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7734300" y="5237262"/>
            <a:ext cx="2916555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10763250" y="5681067"/>
            <a:ext cx="32385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10972800" y="5237262"/>
            <a:ext cx="2916555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14001750" y="5681067"/>
            <a:ext cx="32385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14211300" y="5237262"/>
            <a:ext cx="2916555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1047750" y="6258223"/>
            <a:ext cx="64770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1257300" y="5814417"/>
            <a:ext cx="625221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Sizing, topology, consistency, SLOs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7524750" y="6258223"/>
            <a:ext cx="32385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7734300" y="5814417"/>
            <a:ext cx="2916555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10763250" y="6258223"/>
            <a:ext cx="32385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10972800" y="5814417"/>
            <a:ext cx="2916555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14001750" y="6258223"/>
            <a:ext cx="32385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14211300" y="5814417"/>
            <a:ext cx="2916555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2"/>
          <p:cNvSpPr/>
          <p:nvPr/>
        </p:nvSpPr>
        <p:spPr>
          <a:xfrm>
            <a:off x="1047750" y="666750"/>
            <a:ext cx="9565958" cy="5828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667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900"/>
              <a:buFont typeface="Plus Jakarta Sans"/>
              <a:buNone/>
            </a:pPr>
            <a:r>
              <a:rPr b="1" i="0" lang="en-US" sz="39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Capacity drivers &amp; the estimator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1047750" y="1325761"/>
            <a:ext cx="9565958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Every output is a range with a validation plan — never a vendor guarantee.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12043321" y="676275"/>
            <a:ext cx="4163467" cy="476250"/>
          </a:xfrm>
          <a:prstGeom prst="roundRect">
            <a:avLst>
              <a:gd fmla="val 50000" name="adj"/>
            </a:avLst>
          </a:prstGeom>
          <a:solidFill>
            <a:srgbClr val="F3F9CF"/>
          </a:solidFill>
          <a:ln cap="flat" cmpd="sng" w="9525">
            <a:solidFill>
              <a:srgbClr val="C9D6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2"/>
          <p:cNvSpPr/>
          <p:nvPr/>
        </p:nvSpPr>
        <p:spPr>
          <a:xfrm>
            <a:off x="12262396" y="800100"/>
            <a:ext cx="385022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5B6614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5B6614"/>
                </a:solidFill>
                <a:latin typeface="Inter"/>
                <a:ea typeface="Inter"/>
                <a:cs typeface="Inter"/>
                <a:sym typeface="Inter"/>
              </a:rPr>
              <a:t>ESTIMATE, NOT A GUARANTEE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1" name="Google Shape;32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66675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2"/>
          <p:cNvSpPr/>
          <p:nvPr/>
        </p:nvSpPr>
        <p:spPr>
          <a:xfrm>
            <a:off x="1047750" y="1958132"/>
            <a:ext cx="4857750" cy="601861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2"/>
          <p:cNvSpPr/>
          <p:nvPr/>
        </p:nvSpPr>
        <p:spPr>
          <a:xfrm>
            <a:off x="1257300" y="2110532"/>
            <a:ext cx="4584383" cy="335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5905500" y="1958132"/>
            <a:ext cx="6800850" cy="601861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2"/>
          <p:cNvSpPr/>
          <p:nvPr/>
        </p:nvSpPr>
        <p:spPr>
          <a:xfrm>
            <a:off x="6115050" y="2110532"/>
            <a:ext cx="6585776" cy="335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Formula (workbook §3.2)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12706350" y="1958132"/>
            <a:ext cx="4533900" cy="601861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12915900" y="2110532"/>
            <a:ext cx="4250817" cy="335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lang="en-US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Acme</a:t>
            </a: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(illustrative)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1047750" y="3122861"/>
            <a:ext cx="48577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1257300" y="2683818"/>
            <a:ext cx="4584383" cy="3533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A · Vectors in memory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5905500" y="3122861"/>
            <a:ext cx="68008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6115050" y="2683818"/>
            <a:ext cx="6585776" cy="3533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40 M × 2 named vectors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12706350" y="3122861"/>
            <a:ext cx="45339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12915900" y="2683818"/>
            <a:ext cx="4250817" cy="3533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80 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1047750" y="3700016"/>
            <a:ext cx="48577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2"/>
          <p:cNvSpPr/>
          <p:nvPr/>
        </p:nvSpPr>
        <p:spPr>
          <a:xfrm>
            <a:off x="1257300" y="3256211"/>
            <a:ext cx="4584383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B · Raw vector bytes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5905500" y="3700016"/>
            <a:ext cx="68008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2"/>
          <p:cNvSpPr/>
          <p:nvPr/>
        </p:nvSpPr>
        <p:spPr>
          <a:xfrm>
            <a:off x="6115050" y="3256211"/>
            <a:ext cx="6585776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80 M × 768 dims × 4 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12706350" y="3700016"/>
            <a:ext cx="45339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2"/>
          <p:cNvSpPr/>
          <p:nvPr/>
        </p:nvSpPr>
        <p:spPr>
          <a:xfrm>
            <a:off x="12915900" y="3256211"/>
            <a:ext cx="4250817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≈ 246 GB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1047750" y="4277171"/>
            <a:ext cx="48577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2"/>
          <p:cNvSpPr/>
          <p:nvPr/>
        </p:nvSpPr>
        <p:spPr>
          <a:xfrm>
            <a:off x="1257300" y="3833366"/>
            <a:ext cx="4584383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C · Working-set rule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5905500" y="4277171"/>
            <a:ext cx="68008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2"/>
          <p:cNvSpPr/>
          <p:nvPr/>
        </p:nvSpPr>
        <p:spPr>
          <a:xfrm>
            <a:off x="6115050" y="3833366"/>
            <a:ext cx="6585776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B × 2 (docs rule of thumb)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12706350" y="4277171"/>
            <a:ext cx="45339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2"/>
          <p:cNvSpPr/>
          <p:nvPr/>
        </p:nvSpPr>
        <p:spPr>
          <a:xfrm>
            <a:off x="12915900" y="3833366"/>
            <a:ext cx="4250817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≈ 492 GB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1047750" y="4854327"/>
            <a:ext cx="48577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2"/>
          <p:cNvSpPr/>
          <p:nvPr/>
        </p:nvSpPr>
        <p:spPr>
          <a:xfrm>
            <a:off x="1257300" y="4410521"/>
            <a:ext cx="4584383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D · Graph overhead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5905500" y="4854327"/>
            <a:ext cx="68008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2"/>
          <p:cNvSpPr/>
          <p:nvPr/>
        </p:nvSpPr>
        <p:spPr>
          <a:xfrm>
            <a:off x="6115050" y="4410521"/>
            <a:ext cx="6585776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80 M × 32 links × 8–10 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12706350" y="4854327"/>
            <a:ext cx="45339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2"/>
          <p:cNvSpPr/>
          <p:nvPr/>
        </p:nvSpPr>
        <p:spPr>
          <a:xfrm>
            <a:off x="12915900" y="4410521"/>
            <a:ext cx="4250817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+ 21–26 GB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1047750" y="5431482"/>
            <a:ext cx="48577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2"/>
          <p:cNvSpPr/>
          <p:nvPr/>
        </p:nvSpPr>
        <p:spPr>
          <a:xfrm>
            <a:off x="1257300" y="4987677"/>
            <a:ext cx="4584383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E · Uncompressed estimate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5905500" y="5431482"/>
            <a:ext cx="68008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2"/>
          <p:cNvSpPr/>
          <p:nvPr/>
        </p:nvSpPr>
        <p:spPr>
          <a:xfrm>
            <a:off x="6115050" y="4987677"/>
            <a:ext cx="6585776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C + 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12706350" y="5431482"/>
            <a:ext cx="45339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2"/>
          <p:cNvSpPr/>
          <p:nvPr/>
        </p:nvSpPr>
        <p:spPr>
          <a:xfrm>
            <a:off x="12915900" y="4987677"/>
            <a:ext cx="4250817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≈ 512–517 GB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1047750" y="6008638"/>
            <a:ext cx="48577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2"/>
          <p:cNvSpPr/>
          <p:nvPr/>
        </p:nvSpPr>
        <p:spPr>
          <a:xfrm>
            <a:off x="1257300" y="5564832"/>
            <a:ext cx="4584383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F · With RQ-8 (opt-in)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5905500" y="6008638"/>
            <a:ext cx="68008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2"/>
          <p:cNvSpPr/>
          <p:nvPr/>
        </p:nvSpPr>
        <p:spPr>
          <a:xfrm>
            <a:off x="6115050" y="5564832"/>
            <a:ext cx="6585776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(B ÷ 4) × 2 + 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12706350" y="6008638"/>
            <a:ext cx="45339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2"/>
          <p:cNvSpPr/>
          <p:nvPr/>
        </p:nvSpPr>
        <p:spPr>
          <a:xfrm>
            <a:off x="12915900" y="5564832"/>
            <a:ext cx="4250817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≈ 143–149 GB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1047750" y="6308675"/>
            <a:ext cx="1781175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8B87B3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8B87B3"/>
                </a:solidFill>
                <a:latin typeface="Inter"/>
                <a:ea typeface="Inter"/>
                <a:cs typeface="Inter"/>
                <a:sym typeface="Inter"/>
              </a:rPr>
              <a:t>An estimate, not a guarantee — and nothing quantizes by default: DEFAULT_QUANTIZATION is none.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1047750" y="6914406"/>
            <a:ext cx="7943850" cy="2762994"/>
          </a:xfrm>
          <a:prstGeom prst="roundRect">
            <a:avLst>
              <a:gd fmla="val 6205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2"/>
          <p:cNvSpPr/>
          <p:nvPr/>
        </p:nvSpPr>
        <p:spPr>
          <a:xfrm>
            <a:off x="1371600" y="7181106"/>
            <a:ext cx="802576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the estimate leaves out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1371600" y="7609731"/>
            <a:ext cx="7515035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× RF: memory and disk (RF 3 → ≈ 1.5 TB disk) GOMEMLIMIT 80–90 % of RAM; +30 % headroom Disk ≈ 505 GB per copy: originals + indexes + WAL Hash trees, compaction, import spikes eat margin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9296400" y="6914406"/>
            <a:ext cx="7943850" cy="2762994"/>
          </a:xfrm>
          <a:prstGeom prst="roundRect">
            <a:avLst>
              <a:gd fmla="val 6205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2"/>
          <p:cNvSpPr/>
          <p:nvPr/>
        </p:nvSpPr>
        <p:spPr>
          <a:xfrm>
            <a:off x="9620250" y="7181106"/>
            <a:ext cx="802576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2B5E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Validation plan — mandatory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9620250" y="7609731"/>
            <a:ext cx="7515035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3E5A2B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E5A2B"/>
                </a:solidFill>
                <a:latin typeface="Inter"/>
                <a:ea typeface="Inter"/>
                <a:cs typeface="Inter"/>
                <a:sym typeface="Inter"/>
              </a:rPr>
              <a:t>State low / expected / high, not a point Name the top 3 assumptions that break it Measure a 1–5 % representative slice first Only then commit node sizes and budget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3"/>
          <p:cNvSpPr/>
          <p:nvPr/>
        </p:nvSpPr>
        <p:spPr>
          <a:xfrm>
            <a:off x="1047750" y="685800"/>
            <a:ext cx="14233520" cy="6037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353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4050"/>
              <a:buFont typeface="Plus Jakarta Sans"/>
              <a:buNone/>
            </a:pPr>
            <a:r>
              <a:rPr b="1" i="0" lang="en-US" sz="40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Replication ≠ backup. HA ≠ DR.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1047750" y="1365796"/>
            <a:ext cx="1423352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Replication keeps you serving; only a backup brings data back. This point returns in the safe-change segment.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8" name="Google Shape;37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68580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3"/>
          <p:cNvSpPr/>
          <p:nvPr/>
        </p:nvSpPr>
        <p:spPr>
          <a:xfrm>
            <a:off x="1047750" y="1998166"/>
            <a:ext cx="16192500" cy="1649611"/>
          </a:xfrm>
          <a:prstGeom prst="roundRect">
            <a:avLst>
              <a:gd fmla="val 10393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3"/>
          <p:cNvSpPr/>
          <p:nvPr/>
        </p:nvSpPr>
        <p:spPr>
          <a:xfrm>
            <a:off x="1409700" y="2245816"/>
            <a:ext cx="1701546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B9B5E4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B9B5E4"/>
                </a:solidFill>
                <a:latin typeface="Inter"/>
                <a:ea typeface="Inter"/>
                <a:cs typeface="Inter"/>
                <a:sym typeface="Inter"/>
              </a:rPr>
              <a:t>Two bad days on the same cluster (</a:t>
            </a:r>
            <a:r>
              <a:rPr lang="en-US" sz="1800">
                <a:solidFill>
                  <a:srgbClr val="B9B5E4"/>
                </a:solidFill>
                <a:latin typeface="Inter"/>
                <a:ea typeface="Inter"/>
                <a:cs typeface="Inter"/>
                <a:sym typeface="Inter"/>
              </a:rPr>
              <a:t>Acme</a:t>
            </a:r>
            <a:r>
              <a:rPr b="0" i="0" lang="en-US" sz="1800" u="none" cap="none" strike="noStrike">
                <a:solidFill>
                  <a:srgbClr val="B9B5E4"/>
                </a:solidFill>
                <a:latin typeface="Inter"/>
                <a:ea typeface="Inter"/>
                <a:cs typeface="Inter"/>
                <a:sym typeface="Inter"/>
              </a:rPr>
              <a:t>, illustrative):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1409700" y="2641997"/>
            <a:ext cx="1701546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"We lost a node" vs "we deleted the wrong tenant"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1409700" y="3080147"/>
            <a:ext cx="1701546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A6D53B"/>
                </a:solidFill>
                <a:latin typeface="Inter"/>
                <a:ea typeface="Inter"/>
                <a:cs typeface="Inter"/>
                <a:sym typeface="Inter"/>
              </a:rPr>
              <a:t>Replication survives the first. Only a restore-tested backup survives the second.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1047750" y="3933527"/>
            <a:ext cx="7943850" cy="4310360"/>
          </a:xfrm>
          <a:prstGeom prst="roundRect">
            <a:avLst>
              <a:gd fmla="val 3978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3"/>
          <p:cNvSpPr/>
          <p:nvPr/>
        </p:nvSpPr>
        <p:spPr>
          <a:xfrm>
            <a:off x="1390650" y="4219277"/>
            <a:ext cx="798385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Replication &amp; HA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3"/>
          <p:cNvSpPr/>
          <p:nvPr/>
        </p:nvSpPr>
        <p:spPr>
          <a:xfrm>
            <a:off x="1390650" y="4705052"/>
            <a:ext cx="798385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Serves through pod / node / AZ loss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1390650" y="4981277"/>
            <a:ext cx="7983855" cy="3466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6B679A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B679A"/>
                </a:solidFill>
                <a:latin typeface="Inter"/>
                <a:ea typeface="Inter"/>
                <a:cs typeface="Inter"/>
                <a:sym typeface="Inter"/>
              </a:rPr>
              <a:t>availability via RF 3 across zones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1390650" y="5404098"/>
            <a:ext cx="798385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Every replica applies every write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3"/>
          <p:cNvSpPr/>
          <p:nvPr/>
        </p:nvSpPr>
        <p:spPr>
          <a:xfrm>
            <a:off x="1390650" y="5680323"/>
            <a:ext cx="7983855" cy="3466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6B679A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B679A"/>
                </a:solidFill>
                <a:latin typeface="Inter"/>
                <a:ea typeface="Inter"/>
                <a:cs typeface="Inter"/>
                <a:sym typeface="Inter"/>
              </a:rPr>
              <a:t>deletes &amp; corruption replicate too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3"/>
          <p:cNvSpPr/>
          <p:nvPr/>
        </p:nvSpPr>
        <p:spPr>
          <a:xfrm>
            <a:off x="1390650" y="6103144"/>
            <a:ext cx="798385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Enables rolling upgrades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1390650" y="6379369"/>
            <a:ext cx="7983855" cy="3466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6B679A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B679A"/>
                </a:solidFill>
                <a:latin typeface="Inter"/>
                <a:ea typeface="Inter"/>
                <a:cs typeface="Inter"/>
                <a:sym typeface="Inter"/>
              </a:rPr>
              <a:t>zero downtime needs RF ≥ 2 + probes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1390650" y="6802189"/>
            <a:ext cx="798385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Self-heals divergence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1390650" y="7078414"/>
            <a:ext cx="7983855" cy="3466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6B679A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B679A"/>
                </a:solidFill>
                <a:latin typeface="Inter"/>
                <a:ea typeface="Inter"/>
                <a:cs typeface="Inter"/>
                <a:sym typeface="Inter"/>
              </a:rPr>
              <a:t>async replication default-on, RF&gt;1 (1.38)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9296400" y="3933527"/>
            <a:ext cx="7943850" cy="4310360"/>
          </a:xfrm>
          <a:prstGeom prst="roundRect">
            <a:avLst>
              <a:gd fmla="val 3978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3"/>
          <p:cNvSpPr/>
          <p:nvPr/>
        </p:nvSpPr>
        <p:spPr>
          <a:xfrm>
            <a:off x="9639300" y="4219277"/>
            <a:ext cx="798385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2B5E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Backup &amp; DR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9639300" y="4705052"/>
            <a:ext cx="798385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Point-in-time copy, off-cluster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9639300" y="4981277"/>
            <a:ext cx="7983855" cy="3466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5C7A4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C7A46"/>
                </a:solidFill>
                <a:latin typeface="Inter"/>
                <a:ea typeface="Inter"/>
                <a:cs typeface="Inter"/>
                <a:sym typeface="Inter"/>
              </a:rPr>
              <a:t>S3 / GCS / Azure · snapshots, no PITR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9639300" y="5404098"/>
            <a:ext cx="798385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Survives deletes &amp; operator error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9639300" y="5680323"/>
            <a:ext cx="7983855" cy="3466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5C7A4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C7A46"/>
                </a:solidFill>
                <a:latin typeface="Inter"/>
                <a:ea typeface="Inter"/>
                <a:cs typeface="Inter"/>
                <a:sym typeface="Inter"/>
              </a:rPr>
              <a:t>exactly what replication propagates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9639300" y="6103144"/>
            <a:ext cx="798385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Designed against RPO 1 h / RTO 4 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9639300" y="6379369"/>
            <a:ext cx="7983855" cy="3466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5C7A46"/>
              </a:buClr>
              <a:buSzPts val="1800"/>
              <a:buFont typeface="Inter"/>
              <a:buNone/>
            </a:pPr>
            <a:r>
              <a:rPr lang="en-US" sz="1800">
                <a:solidFill>
                  <a:srgbClr val="5C7A46"/>
                </a:solidFill>
                <a:latin typeface="Inter"/>
                <a:ea typeface="Inter"/>
                <a:cs typeface="Inter"/>
                <a:sym typeface="Inter"/>
              </a:rPr>
              <a:t>Acme</a:t>
            </a:r>
            <a:r>
              <a:rPr b="0" i="0" lang="en-US" sz="1800" u="none" cap="none" strike="noStrike">
                <a:solidFill>
                  <a:srgbClr val="5C7A46"/>
                </a:solidFill>
                <a:latin typeface="Inter"/>
                <a:ea typeface="Inter"/>
                <a:cs typeface="Inter"/>
                <a:sym typeface="Inter"/>
              </a:rPr>
              <a:t> targets — illustrative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9639300" y="6802189"/>
            <a:ext cx="798385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Proven only by a tested restore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9639300" y="7078414"/>
            <a:ext cx="7983855" cy="3466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5C7A4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C7A46"/>
                </a:solidFill>
                <a:latin typeface="Inter"/>
                <a:ea typeface="Inter"/>
                <a:cs typeface="Inter"/>
                <a:sym typeface="Inter"/>
              </a:rPr>
              <a:t>restore testing is yours in every model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1047750" y="8529638"/>
            <a:ext cx="16192500" cy="1147763"/>
          </a:xfrm>
          <a:prstGeom prst="roundRect">
            <a:avLst>
              <a:gd fmla="val 13278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3"/>
          <p:cNvSpPr/>
          <p:nvPr/>
        </p:nvSpPr>
        <p:spPr>
          <a:xfrm>
            <a:off x="1371600" y="8758238"/>
            <a:ext cx="177937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0C8C5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takeaway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3198763" y="8758238"/>
            <a:ext cx="14129166" cy="728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Replication is availability; backup is recovery. Design both — in Lab 3 you will watch a cluster heal itself, and that still will not be a backup.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E8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4"/>
          <p:cNvSpPr/>
          <p:nvPr/>
        </p:nvSpPr>
        <p:spPr>
          <a:xfrm>
            <a:off x="1047750" y="685800"/>
            <a:ext cx="1062038" cy="419100"/>
          </a:xfrm>
          <a:prstGeom prst="roundRect">
            <a:avLst>
              <a:gd fmla="val 50000" name="adj"/>
            </a:avLst>
          </a:prstGeom>
          <a:solidFill>
            <a:srgbClr val="0C8C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4"/>
          <p:cNvSpPr/>
          <p:nvPr/>
        </p:nvSpPr>
        <p:spPr>
          <a:xfrm>
            <a:off x="1238250" y="781050"/>
            <a:ext cx="75723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LAB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1047750" y="1238250"/>
            <a:ext cx="10748442" cy="6037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353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4050"/>
              <a:buFont typeface="Plus Jakarta Sans"/>
              <a:buNone/>
            </a:pPr>
            <a:r>
              <a:rPr b="1" i="0" lang="en-US" sz="40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Lab 1 — Architecture &amp; sizing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4"/>
          <p:cNvSpPr/>
          <p:nvPr/>
        </p:nvSpPr>
        <p:spPr>
          <a:xfrm>
            <a:off x="1047750" y="1937296"/>
            <a:ext cx="10748442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30 minutes · paper + workbook · no cluster needed — sizing is a thinking discipline.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5" name="Google Shape;41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68580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4"/>
          <p:cNvSpPr/>
          <p:nvPr/>
        </p:nvSpPr>
        <p:spPr>
          <a:xfrm>
            <a:off x="1047750" y="2569666"/>
            <a:ext cx="1667827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75"/>
              <a:buFont typeface="Inter"/>
              <a:buNone/>
            </a:pPr>
            <a:r>
              <a:rPr b="1" i="0" lang="en-US" sz="1875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Teams of 2–3 · one workload card per team · all cards illustrative &amp; fully fictional — </a:t>
            </a:r>
            <a:r>
              <a:rPr b="1" i="0" lang="en-US" sz="1875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design a defensible architecture from your workload card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1047750" y="3522166"/>
            <a:ext cx="5206901" cy="4379863"/>
          </a:xfrm>
          <a:prstGeom prst="roundRect">
            <a:avLst>
              <a:gd fmla="val 391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4"/>
          <p:cNvSpPr/>
          <p:nvPr/>
        </p:nvSpPr>
        <p:spPr>
          <a:xfrm>
            <a:off x="1047750" y="3522166"/>
            <a:ext cx="5206901" cy="95250"/>
          </a:xfrm>
          <a:prstGeom prst="rect">
            <a:avLst/>
          </a:prstGeom>
          <a:solidFill>
            <a:srgbClr val="E9E1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4"/>
          <p:cNvSpPr/>
          <p:nvPr/>
        </p:nvSpPr>
        <p:spPr>
          <a:xfrm>
            <a:off x="1390650" y="3922216"/>
            <a:ext cx="497321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Card A — "Atlas"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4"/>
          <p:cNvSpPr/>
          <p:nvPr/>
        </p:nvSpPr>
        <p:spPr>
          <a:xfrm>
            <a:off x="1390650" y="4388941"/>
            <a:ext cx="497321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1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Read-heavy single-tenant catalog.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4"/>
          <p:cNvSpPr/>
          <p:nvPr/>
        </p:nvSpPr>
        <p:spPr>
          <a:xfrm>
            <a:off x="1390650" y="4808041"/>
            <a:ext cx="4656734" cy="1454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120 M objects · 768-dim 900 QPS filtered + hybrid p95 ≤ 100 ms · recall ≥ 0.98 99.95% · cloud cost program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4"/>
          <p:cNvSpPr/>
          <p:nvPr/>
        </p:nvSpPr>
        <p:spPr>
          <a:xfrm>
            <a:off x="6540401" y="3522166"/>
            <a:ext cx="5207050" cy="4379863"/>
          </a:xfrm>
          <a:prstGeom prst="roundRect">
            <a:avLst>
              <a:gd fmla="val 391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4"/>
          <p:cNvSpPr/>
          <p:nvPr/>
        </p:nvSpPr>
        <p:spPr>
          <a:xfrm>
            <a:off x="6540401" y="3522166"/>
            <a:ext cx="5207050" cy="95250"/>
          </a:xfrm>
          <a:prstGeom prst="rect">
            <a:avLst/>
          </a:prstGeom>
          <a:solidFill>
            <a:srgbClr val="61BD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4"/>
          <p:cNvSpPr/>
          <p:nvPr/>
        </p:nvSpPr>
        <p:spPr>
          <a:xfrm>
            <a:off x="6883301" y="3922216"/>
            <a:ext cx="49733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Card B — "Bazaar"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6883301" y="4388941"/>
            <a:ext cx="49733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1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5,000-tenant B2B SaaS.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4"/>
          <p:cNvSpPr/>
          <p:nvPr/>
        </p:nvSpPr>
        <p:spPr>
          <a:xfrm>
            <a:off x="6883301" y="4808041"/>
            <a:ext cx="4656887" cy="1454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150 M objects · 512-dim Tenants +40%/yr · 20% dormant 600 QPS aggregate, spiky Per-tenant cost must stay flat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12033200" y="3522166"/>
            <a:ext cx="5207050" cy="4379863"/>
          </a:xfrm>
          <a:prstGeom prst="roundRect">
            <a:avLst>
              <a:gd fmla="val 391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4"/>
          <p:cNvSpPr/>
          <p:nvPr/>
        </p:nvSpPr>
        <p:spPr>
          <a:xfrm>
            <a:off x="12033200" y="3522166"/>
            <a:ext cx="5207050" cy="95250"/>
          </a:xfrm>
          <a:prstGeom prst="rect">
            <a:avLst/>
          </a:prstGeom>
          <a:solidFill>
            <a:srgbClr val="0E6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4"/>
          <p:cNvSpPr/>
          <p:nvPr/>
        </p:nvSpPr>
        <p:spPr>
          <a:xfrm>
            <a:off x="12376100" y="3922216"/>
            <a:ext cx="49733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Card C — "Chronicle"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12376100" y="4388941"/>
            <a:ext cx="49733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1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High-ingest logs + semantic search.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12376100" y="4808041"/>
            <a:ext cx="4656887" cy="1454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2 B objects · 30-day window 800 obj/s, bursts to 5,000 p95 ≤ 300 ms · recall ≥ 0.90 Hard memory budget cap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4"/>
          <p:cNvSpPr/>
          <p:nvPr/>
        </p:nvSpPr>
        <p:spPr>
          <a:xfrm>
            <a:off x="1047750" y="8187779"/>
            <a:ext cx="16192500" cy="1489621"/>
          </a:xfrm>
          <a:prstGeom prst="roundRect">
            <a:avLst>
              <a:gd fmla="val 10231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4"/>
          <p:cNvSpPr/>
          <p:nvPr/>
        </p:nvSpPr>
        <p:spPr>
          <a:xfrm>
            <a:off x="1390650" y="8435429"/>
            <a:ext cx="44549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Timebox, checkpoints, deliverable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5669161" y="8435429"/>
            <a:ext cx="11565035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4E2F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E4E2F5"/>
                </a:solidFill>
                <a:latin typeface="Inter"/>
                <a:ea typeface="Inter"/>
                <a:cs typeface="Inter"/>
                <a:sym typeface="Inter"/>
              </a:rPr>
              <a:t>T1 profile (min 8) · T2 memory/disk ranges (min 16) · T3 topology + index (min 22) · T4 unknowns + validation plan (min 25) · debrief to 30. Deliverable: sizing sheet + decision record — every assumption labeled.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5"/>
          <p:cNvSpPr/>
          <p:nvPr/>
        </p:nvSpPr>
        <p:spPr>
          <a:xfrm>
            <a:off x="1047750" y="685800"/>
            <a:ext cx="11258729" cy="6037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353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4050"/>
              <a:buFont typeface="Plus Jakarta Sans"/>
              <a:buNone/>
            </a:pPr>
            <a:r>
              <a:rPr b="1" i="0" lang="en-US" sz="40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Lab 1 debrief: defensible ≠ identical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1047750" y="1365796"/>
            <a:ext cx="11258729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Same card, different answers — what matters is whether the assumptions are on paper.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2" name="Google Shape;44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68580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15"/>
          <p:cNvSpPr/>
          <p:nvPr/>
        </p:nvSpPr>
        <p:spPr>
          <a:xfrm>
            <a:off x="1047750" y="1979116"/>
            <a:ext cx="16192500" cy="1485900"/>
          </a:xfrm>
          <a:prstGeom prst="roundRect">
            <a:avLst>
              <a:gd fmla="val 11538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5"/>
          <p:cNvSpPr/>
          <p:nvPr/>
        </p:nvSpPr>
        <p:spPr>
          <a:xfrm>
            <a:off x="1409700" y="2207716"/>
            <a:ext cx="170154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5E4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B9B5E4"/>
                </a:solidFill>
                <a:latin typeface="Inter"/>
                <a:ea typeface="Inter"/>
                <a:cs typeface="Inter"/>
                <a:sym typeface="Inter"/>
              </a:rPr>
              <a:t>Debrief · 5 minutes · one decision defended per 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5"/>
          <p:cNvSpPr/>
          <p:nvPr/>
        </p:nvSpPr>
        <p:spPr>
          <a:xfrm>
            <a:off x="1409700" y="2541091"/>
            <a:ext cx="1701546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"What would make that number wrong?"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5"/>
          <p:cNvSpPr/>
          <p:nvPr/>
        </p:nvSpPr>
        <p:spPr>
          <a:xfrm>
            <a:off x="1409700" y="2960191"/>
            <a:ext cx="170154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A6D53B"/>
                </a:solidFill>
                <a:latin typeface="Inter"/>
                <a:ea typeface="Inter"/>
                <a:cs typeface="Inter"/>
                <a:sym typeface="Inter"/>
              </a:rPr>
              <a:t>The answer we want is a validation plan — not more confidence.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5"/>
          <p:cNvSpPr/>
          <p:nvPr/>
        </p:nvSpPr>
        <p:spPr>
          <a:xfrm>
            <a:off x="1047750" y="3731716"/>
            <a:ext cx="7943850" cy="4876502"/>
          </a:xfrm>
          <a:prstGeom prst="roundRect">
            <a:avLst>
              <a:gd fmla="val 3516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5"/>
          <p:cNvSpPr/>
          <p:nvPr/>
        </p:nvSpPr>
        <p:spPr>
          <a:xfrm>
            <a:off x="1371600" y="3998416"/>
            <a:ext cx="802576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Compare across teams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5"/>
          <p:cNvSpPr/>
          <p:nvPr/>
        </p:nvSpPr>
        <p:spPr>
          <a:xfrm>
            <a:off x="1371600" y="4455616"/>
            <a:ext cx="802576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Same card, different growth numbers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5"/>
          <p:cNvSpPr/>
          <p:nvPr/>
        </p:nvSpPr>
        <p:spPr>
          <a:xfrm>
            <a:off x="1371600" y="4731841"/>
            <a:ext cx="8025765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6B679A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B679A"/>
                </a:solidFill>
                <a:latin typeface="Inter"/>
                <a:ea typeface="Inter"/>
                <a:cs typeface="Inter"/>
                <a:sym typeface="Inter"/>
              </a:rPr>
              <a:t>that is why ranges beat points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5"/>
          <p:cNvSpPr/>
          <p:nvPr/>
        </p:nvSpPr>
        <p:spPr>
          <a:xfrm>
            <a:off x="1371600" y="5124152"/>
            <a:ext cx="802576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Was RF multiplied into memory?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1371600" y="5400377"/>
            <a:ext cx="8025765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6B679A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B679A"/>
                </a:solidFill>
                <a:latin typeface="Inter"/>
                <a:ea typeface="Inter"/>
                <a:cs typeface="Inter"/>
                <a:sym typeface="Inter"/>
              </a:rPr>
              <a:t>the most common arithmetic miss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1371600" y="5792688"/>
            <a:ext cx="802576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Sized for +60%/yr, not just today?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5"/>
          <p:cNvSpPr/>
          <p:nvPr/>
        </p:nvSpPr>
        <p:spPr>
          <a:xfrm>
            <a:off x="1371600" y="6068913"/>
            <a:ext cx="8025765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6B679A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B679A"/>
                </a:solidFill>
                <a:latin typeface="Inter"/>
                <a:ea typeface="Inter"/>
                <a:cs typeface="Inter"/>
                <a:sym typeface="Inter"/>
              </a:rPr>
              <a:t>runway to 18 months is the test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5"/>
          <p:cNvSpPr/>
          <p:nvPr/>
        </p:nvSpPr>
        <p:spPr>
          <a:xfrm>
            <a:off x="1371600" y="6461224"/>
            <a:ext cx="802576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Index family chosen with a reason?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5"/>
          <p:cNvSpPr/>
          <p:nvPr/>
        </p:nvSpPr>
        <p:spPr>
          <a:xfrm>
            <a:off x="1371600" y="6737449"/>
            <a:ext cx="8025765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6B679A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B679A"/>
                </a:solidFill>
                <a:latin typeface="Inter"/>
                <a:ea typeface="Inter"/>
                <a:cs typeface="Inter"/>
                <a:sym typeface="Inter"/>
              </a:rPr>
              <a:t>provisional is fine — faith is not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5"/>
          <p:cNvSpPr/>
          <p:nvPr/>
        </p:nvSpPr>
        <p:spPr>
          <a:xfrm>
            <a:off x="9296400" y="3731716"/>
            <a:ext cx="7943850" cy="4876502"/>
          </a:xfrm>
          <a:prstGeom prst="roundRect">
            <a:avLst>
              <a:gd fmla="val 3516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5"/>
          <p:cNvSpPr/>
          <p:nvPr/>
        </p:nvSpPr>
        <p:spPr>
          <a:xfrm>
            <a:off x="9620250" y="3998416"/>
            <a:ext cx="802576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Patterns to name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9620250" y="4455616"/>
            <a:ext cx="802576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Unlabeled assumption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5"/>
          <p:cNvSpPr/>
          <p:nvPr/>
        </p:nvSpPr>
        <p:spPr>
          <a:xfrm>
            <a:off x="9620250" y="4731841"/>
            <a:ext cx="8025765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6B679A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B679A"/>
                </a:solidFill>
                <a:latin typeface="Inter"/>
                <a:ea typeface="Inter"/>
                <a:cs typeface="Inter"/>
                <a:sym typeface="Inter"/>
              </a:rPr>
              <a:t>becomes invisible risk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5"/>
          <p:cNvSpPr/>
          <p:nvPr/>
        </p:nvSpPr>
        <p:spPr>
          <a:xfrm>
            <a:off x="9620250" y="5124152"/>
            <a:ext cx="802576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Labeled assumption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5"/>
          <p:cNvSpPr/>
          <p:nvPr/>
        </p:nvSpPr>
        <p:spPr>
          <a:xfrm>
            <a:off x="9620250" y="5400377"/>
            <a:ext cx="8025765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6B679A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B679A"/>
                </a:solidFill>
                <a:latin typeface="Inter"/>
                <a:ea typeface="Inter"/>
                <a:cs typeface="Inter"/>
                <a:sym typeface="Inter"/>
              </a:rPr>
              <a:t>becomes a test you can run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5"/>
          <p:cNvSpPr/>
          <p:nvPr/>
        </p:nvSpPr>
        <p:spPr>
          <a:xfrm>
            <a:off x="9620250" y="5792688"/>
            <a:ext cx="802576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Estimate ≠ guarantee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5"/>
          <p:cNvSpPr/>
          <p:nvPr/>
        </p:nvSpPr>
        <p:spPr>
          <a:xfrm>
            <a:off x="9620250" y="6068913"/>
            <a:ext cx="8025765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6B679A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B679A"/>
                </a:solidFill>
                <a:latin typeface="Inter"/>
                <a:ea typeface="Inter"/>
                <a:cs typeface="Inter"/>
                <a:sym typeface="Inter"/>
              </a:rPr>
              <a:t>ranges + validation plan, always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5"/>
          <p:cNvSpPr/>
          <p:nvPr/>
        </p:nvSpPr>
        <p:spPr>
          <a:xfrm>
            <a:off x="9620250" y="6461224"/>
            <a:ext cx="802576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"Dynamic index decides for me"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5"/>
          <p:cNvSpPr/>
          <p:nvPr/>
        </p:nvSpPr>
        <p:spPr>
          <a:xfrm>
            <a:off x="9620250" y="6737449"/>
            <a:ext cx="8025765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6B679A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B679A"/>
                </a:solidFill>
                <a:latin typeface="Inter"/>
                <a:ea typeface="Inter"/>
                <a:cs typeface="Inter"/>
                <a:sym typeface="Inter"/>
              </a:rPr>
              <a:t>Experimental — not a production default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5"/>
          <p:cNvSpPr/>
          <p:nvPr/>
        </p:nvSpPr>
        <p:spPr>
          <a:xfrm>
            <a:off x="1047750" y="8874919"/>
            <a:ext cx="16192500" cy="802481"/>
          </a:xfrm>
          <a:prstGeom prst="roundRect">
            <a:avLst>
              <a:gd fmla="val 18991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5"/>
          <p:cNvSpPr/>
          <p:nvPr/>
        </p:nvSpPr>
        <p:spPr>
          <a:xfrm>
            <a:off x="1371600" y="9103519"/>
            <a:ext cx="124837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2B5E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Takeaway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5"/>
          <p:cNvSpPr/>
          <p:nvPr/>
        </p:nvSpPr>
        <p:spPr>
          <a:xfrm>
            <a:off x="2753320" y="9103519"/>
            <a:ext cx="13712101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3E5A2B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E5A2B"/>
                </a:solidFill>
                <a:latin typeface="Inter"/>
                <a:ea typeface="Inter"/>
                <a:cs typeface="Inter"/>
                <a:sym typeface="Inter"/>
              </a:rPr>
              <a:t>Assumptions labeled beat answers guessed. Your index-family line is still faith — Lab 2 converts it to evidence.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0C49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5" name="Google Shape;475;p16"/>
          <p:cNvPicPr preferRelativeResize="0"/>
          <p:nvPr/>
        </p:nvPicPr>
        <p:blipFill rotWithShape="1">
          <a:blip r:embed="rId3">
            <a:alphaModFix/>
          </a:blip>
          <a:srcRect b="0" l="87" r="87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/>
          <p:nvPr/>
        </p:nvSpPr>
        <p:spPr>
          <a:xfrm>
            <a:off x="1047750" y="952500"/>
            <a:ext cx="1366216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75"/>
              <a:buFont typeface="Inter"/>
              <a:buNone/>
            </a:pPr>
            <a:r>
              <a:rPr b="1" i="0" lang="en-US" sz="1875" u="none" cap="none" strike="noStrike">
                <a:solidFill>
                  <a:srgbClr val="A6D53B"/>
                </a:solidFill>
                <a:latin typeface="Inter"/>
                <a:ea typeface="Inter"/>
                <a:cs typeface="Inter"/>
                <a:sym typeface="Inter"/>
              </a:rPr>
              <a:t>SEGMENT 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6"/>
          <p:cNvSpPr/>
          <p:nvPr/>
        </p:nvSpPr>
        <p:spPr>
          <a:xfrm>
            <a:off x="1047750" y="1381125"/>
            <a:ext cx="13662169" cy="8198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Plus Jakarta Sans"/>
              <a:buNone/>
            </a:pPr>
            <a:r>
              <a:rPr b="1" i="0" lang="en-US" sz="57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Performance engineering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6"/>
          <p:cNvSpPr/>
          <p:nvPr/>
        </p:nvSpPr>
        <p:spPr>
          <a:xfrm>
            <a:off x="1047750" y="2353419"/>
            <a:ext cx="13662169" cy="4385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143"/>
              </a:lnSpc>
              <a:spcBef>
                <a:spcPts val="0"/>
              </a:spcBef>
              <a:spcAft>
                <a:spcPts val="0"/>
              </a:spcAft>
              <a:buClr>
                <a:srgbClr val="C9C6E8"/>
              </a:buClr>
              <a:buSzPts val="2175"/>
              <a:buFont typeface="Inter"/>
              <a:buNone/>
            </a:pPr>
            <a:r>
              <a:rPr b="0" i="0" lang="en-US" sz="2175" u="none" cap="none" strike="noStrike">
                <a:solidFill>
                  <a:srgbClr val="C9C6E8"/>
                </a:solidFill>
                <a:latin typeface="Inter"/>
                <a:ea typeface="Inter"/>
                <a:cs typeface="Inter"/>
                <a:sym typeface="Inter"/>
              </a:rPr>
              <a:t>Segment 4 · 55 min — indexing, ingestion, query &amp; benchmarks. Then Lab 2 makes it evidence.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9" name="Google Shape;47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11563" y="952500"/>
            <a:ext cx="928688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16"/>
          <p:cNvSpPr/>
          <p:nvPr/>
        </p:nvSpPr>
        <p:spPr>
          <a:xfrm>
            <a:off x="1047750" y="3287316"/>
            <a:ext cx="5168801" cy="6142434"/>
          </a:xfrm>
          <a:prstGeom prst="roundRect">
            <a:avLst>
              <a:gd fmla="val 3686" name="adj"/>
            </a:avLst>
          </a:prstGeom>
          <a:solidFill>
            <a:srgbClr val="FFFFFF">
              <a:alpha val="7059"/>
            </a:srgbClr>
          </a:solidFill>
          <a:ln cap="flat" cmpd="sng" w="9525">
            <a:solidFill>
              <a:srgbClr val="FFFFF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6"/>
          <p:cNvSpPr/>
          <p:nvPr/>
        </p:nvSpPr>
        <p:spPr>
          <a:xfrm>
            <a:off x="1476375" y="3677841"/>
            <a:ext cx="474270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#1 cost &amp; recall lever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6"/>
          <p:cNvSpPr/>
          <p:nvPr/>
        </p:nvSpPr>
        <p:spPr>
          <a:xfrm>
            <a:off x="1476375" y="4211241"/>
            <a:ext cx="4440897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4E2F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E4E2F5"/>
                </a:solidFill>
                <a:latin typeface="Inter"/>
                <a:ea typeface="Inter"/>
                <a:cs typeface="Inter"/>
                <a:sym typeface="Inter"/>
              </a:rPr>
              <a:t>Index family and quantization decide memory, recall, and latency together — mischoice here is the most expensive mistake in this course.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6"/>
          <p:cNvSpPr/>
          <p:nvPr/>
        </p:nvSpPr>
        <p:spPr>
          <a:xfrm>
            <a:off x="6559451" y="3287316"/>
            <a:ext cx="5168950" cy="6142434"/>
          </a:xfrm>
          <a:prstGeom prst="roundRect">
            <a:avLst>
              <a:gd fmla="val 3685" name="adj"/>
            </a:avLst>
          </a:prstGeom>
          <a:solidFill>
            <a:srgbClr val="FFFFFF">
              <a:alpha val="7059"/>
            </a:srgbClr>
          </a:solidFill>
          <a:ln cap="flat" cmpd="sng" w="9525">
            <a:solidFill>
              <a:srgbClr val="FFFFF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6"/>
          <p:cNvSpPr/>
          <p:nvPr/>
        </p:nvSpPr>
        <p:spPr>
          <a:xfrm>
            <a:off x="6988076" y="3677841"/>
            <a:ext cx="474287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Defaults are decisions too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6"/>
          <p:cNvSpPr/>
          <p:nvPr/>
        </p:nvSpPr>
        <p:spPr>
          <a:xfrm>
            <a:off x="6988076" y="4211241"/>
            <a:ext cx="4441051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4E2F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E4E2F5"/>
                </a:solidFill>
                <a:latin typeface="Inter"/>
                <a:ea typeface="Inter"/>
                <a:cs typeface="Inter"/>
                <a:sym typeface="Inter"/>
              </a:rPr>
              <a:t>ACORN filtering since 1.34, no quantization anywhere, sync indexing: know what you inherited before you tune anything.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6"/>
          <p:cNvSpPr/>
          <p:nvPr/>
        </p:nvSpPr>
        <p:spPr>
          <a:xfrm>
            <a:off x="12071300" y="3287316"/>
            <a:ext cx="5168950" cy="6142434"/>
          </a:xfrm>
          <a:prstGeom prst="roundRect">
            <a:avLst>
              <a:gd fmla="val 3685" name="adj"/>
            </a:avLst>
          </a:prstGeom>
          <a:solidFill>
            <a:srgbClr val="FFFFFF">
              <a:alpha val="7059"/>
            </a:srgbClr>
          </a:solidFill>
          <a:ln cap="flat" cmpd="sng" w="9525">
            <a:solidFill>
              <a:srgbClr val="FFFFF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6"/>
          <p:cNvSpPr/>
          <p:nvPr/>
        </p:nvSpPr>
        <p:spPr>
          <a:xfrm>
            <a:off x="12499925" y="3677841"/>
            <a:ext cx="474287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Evidence over folklore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6"/>
          <p:cNvSpPr/>
          <p:nvPr/>
        </p:nvSpPr>
        <p:spPr>
          <a:xfrm>
            <a:off x="12499925" y="4211241"/>
            <a:ext cx="4441051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4E2F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E4E2F5"/>
                </a:solidFill>
                <a:latin typeface="Inter"/>
                <a:ea typeface="Inter"/>
                <a:cs typeface="Inter"/>
                <a:sym typeface="Inter"/>
              </a:rPr>
              <a:t>Every lever in this segment is measured against recall@k and p95/p99 — one variable at a time.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7"/>
          <p:cNvSpPr/>
          <p:nvPr/>
        </p:nvSpPr>
        <p:spPr>
          <a:xfrm>
            <a:off x="1047750" y="723900"/>
            <a:ext cx="10627132" cy="6037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353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4050"/>
              <a:buFont typeface="Plus Jakarta Sans"/>
              <a:buNone/>
            </a:pPr>
            <a:r>
              <a:rPr b="1" i="0" lang="en-US" sz="40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Index choice: memory, recall, cost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7"/>
          <p:cNvSpPr/>
          <p:nvPr/>
        </p:nvSpPr>
        <p:spPr>
          <a:xfrm>
            <a:off x="1047750" y="1403896"/>
            <a:ext cx="10627132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Commit-then-reveal: pick a family for each Lab 1 workload card before the debrief.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6" name="Google Shape;49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72390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17"/>
          <p:cNvSpPr/>
          <p:nvPr/>
        </p:nvSpPr>
        <p:spPr>
          <a:xfrm>
            <a:off x="1047750" y="2112466"/>
            <a:ext cx="2590800" cy="1273522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7"/>
          <p:cNvSpPr/>
          <p:nvPr/>
        </p:nvSpPr>
        <p:spPr>
          <a:xfrm>
            <a:off x="1257300" y="2264866"/>
            <a:ext cx="2249424" cy="1006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Decision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7"/>
          <p:cNvSpPr/>
          <p:nvPr/>
        </p:nvSpPr>
        <p:spPr>
          <a:xfrm>
            <a:off x="3638550" y="2112466"/>
            <a:ext cx="3400425" cy="1273522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7"/>
          <p:cNvSpPr/>
          <p:nvPr/>
        </p:nvSpPr>
        <p:spPr>
          <a:xfrm>
            <a:off x="3848100" y="2264866"/>
            <a:ext cx="3083338" cy="1006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HNSW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7"/>
          <p:cNvSpPr/>
          <p:nvPr/>
        </p:nvSpPr>
        <p:spPr>
          <a:xfrm>
            <a:off x="7038975" y="2112466"/>
            <a:ext cx="3400425" cy="1273522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7"/>
          <p:cNvSpPr/>
          <p:nvPr/>
        </p:nvSpPr>
        <p:spPr>
          <a:xfrm>
            <a:off x="7248525" y="2264866"/>
            <a:ext cx="3083338" cy="1006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Flat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7"/>
          <p:cNvSpPr/>
          <p:nvPr/>
        </p:nvSpPr>
        <p:spPr>
          <a:xfrm>
            <a:off x="10439400" y="2112466"/>
            <a:ext cx="3400425" cy="1273522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7"/>
          <p:cNvSpPr/>
          <p:nvPr/>
        </p:nvSpPr>
        <p:spPr>
          <a:xfrm>
            <a:off x="10648950" y="2264866"/>
            <a:ext cx="3083338" cy="1006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Dynamic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7"/>
          <p:cNvSpPr/>
          <p:nvPr/>
        </p:nvSpPr>
        <p:spPr>
          <a:xfrm>
            <a:off x="13839825" y="2112466"/>
            <a:ext cx="3400425" cy="1273522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7"/>
          <p:cNvSpPr/>
          <p:nvPr/>
        </p:nvSpPr>
        <p:spPr>
          <a:xfrm>
            <a:off x="14049375" y="2264866"/>
            <a:ext cx="3083338" cy="1006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HFresh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7"/>
          <p:cNvSpPr/>
          <p:nvPr/>
        </p:nvSpPr>
        <p:spPr>
          <a:xfrm>
            <a:off x="1047750" y="4587627"/>
            <a:ext cx="25908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7"/>
          <p:cNvSpPr/>
          <p:nvPr/>
        </p:nvSpPr>
        <p:spPr>
          <a:xfrm>
            <a:off x="1257300" y="3509814"/>
            <a:ext cx="2249424" cy="992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Maturity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7"/>
          <p:cNvSpPr/>
          <p:nvPr/>
        </p:nvSpPr>
        <p:spPr>
          <a:xfrm>
            <a:off x="3638550" y="4587627"/>
            <a:ext cx="3400425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7"/>
          <p:cNvSpPr/>
          <p:nvPr/>
        </p:nvSpPr>
        <p:spPr>
          <a:xfrm>
            <a:off x="3848100" y="3471714"/>
            <a:ext cx="601861" cy="390525"/>
          </a:xfrm>
          <a:prstGeom prst="roundRect">
            <a:avLst>
              <a:gd fmla="val 50000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7"/>
          <p:cNvSpPr/>
          <p:nvPr/>
        </p:nvSpPr>
        <p:spPr>
          <a:xfrm>
            <a:off x="3981450" y="3528864"/>
            <a:ext cx="41136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GA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7"/>
          <p:cNvSpPr/>
          <p:nvPr/>
        </p:nvSpPr>
        <p:spPr>
          <a:xfrm>
            <a:off x="7038975" y="4587627"/>
            <a:ext cx="3400425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7"/>
          <p:cNvSpPr/>
          <p:nvPr/>
        </p:nvSpPr>
        <p:spPr>
          <a:xfrm>
            <a:off x="7248525" y="3471714"/>
            <a:ext cx="601861" cy="390525"/>
          </a:xfrm>
          <a:prstGeom prst="roundRect">
            <a:avLst>
              <a:gd fmla="val 50000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7"/>
          <p:cNvSpPr/>
          <p:nvPr/>
        </p:nvSpPr>
        <p:spPr>
          <a:xfrm>
            <a:off x="7381875" y="3528864"/>
            <a:ext cx="41136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GA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7"/>
          <p:cNvSpPr/>
          <p:nvPr/>
        </p:nvSpPr>
        <p:spPr>
          <a:xfrm>
            <a:off x="10439400" y="4587627"/>
            <a:ext cx="3400425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7"/>
          <p:cNvSpPr/>
          <p:nvPr/>
        </p:nvSpPr>
        <p:spPr>
          <a:xfrm>
            <a:off x="10648950" y="3471714"/>
            <a:ext cx="1741140" cy="390525"/>
          </a:xfrm>
          <a:prstGeom prst="roundRect">
            <a:avLst>
              <a:gd fmla="val 50000" name="adj"/>
            </a:avLst>
          </a:prstGeom>
          <a:solidFill>
            <a:srgbClr val="FDF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7"/>
          <p:cNvSpPr/>
          <p:nvPr/>
        </p:nvSpPr>
        <p:spPr>
          <a:xfrm>
            <a:off x="10782300" y="3528864"/>
            <a:ext cx="15506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8A5410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5410"/>
                </a:solidFill>
                <a:latin typeface="Inter"/>
                <a:ea typeface="Inter"/>
                <a:cs typeface="Inter"/>
                <a:sym typeface="Inter"/>
              </a:rPr>
              <a:t>Experimental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7"/>
          <p:cNvSpPr/>
          <p:nvPr/>
        </p:nvSpPr>
        <p:spPr>
          <a:xfrm>
            <a:off x="13839825" y="4587627"/>
            <a:ext cx="3400425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7"/>
          <p:cNvSpPr/>
          <p:nvPr/>
        </p:nvSpPr>
        <p:spPr>
          <a:xfrm>
            <a:off x="14049375" y="3471714"/>
            <a:ext cx="1380530" cy="390525"/>
          </a:xfrm>
          <a:prstGeom prst="roundRect">
            <a:avLst>
              <a:gd fmla="val 50000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7"/>
          <p:cNvSpPr/>
          <p:nvPr/>
        </p:nvSpPr>
        <p:spPr>
          <a:xfrm>
            <a:off x="14182725" y="3528864"/>
            <a:ext cx="119003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GA in 1.38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7"/>
          <p:cNvSpPr/>
          <p:nvPr/>
        </p:nvSpPr>
        <p:spPr>
          <a:xfrm>
            <a:off x="1047750" y="6485930"/>
            <a:ext cx="25908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7"/>
          <p:cNvSpPr/>
          <p:nvPr/>
        </p:nvSpPr>
        <p:spPr>
          <a:xfrm>
            <a:off x="1257300" y="4720977"/>
            <a:ext cx="2249424" cy="16792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Where vectors live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7"/>
          <p:cNvSpPr/>
          <p:nvPr/>
        </p:nvSpPr>
        <p:spPr>
          <a:xfrm>
            <a:off x="3638550" y="6485930"/>
            <a:ext cx="3400425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7"/>
          <p:cNvSpPr/>
          <p:nvPr/>
        </p:nvSpPr>
        <p:spPr>
          <a:xfrm>
            <a:off x="3848100" y="4720977"/>
            <a:ext cx="3083338" cy="16792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In-memory 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7"/>
          <p:cNvSpPr/>
          <p:nvPr/>
        </p:nvSpPr>
        <p:spPr>
          <a:xfrm>
            <a:off x="7038975" y="6485930"/>
            <a:ext cx="3400425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7"/>
          <p:cNvSpPr/>
          <p:nvPr/>
        </p:nvSpPr>
        <p:spPr>
          <a:xfrm>
            <a:off x="7248525" y="4720977"/>
            <a:ext cx="3083338" cy="16792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Brute-force scan — no 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7"/>
          <p:cNvSpPr/>
          <p:nvPr/>
        </p:nvSpPr>
        <p:spPr>
          <a:xfrm>
            <a:off x="10439400" y="6485930"/>
            <a:ext cx="3400425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7"/>
          <p:cNvSpPr/>
          <p:nvPr/>
        </p:nvSpPr>
        <p:spPr>
          <a:xfrm>
            <a:off x="10648950" y="4720977"/>
            <a:ext cx="3083338" cy="16792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Flat → HNSW at 10 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7"/>
          <p:cNvSpPr/>
          <p:nvPr/>
        </p:nvSpPr>
        <p:spPr>
          <a:xfrm>
            <a:off x="13839825" y="6485930"/>
            <a:ext cx="3400425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7"/>
          <p:cNvSpPr/>
          <p:nvPr/>
        </p:nvSpPr>
        <p:spPr>
          <a:xfrm>
            <a:off x="14049375" y="4720977"/>
            <a:ext cx="3083338" cy="16792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Disk postings; centroids in RAM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7"/>
          <p:cNvSpPr/>
          <p:nvPr/>
        </p:nvSpPr>
        <p:spPr>
          <a:xfrm>
            <a:off x="1047750" y="7707213"/>
            <a:ext cx="25908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7"/>
          <p:cNvSpPr/>
          <p:nvPr/>
        </p:nvSpPr>
        <p:spPr>
          <a:xfrm>
            <a:off x="1257300" y="6619280"/>
            <a:ext cx="2249424" cy="10022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Best fit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7"/>
          <p:cNvSpPr/>
          <p:nvPr/>
        </p:nvSpPr>
        <p:spPr>
          <a:xfrm>
            <a:off x="3638550" y="7707213"/>
            <a:ext cx="3400425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7"/>
          <p:cNvSpPr/>
          <p:nvPr/>
        </p:nvSpPr>
        <p:spPr>
          <a:xfrm>
            <a:off x="3848100" y="6619280"/>
            <a:ext cx="3083338" cy="10022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Default for latency at scale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7"/>
          <p:cNvSpPr/>
          <p:nvPr/>
        </p:nvSpPr>
        <p:spPr>
          <a:xfrm>
            <a:off x="7038975" y="7707213"/>
            <a:ext cx="3400425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7"/>
          <p:cNvSpPr/>
          <p:nvPr/>
        </p:nvSpPr>
        <p:spPr>
          <a:xfrm>
            <a:off x="7248525" y="6619280"/>
            <a:ext cx="3083338" cy="10022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Small or per-tenant exact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7"/>
          <p:cNvSpPr/>
          <p:nvPr/>
        </p:nvSpPr>
        <p:spPr>
          <a:xfrm>
            <a:off x="10439400" y="7707213"/>
            <a:ext cx="3400425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7"/>
          <p:cNvSpPr/>
          <p:nvPr/>
        </p:nvSpPr>
        <p:spPr>
          <a:xfrm>
            <a:off x="10648950" y="6619280"/>
            <a:ext cx="3083338" cy="10022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Varied tenant sizes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7"/>
          <p:cNvSpPr/>
          <p:nvPr/>
        </p:nvSpPr>
        <p:spPr>
          <a:xfrm>
            <a:off x="13839825" y="7707213"/>
            <a:ext cx="3400425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7"/>
          <p:cNvSpPr/>
          <p:nvPr/>
        </p:nvSpPr>
        <p:spPr>
          <a:xfrm>
            <a:off x="14049375" y="6619280"/>
            <a:ext cx="3083338" cy="10022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RAM-tight scale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7"/>
          <p:cNvSpPr/>
          <p:nvPr/>
        </p:nvSpPr>
        <p:spPr>
          <a:xfrm>
            <a:off x="1047750" y="9605963"/>
            <a:ext cx="25908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7"/>
          <p:cNvSpPr/>
          <p:nvPr/>
        </p:nvSpPr>
        <p:spPr>
          <a:xfrm>
            <a:off x="1257300" y="7840563"/>
            <a:ext cx="2249424" cy="16796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Watch out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7"/>
          <p:cNvSpPr/>
          <p:nvPr/>
        </p:nvSpPr>
        <p:spPr>
          <a:xfrm>
            <a:off x="3638550" y="9605963"/>
            <a:ext cx="3400425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7"/>
          <p:cNvSpPr/>
          <p:nvPr/>
        </p:nvSpPr>
        <p:spPr>
          <a:xfrm>
            <a:off x="3848100" y="7840563"/>
            <a:ext cx="3083338" cy="16796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Memory ≈ 2× vectors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7"/>
          <p:cNvSpPr/>
          <p:nvPr/>
        </p:nvSpPr>
        <p:spPr>
          <a:xfrm>
            <a:off x="7038975" y="9605963"/>
            <a:ext cx="3400425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7"/>
          <p:cNvSpPr/>
          <p:nvPr/>
        </p:nvSpPr>
        <p:spPr>
          <a:xfrm>
            <a:off x="7248525" y="7840563"/>
            <a:ext cx="3083338" cy="16796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Linear scan — does not scale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7"/>
          <p:cNvSpPr/>
          <p:nvPr/>
        </p:nvSpPr>
        <p:spPr>
          <a:xfrm>
            <a:off x="10439400" y="9605963"/>
            <a:ext cx="3400425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7"/>
          <p:cNvSpPr/>
          <p:nvPr/>
        </p:nvSpPr>
        <p:spPr>
          <a:xfrm>
            <a:off x="10648950" y="7840563"/>
            <a:ext cx="3083338" cy="16796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Needs async indexing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7"/>
          <p:cNvSpPr/>
          <p:nvPr/>
        </p:nvSpPr>
        <p:spPr>
          <a:xfrm>
            <a:off x="13839825" y="9605963"/>
            <a:ext cx="3400425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7"/>
          <p:cNvSpPr/>
          <p:nvPr/>
        </p:nvSpPr>
        <p:spPr>
          <a:xfrm>
            <a:off x="14049375" y="7840563"/>
            <a:ext cx="3083338" cy="16796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RQ built-in; cosine/l2 only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8"/>
          <p:cNvSpPr/>
          <p:nvPr/>
        </p:nvSpPr>
        <p:spPr>
          <a:xfrm>
            <a:off x="1047750" y="762000"/>
            <a:ext cx="10051524" cy="6037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353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4050"/>
              <a:buFont typeface="Plus Jakarta Sans"/>
              <a:buNone/>
            </a:pPr>
            <a:r>
              <a:rPr b="1" i="0" lang="en-US" sz="40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HNSW: the parameters that matter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8"/>
          <p:cNvSpPr/>
          <p:nvPr/>
        </p:nvSpPr>
        <p:spPr>
          <a:xfrm>
            <a:off x="1047750" y="1441996"/>
            <a:ext cx="10051524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Everything else is tuning detail — the full parameter table lives in Appendix A1.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8" name="Google Shape;5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76200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18"/>
          <p:cNvSpPr/>
          <p:nvPr/>
        </p:nvSpPr>
        <p:spPr>
          <a:xfrm>
            <a:off x="1047750" y="2245816"/>
            <a:ext cx="5194250" cy="7279184"/>
          </a:xfrm>
          <a:prstGeom prst="roundRect">
            <a:avLst>
              <a:gd fmla="val 3301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8"/>
          <p:cNvSpPr/>
          <p:nvPr/>
        </p:nvSpPr>
        <p:spPr>
          <a:xfrm>
            <a:off x="1428750" y="2588716"/>
            <a:ext cx="1713309" cy="361950"/>
          </a:xfrm>
          <a:prstGeom prst="roundRect">
            <a:avLst>
              <a:gd fmla="val 50000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8"/>
          <p:cNvSpPr/>
          <p:nvPr/>
        </p:nvSpPr>
        <p:spPr>
          <a:xfrm>
            <a:off x="1581150" y="2655391"/>
            <a:ext cx="157984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Hot-mutable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8"/>
          <p:cNvSpPr/>
          <p:nvPr/>
        </p:nvSpPr>
        <p:spPr>
          <a:xfrm>
            <a:off x="1428750" y="3045916"/>
            <a:ext cx="48754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ef: the recall dial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8"/>
          <p:cNvSpPr/>
          <p:nvPr/>
        </p:nvSpPr>
        <p:spPr>
          <a:xfrm>
            <a:off x="1428750" y="3579316"/>
            <a:ext cx="4565218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Default −1 = dynamic ef, sized from the query limit (min 100, max 500, factor 8). Tune it live against recall@10 and p95 — no rebuild required.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8"/>
          <p:cNvSpPr/>
          <p:nvPr/>
        </p:nvSpPr>
        <p:spPr>
          <a:xfrm>
            <a:off x="6546800" y="2245816"/>
            <a:ext cx="5194399" cy="7279184"/>
          </a:xfrm>
          <a:prstGeom prst="roundRect">
            <a:avLst>
              <a:gd fmla="val 3301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8"/>
          <p:cNvSpPr/>
          <p:nvPr/>
        </p:nvSpPr>
        <p:spPr>
          <a:xfrm>
            <a:off x="6927800" y="2588716"/>
            <a:ext cx="1488281" cy="361950"/>
          </a:xfrm>
          <a:prstGeom prst="roundRect">
            <a:avLst>
              <a:gd fmla="val 50000" name="adj"/>
            </a:avLst>
          </a:prstGeom>
          <a:solidFill>
            <a:srgbClr val="FBE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8"/>
          <p:cNvSpPr/>
          <p:nvPr/>
        </p:nvSpPr>
        <p:spPr>
          <a:xfrm>
            <a:off x="7080200" y="2655391"/>
            <a:ext cx="133230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93400F"/>
                </a:solidFill>
                <a:latin typeface="Inter"/>
                <a:ea typeface="Inter"/>
                <a:cs typeface="Inter"/>
                <a:sym typeface="Inter"/>
              </a:rPr>
              <a:t>Immutable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8"/>
          <p:cNvSpPr/>
          <p:nvPr/>
        </p:nvSpPr>
        <p:spPr>
          <a:xfrm>
            <a:off x="6927800" y="3045916"/>
            <a:ext cx="487563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Decided at creation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8"/>
          <p:cNvSpPr/>
          <p:nvPr/>
        </p:nvSpPr>
        <p:spPr>
          <a:xfrm>
            <a:off x="6927800" y="3579316"/>
            <a:ext cx="4565371" cy="1824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efConstruction (128), maxConnections (32) and the distance metric are fixed at creation — wrong values mean rebuild + re-import. Decide before the data arrives.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8"/>
          <p:cNvSpPr/>
          <p:nvPr/>
        </p:nvSpPr>
        <p:spPr>
          <a:xfrm>
            <a:off x="12046000" y="2245816"/>
            <a:ext cx="5194250" cy="7279184"/>
          </a:xfrm>
          <a:prstGeom prst="roundRect">
            <a:avLst>
              <a:gd fmla="val 3301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8"/>
          <p:cNvSpPr/>
          <p:nvPr/>
        </p:nvSpPr>
        <p:spPr>
          <a:xfrm>
            <a:off x="12427000" y="2588716"/>
            <a:ext cx="2022425" cy="361950"/>
          </a:xfrm>
          <a:prstGeom prst="roundRect">
            <a:avLst>
              <a:gd fmla="val 50000" name="adj"/>
            </a:avLst>
          </a:prstGeom>
          <a:solidFill>
            <a:srgbClr val="E7E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8"/>
          <p:cNvSpPr/>
          <p:nvPr/>
        </p:nvSpPr>
        <p:spPr>
          <a:xfrm>
            <a:off x="12579400" y="2655391"/>
            <a:ext cx="191986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1C4E93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C4E93"/>
                </a:solidFill>
                <a:latin typeface="Inter"/>
                <a:ea typeface="Inter"/>
                <a:cs typeface="Inter"/>
                <a:sym typeface="Inter"/>
              </a:rPr>
              <a:t>Default-on 1.36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8"/>
          <p:cNvSpPr/>
          <p:nvPr/>
        </p:nvSpPr>
        <p:spPr>
          <a:xfrm>
            <a:off x="12427000" y="3045916"/>
            <a:ext cx="48754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Cache &amp; snapshots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8"/>
          <p:cNvSpPr/>
          <p:nvPr/>
        </p:nvSpPr>
        <p:spPr>
          <a:xfrm>
            <a:off x="12427000" y="3579316"/>
            <a:ext cx="4565218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Keep vectorCacheMaxObjects above the vector count during import — disk lookups are orders of magnitude slower. HNSW snapshots (default-on since 1.36) cut restarts vs replaying the commit log.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9"/>
          <p:cNvSpPr/>
          <p:nvPr/>
        </p:nvSpPr>
        <p:spPr>
          <a:xfrm>
            <a:off x="1047750" y="762000"/>
            <a:ext cx="10255344" cy="6037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353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4050"/>
              <a:buFont typeface="Plus Jakarta Sans"/>
              <a:buNone/>
            </a:pPr>
            <a:r>
              <a:rPr b="1" i="0" lang="en-US" sz="40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HFresh (GA 1.38): vectors on disk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9"/>
          <p:cNvSpPr/>
          <p:nvPr/>
        </p:nvSpPr>
        <p:spPr>
          <a:xfrm>
            <a:off x="1047750" y="1441996"/>
            <a:ext cx="10255344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The RAM-for-IOPS trade — for scale where memory efficiency beats peak QPS.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1" name="Google Shape;58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76200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19"/>
          <p:cNvSpPr/>
          <p:nvPr/>
        </p:nvSpPr>
        <p:spPr>
          <a:xfrm>
            <a:off x="1047750" y="2245816"/>
            <a:ext cx="5194250" cy="7279184"/>
          </a:xfrm>
          <a:prstGeom prst="roundRect">
            <a:avLst>
              <a:gd fmla="val 3301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9"/>
          <p:cNvSpPr/>
          <p:nvPr/>
        </p:nvSpPr>
        <p:spPr>
          <a:xfrm>
            <a:off x="1428750" y="2588716"/>
            <a:ext cx="1418630" cy="361950"/>
          </a:xfrm>
          <a:prstGeom prst="roundRect">
            <a:avLst>
              <a:gd fmla="val 50000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9"/>
          <p:cNvSpPr/>
          <p:nvPr/>
        </p:nvSpPr>
        <p:spPr>
          <a:xfrm>
            <a:off x="1581150" y="2655391"/>
            <a:ext cx="125569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GA in 1.38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9"/>
          <p:cNvSpPr/>
          <p:nvPr/>
        </p:nvSpPr>
        <p:spPr>
          <a:xfrm>
            <a:off x="1428750" y="3045916"/>
            <a:ext cx="48754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Disk-resident design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9"/>
          <p:cNvSpPr/>
          <p:nvPr/>
        </p:nvSpPr>
        <p:spPr>
          <a:xfrm>
            <a:off x="1428750" y="3579316"/>
            <a:ext cx="4565218" cy="1824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SPFresh-style: vectors live in posting lists on disk (RQ-1 compressed); only the RQ-8 centroid index stays in RAM. The index rebalances incrementally as data changes.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9"/>
          <p:cNvSpPr/>
          <p:nvPr/>
        </p:nvSpPr>
        <p:spPr>
          <a:xfrm>
            <a:off x="6546800" y="2245816"/>
            <a:ext cx="5194399" cy="7279184"/>
          </a:xfrm>
          <a:prstGeom prst="roundRect">
            <a:avLst>
              <a:gd fmla="val 3301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9"/>
          <p:cNvSpPr/>
          <p:nvPr/>
        </p:nvSpPr>
        <p:spPr>
          <a:xfrm>
            <a:off x="6927800" y="2588716"/>
            <a:ext cx="1903065" cy="361950"/>
          </a:xfrm>
          <a:prstGeom prst="roundRect">
            <a:avLst>
              <a:gd fmla="val 50000" name="adj"/>
            </a:avLst>
          </a:prstGeom>
          <a:solidFill>
            <a:srgbClr val="FBE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9"/>
          <p:cNvSpPr/>
          <p:nvPr/>
        </p:nvSpPr>
        <p:spPr>
          <a:xfrm>
            <a:off x="7080200" y="2655391"/>
            <a:ext cx="178857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93400F"/>
                </a:solidFill>
                <a:latin typeface="Inter"/>
                <a:ea typeface="Inter"/>
                <a:cs typeface="Inter"/>
                <a:sym typeface="Inter"/>
              </a:rPr>
              <a:t>RQ mandatory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9"/>
          <p:cNvSpPr/>
          <p:nvPr/>
        </p:nvSpPr>
        <p:spPr>
          <a:xfrm>
            <a:off x="6927800" y="3045916"/>
            <a:ext cx="487563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Hard constraints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9"/>
          <p:cNvSpPr/>
          <p:nvPr/>
        </p:nvSpPr>
        <p:spPr>
          <a:xfrm>
            <a:off x="6927800" y="3579316"/>
            <a:ext cx="4565371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RQ compression cannot be turned off. Distance: cosine and l2-squared only — no dot product. Technical preview in 1.36; generally available in 1.38.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9"/>
          <p:cNvSpPr/>
          <p:nvPr/>
        </p:nvSpPr>
        <p:spPr>
          <a:xfrm>
            <a:off x="12046000" y="2245816"/>
            <a:ext cx="5194250" cy="7279184"/>
          </a:xfrm>
          <a:prstGeom prst="roundRect">
            <a:avLst>
              <a:gd fmla="val 3301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9"/>
          <p:cNvSpPr/>
          <p:nvPr/>
        </p:nvSpPr>
        <p:spPr>
          <a:xfrm>
            <a:off x="12427000" y="2588716"/>
            <a:ext cx="1743521" cy="361950"/>
          </a:xfrm>
          <a:prstGeom prst="roundRect">
            <a:avLst>
              <a:gd fmla="val 50000" name="adj"/>
            </a:avLst>
          </a:prstGeom>
          <a:solidFill>
            <a:srgbClr val="FDF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9"/>
          <p:cNvSpPr/>
          <p:nvPr/>
        </p:nvSpPr>
        <p:spPr>
          <a:xfrm>
            <a:off x="12579400" y="2655391"/>
            <a:ext cx="161307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6B5E0E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6B5E0E"/>
                </a:solidFill>
                <a:latin typeface="Inter"/>
                <a:ea typeface="Inter"/>
                <a:cs typeface="Inter"/>
                <a:sym typeface="Inter"/>
              </a:rPr>
              <a:t>Set explicitly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9"/>
          <p:cNvSpPr/>
          <p:nvPr/>
        </p:nvSpPr>
        <p:spPr>
          <a:xfrm>
            <a:off x="12427000" y="3045916"/>
            <a:ext cx="48754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Set searchProbe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9"/>
          <p:cNvSpPr/>
          <p:nvPr/>
        </p:nvSpPr>
        <p:spPr>
          <a:xfrm>
            <a:off x="12427000" y="3579316"/>
            <a:ext cx="4565218" cy="1824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Default 256 since v1.38.2 — docs and release notes agree (C-1 resolved). The labs still set searchProbe explicitly — the Lab 2 preset does.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0"/>
          <p:cNvSpPr/>
          <p:nvPr/>
        </p:nvSpPr>
        <p:spPr>
          <a:xfrm>
            <a:off x="1047750" y="685800"/>
            <a:ext cx="9519791" cy="6037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353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4050"/>
              <a:buFont typeface="Plus Jakarta Sans"/>
              <a:buNone/>
            </a:pPr>
            <a:r>
              <a:rPr b="1" i="0" lang="en-US" sz="40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quantization ladder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0"/>
          <p:cNvSpPr/>
          <p:nvPr/>
        </p:nvSpPr>
        <p:spPr>
          <a:xfrm>
            <a:off x="1047750" y="1365796"/>
            <a:ext cx="9519791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RQ-8 → RQ-1 → PQ/BQ/SQ — climb only as far as the evidence takes you.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4" name="Google Shape;60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68580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20"/>
          <p:cNvSpPr/>
          <p:nvPr/>
        </p:nvSpPr>
        <p:spPr>
          <a:xfrm>
            <a:off x="1047750" y="2017216"/>
            <a:ext cx="5219700" cy="5810548"/>
          </a:xfrm>
          <a:prstGeom prst="roundRect">
            <a:avLst>
              <a:gd fmla="val 3285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0"/>
          <p:cNvSpPr/>
          <p:nvPr/>
        </p:nvSpPr>
        <p:spPr>
          <a:xfrm>
            <a:off x="1047750" y="2017216"/>
            <a:ext cx="5219700" cy="95250"/>
          </a:xfrm>
          <a:prstGeom prst="rect">
            <a:avLst/>
          </a:prstGeom>
          <a:solidFill>
            <a:srgbClr val="E9E1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0"/>
          <p:cNvSpPr/>
          <p:nvPr/>
        </p:nvSpPr>
        <p:spPr>
          <a:xfrm>
            <a:off x="1390650" y="2417266"/>
            <a:ext cx="498729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STEP 1 — START HERE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0"/>
          <p:cNvSpPr/>
          <p:nvPr/>
        </p:nvSpPr>
        <p:spPr>
          <a:xfrm>
            <a:off x="1390650" y="2826841"/>
            <a:ext cx="4987290" cy="3695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667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75"/>
              <a:buFont typeface="Plus Jakarta Sans"/>
              <a:buNone/>
            </a:pPr>
            <a:r>
              <a:rPr b="1" i="0" lang="en-US" sz="217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RQ-8: up to 4× memory cut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0"/>
          <p:cNvSpPr/>
          <p:nvPr/>
        </p:nvSpPr>
        <p:spPr>
          <a:xfrm>
            <a:off x="1390650" y="3291632"/>
            <a:ext cx="4669917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98–99% recall on most datasets, no training phase, can be enabled on an existing collection. Verify with rescoring measured, not assumed.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0"/>
          <p:cNvSpPr/>
          <p:nvPr/>
        </p:nvSpPr>
        <p:spPr>
          <a:xfrm>
            <a:off x="6534150" y="2017216"/>
            <a:ext cx="5219700" cy="5810548"/>
          </a:xfrm>
          <a:prstGeom prst="roundRect">
            <a:avLst>
              <a:gd fmla="val 3285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0"/>
          <p:cNvSpPr/>
          <p:nvPr/>
        </p:nvSpPr>
        <p:spPr>
          <a:xfrm>
            <a:off x="6534150" y="2017216"/>
            <a:ext cx="5219700" cy="95250"/>
          </a:xfrm>
          <a:prstGeom prst="rect">
            <a:avLst/>
          </a:prstGeom>
          <a:solidFill>
            <a:srgbClr val="61BD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0"/>
          <p:cNvSpPr/>
          <p:nvPr/>
        </p:nvSpPr>
        <p:spPr>
          <a:xfrm>
            <a:off x="6877050" y="2417266"/>
            <a:ext cx="498729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STEP 2 — IF RAM STILL BINDS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0"/>
          <p:cNvSpPr/>
          <p:nvPr/>
        </p:nvSpPr>
        <p:spPr>
          <a:xfrm>
            <a:off x="6877050" y="2826841"/>
            <a:ext cx="4669917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667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75"/>
              <a:buFont typeface="Plus Jakarta Sans"/>
              <a:buNone/>
            </a:pPr>
            <a:r>
              <a:rPr b="1" i="0" lang="en-US" sz="217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RQ-1: close to 32× as dimensions grow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0"/>
          <p:cNvSpPr/>
          <p:nvPr/>
        </p:nvSpPr>
        <p:spPr>
          <a:xfrm>
            <a:off x="6877050" y="3623072"/>
            <a:ext cx="4669917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Moderate recall; a more robust, more accurate alternative to BQ. Rescoring re-checks candidates against the uncompressed originals.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0"/>
          <p:cNvSpPr/>
          <p:nvPr/>
        </p:nvSpPr>
        <p:spPr>
          <a:xfrm>
            <a:off x="12020550" y="2017216"/>
            <a:ext cx="5219700" cy="5810548"/>
          </a:xfrm>
          <a:prstGeom prst="roundRect">
            <a:avLst>
              <a:gd fmla="val 3285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0"/>
          <p:cNvSpPr/>
          <p:nvPr/>
        </p:nvSpPr>
        <p:spPr>
          <a:xfrm>
            <a:off x="12020550" y="2017216"/>
            <a:ext cx="5219700" cy="95250"/>
          </a:xfrm>
          <a:prstGeom prst="rect">
            <a:avLst/>
          </a:prstGeom>
          <a:solidFill>
            <a:srgbClr val="0E6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0"/>
          <p:cNvSpPr/>
          <p:nvPr/>
        </p:nvSpPr>
        <p:spPr>
          <a:xfrm>
            <a:off x="12363450" y="2417266"/>
            <a:ext cx="498729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STEP 3 — WHERE JUSTIFIED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0"/>
          <p:cNvSpPr/>
          <p:nvPr/>
        </p:nvSpPr>
        <p:spPr>
          <a:xfrm>
            <a:off x="12363450" y="2826841"/>
            <a:ext cx="4669917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667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75"/>
              <a:buFont typeface="Plus Jakarta Sans"/>
              <a:buNone/>
            </a:pPr>
            <a:r>
              <a:rPr b="1" i="0" lang="en-US" sz="217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PQ · BQ · SQ: the classic schemes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0"/>
          <p:cNvSpPr/>
          <p:nvPr/>
        </p:nvSpPr>
        <p:spPr>
          <a:xfrm>
            <a:off x="12363450" y="3623072"/>
            <a:ext cx="4669917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PQ and SQ need training (AutoPQ requires async indexing); BQ is 1 bit per dimension. Once enabled on a collection, quantization can never be disabled.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0"/>
          <p:cNvSpPr/>
          <p:nvPr/>
        </p:nvSpPr>
        <p:spPr>
          <a:xfrm>
            <a:off x="1047750" y="8132564"/>
            <a:ext cx="7962900" cy="1544836"/>
          </a:xfrm>
          <a:prstGeom prst="roundRect">
            <a:avLst>
              <a:gd fmla="val 9865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0"/>
          <p:cNvSpPr/>
          <p:nvPr/>
        </p:nvSpPr>
        <p:spPr>
          <a:xfrm>
            <a:off x="1371600" y="8380214"/>
            <a:ext cx="804672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Nothing quantizes by default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0"/>
          <p:cNvSpPr/>
          <p:nvPr/>
        </p:nvSpPr>
        <p:spPr>
          <a:xfrm>
            <a:off x="1371600" y="8770739"/>
            <a:ext cx="7534656" cy="6971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A6D53B"/>
                </a:solidFill>
                <a:latin typeface="Courier New"/>
                <a:ea typeface="Courier New"/>
                <a:cs typeface="Courier New"/>
                <a:sym typeface="Courier New"/>
              </a:rPr>
              <a:t>DEFAULT_QUANTIZATION = none </a:t>
            </a:r>
            <a:r>
              <a:rPr b="0" i="0" lang="en-US" sz="1800" u="none" cap="none" strike="noStrike">
                <a:solidFill>
                  <a:srgbClr val="E4E2F5"/>
                </a:solidFill>
                <a:latin typeface="Inter"/>
                <a:ea typeface="Inter"/>
                <a:cs typeface="Inter"/>
                <a:sym typeface="Inter"/>
              </a:rPr>
              <a:t>— if your sizing math assumed compression, you opted in explicitly — or you did not get it.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0"/>
          <p:cNvSpPr/>
          <p:nvPr/>
        </p:nvSpPr>
        <p:spPr>
          <a:xfrm>
            <a:off x="9277350" y="8132564"/>
            <a:ext cx="7962900" cy="1544836"/>
          </a:xfrm>
          <a:prstGeom prst="roundRect">
            <a:avLst>
              <a:gd fmla="val 9865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0"/>
          <p:cNvSpPr/>
          <p:nvPr/>
        </p:nvSpPr>
        <p:spPr>
          <a:xfrm>
            <a:off x="9601200" y="8380214"/>
            <a:ext cx="804672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2B5E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one exception: HFresh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0"/>
          <p:cNvSpPr/>
          <p:nvPr/>
        </p:nvSpPr>
        <p:spPr>
          <a:xfrm>
            <a:off x="9601200" y="8770739"/>
            <a:ext cx="7534656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3E5A2B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E5A2B"/>
                </a:solidFill>
                <a:latin typeface="Inter"/>
                <a:ea typeface="Inter"/>
                <a:cs typeface="Inter"/>
                <a:sym typeface="Inter"/>
              </a:rPr>
              <a:t>RQ is mandatory and built in — the compression is part of the index design.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1"/>
          <p:cNvSpPr/>
          <p:nvPr/>
        </p:nvSpPr>
        <p:spPr>
          <a:xfrm>
            <a:off x="1047750" y="685800"/>
            <a:ext cx="15908774" cy="6037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353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4050"/>
              <a:buFont typeface="Plus Jakarta Sans"/>
              <a:buNone/>
            </a:pPr>
            <a:r>
              <a:rPr b="1" i="0" lang="en-US" sz="40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indexing visibility contract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1"/>
          <p:cNvSpPr/>
          <p:nvPr/>
        </p:nvSpPr>
        <p:spPr>
          <a:xfrm>
            <a:off x="1047750" y="1365796"/>
            <a:ext cx="15908774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Sync: searchable at ack. Async: searchable when the queue drains — read the queue, do not promise freshness from hope.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3" name="Google Shape;6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68580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21"/>
          <p:cNvSpPr/>
          <p:nvPr/>
        </p:nvSpPr>
        <p:spPr>
          <a:xfrm>
            <a:off x="1047750" y="2036266"/>
            <a:ext cx="4940201" cy="2580382"/>
          </a:xfrm>
          <a:prstGeom prst="roundRect">
            <a:avLst>
              <a:gd fmla="val 6644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1"/>
          <p:cNvSpPr/>
          <p:nvPr/>
        </p:nvSpPr>
        <p:spPr>
          <a:xfrm>
            <a:off x="1371600" y="2956917"/>
            <a:ext cx="472175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 · Import (ack)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1"/>
          <p:cNvSpPr/>
          <p:nvPr/>
        </p:nvSpPr>
        <p:spPr>
          <a:xfrm>
            <a:off x="1371600" y="3376017"/>
            <a:ext cx="4721751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C9C6E8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C9C6E8"/>
                </a:solidFill>
                <a:latin typeface="Inter"/>
                <a:ea typeface="Inter"/>
                <a:cs typeface="Inter"/>
                <a:sym typeface="Inter"/>
              </a:rPr>
              <a:t>object store updated immediately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1"/>
          <p:cNvSpPr/>
          <p:nvPr/>
        </p:nvSpPr>
        <p:spPr>
          <a:xfrm>
            <a:off x="6121301" y="3288357"/>
            <a:ext cx="419100" cy="76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E9E11E"/>
              </a:gs>
              <a:gs pos="100000">
                <a:srgbClr val="0C8C59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1"/>
          <p:cNvSpPr/>
          <p:nvPr/>
        </p:nvSpPr>
        <p:spPr>
          <a:xfrm>
            <a:off x="6673751" y="2036266"/>
            <a:ext cx="4940350" cy="2580382"/>
          </a:xfrm>
          <a:prstGeom prst="roundRect">
            <a:avLst>
              <a:gd fmla="val 6644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1"/>
          <p:cNvSpPr/>
          <p:nvPr/>
        </p:nvSpPr>
        <p:spPr>
          <a:xfrm>
            <a:off x="6997601" y="2796927"/>
            <a:ext cx="472191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 · Vector index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1"/>
          <p:cNvSpPr/>
          <p:nvPr/>
        </p:nvSpPr>
        <p:spPr>
          <a:xfrm>
            <a:off x="6997601" y="3216027"/>
            <a:ext cx="4421429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C9C6E8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C9C6E8"/>
                </a:solidFill>
                <a:latin typeface="Inter"/>
                <a:ea typeface="Inter"/>
                <a:cs typeface="Inter"/>
                <a:sym typeface="Inter"/>
              </a:rPr>
              <a:t>sync: inline at ack · async: disk-backed queue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1"/>
          <p:cNvSpPr/>
          <p:nvPr/>
        </p:nvSpPr>
        <p:spPr>
          <a:xfrm>
            <a:off x="11747450" y="3288357"/>
            <a:ext cx="419100" cy="76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E9E11E"/>
              </a:gs>
              <a:gs pos="100000">
                <a:srgbClr val="0C8C59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1"/>
          <p:cNvSpPr/>
          <p:nvPr/>
        </p:nvSpPr>
        <p:spPr>
          <a:xfrm>
            <a:off x="12299900" y="2036266"/>
            <a:ext cx="4940350" cy="2580382"/>
          </a:xfrm>
          <a:prstGeom prst="roundRect">
            <a:avLst>
              <a:gd fmla="val 6644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1"/>
          <p:cNvSpPr/>
          <p:nvPr/>
        </p:nvSpPr>
        <p:spPr>
          <a:xfrm>
            <a:off x="12623750" y="2476946"/>
            <a:ext cx="472191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 · Searchable — when?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1"/>
          <p:cNvSpPr/>
          <p:nvPr/>
        </p:nvSpPr>
        <p:spPr>
          <a:xfrm>
            <a:off x="12623750" y="2896046"/>
            <a:ext cx="4421429" cy="13180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C9C6E8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C9C6E8"/>
                </a:solidFill>
                <a:latin typeface="Inter"/>
                <a:ea typeface="Inter"/>
                <a:cs typeface="Inter"/>
                <a:sym typeface="Inter"/>
              </a:rPr>
              <a:t>Freshness = queue depth. Watch queue_size, queue_disk_usage, queue_paused; /v1/nodes shows vectorQueueLength.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1"/>
          <p:cNvSpPr/>
          <p:nvPr/>
        </p:nvSpPr>
        <p:spPr>
          <a:xfrm>
            <a:off x="1047750" y="4940498"/>
            <a:ext cx="7962900" cy="2580531"/>
          </a:xfrm>
          <a:prstGeom prst="roundRect">
            <a:avLst>
              <a:gd fmla="val 6644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1"/>
          <p:cNvSpPr/>
          <p:nvPr/>
        </p:nvSpPr>
        <p:spPr>
          <a:xfrm>
            <a:off x="1371600" y="5207198"/>
            <a:ext cx="804672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Sync: visible at ack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1"/>
          <p:cNvSpPr/>
          <p:nvPr/>
        </p:nvSpPr>
        <p:spPr>
          <a:xfrm>
            <a:off x="1371600" y="5626298"/>
            <a:ext cx="7534656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ASYNC_INDEXING=false (the default). Vector search sees the object as soon as the batch acks — ingest pays the indexing cost inline.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1"/>
          <p:cNvSpPr/>
          <p:nvPr/>
        </p:nvSpPr>
        <p:spPr>
          <a:xfrm>
            <a:off x="9277350" y="4940498"/>
            <a:ext cx="7962900" cy="2580531"/>
          </a:xfrm>
          <a:prstGeom prst="roundRect">
            <a:avLst>
              <a:gd fmla="val 6644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1"/>
          <p:cNvSpPr/>
          <p:nvPr/>
        </p:nvSpPr>
        <p:spPr>
          <a:xfrm>
            <a:off x="9601200" y="5207198"/>
            <a:ext cx="804672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Async: visible on drain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1"/>
          <p:cNvSpPr/>
          <p:nvPr/>
        </p:nvSpPr>
        <p:spPr>
          <a:xfrm>
            <a:off x="9601200" y="5626298"/>
            <a:ext cx="7534656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Objects readable by ID and filters at once; vector-search visibility lags until the per-shard queue drains.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1"/>
          <p:cNvSpPr/>
          <p:nvPr/>
        </p:nvSpPr>
        <p:spPr>
          <a:xfrm>
            <a:off x="1047750" y="7844879"/>
            <a:ext cx="16192500" cy="1832521"/>
          </a:xfrm>
          <a:prstGeom prst="roundRect">
            <a:avLst>
              <a:gd fmla="val 8316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1"/>
          <p:cNvSpPr/>
          <p:nvPr/>
        </p:nvSpPr>
        <p:spPr>
          <a:xfrm>
            <a:off x="1371600" y="8073479"/>
            <a:ext cx="170992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2B5E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Async is opt-in — and required by dynamic index and AutoPQ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1"/>
          <p:cNvSpPr/>
          <p:nvPr/>
        </p:nvSpPr>
        <p:spPr>
          <a:xfrm>
            <a:off x="1371600" y="8454479"/>
            <a:ext cx="16011144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E5A2B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E5A2B"/>
                </a:solidFill>
                <a:latin typeface="Inter"/>
                <a:ea typeface="Inter"/>
                <a:cs typeface="Inter"/>
                <a:sym typeface="Inter"/>
              </a:rPr>
              <a:t>Enable: ASYNC_INDEXING=true (default false) · Weaviate Cloud: console toggle · queue is disk-persistent since 1.28 Docs carry no GA badge for async indexing — and no Preview badge either. Say that label out loud when you propose it. Queue metrics return in Segment 8 — they are the freshness half of your ingestion dashboard.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2"/>
          <p:cNvSpPr/>
          <p:nvPr/>
        </p:nvSpPr>
        <p:spPr>
          <a:xfrm>
            <a:off x="1047750" y="666750"/>
            <a:ext cx="9067458" cy="5828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667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900"/>
              <a:buFont typeface="Plus Jakarta Sans"/>
              <a:buNone/>
            </a:pPr>
            <a:r>
              <a:rPr b="1" i="0" lang="en-US" sz="39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Batching: start server-side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2"/>
          <p:cNvSpPr/>
          <p:nvPr/>
        </p:nvSpPr>
        <p:spPr>
          <a:xfrm>
            <a:off x="1047750" y="1325761"/>
            <a:ext cx="9067458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The server paces the client — your job is what happens to the failures.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1" name="Google Shape;66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66675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22"/>
          <p:cNvSpPr/>
          <p:nvPr/>
        </p:nvSpPr>
        <p:spPr>
          <a:xfrm>
            <a:off x="1047750" y="1939082"/>
            <a:ext cx="16192500" cy="1419225"/>
          </a:xfrm>
          <a:prstGeom prst="roundRect">
            <a:avLst>
              <a:gd fmla="val 10738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2"/>
          <p:cNvSpPr/>
          <p:nvPr/>
        </p:nvSpPr>
        <p:spPr>
          <a:xfrm>
            <a:off x="1371600" y="2148632"/>
            <a:ext cx="1709928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5E4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B9B5E4"/>
                </a:solidFill>
                <a:latin typeface="Inter"/>
                <a:ea typeface="Inter"/>
                <a:cs typeface="Inter"/>
                <a:sym typeface="Inter"/>
              </a:rPr>
              <a:t>Ingestion path · server 1.36+ · python client 4.20+ (course pin 4.23.0)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2"/>
          <p:cNvSpPr/>
          <p:nvPr/>
        </p:nvSpPr>
        <p:spPr>
          <a:xfrm>
            <a:off x="1371600" y="2482007"/>
            <a:ext cx="1709928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Server-side batching is the recommended default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2"/>
          <p:cNvSpPr/>
          <p:nvPr/>
        </p:nvSpPr>
        <p:spPr>
          <a:xfrm>
            <a:off x="1371600" y="2872532"/>
            <a:ext cx="1709928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A6D53B"/>
                </a:solidFill>
                <a:latin typeface="Inter"/>
                <a:ea typeface="Inter"/>
                <a:cs typeface="Inter"/>
                <a:sym typeface="Inter"/>
              </a:rPr>
              <a:t>Client-side modes remain for control cases — either way, capture every failed object.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2"/>
          <p:cNvSpPr/>
          <p:nvPr/>
        </p:nvSpPr>
        <p:spPr>
          <a:xfrm>
            <a:off x="1047750" y="3625007"/>
            <a:ext cx="7953375" cy="4703713"/>
          </a:xfrm>
          <a:prstGeom prst="roundRect">
            <a:avLst>
              <a:gd fmla="val 3645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2"/>
          <p:cNvSpPr/>
          <p:nvPr/>
        </p:nvSpPr>
        <p:spPr>
          <a:xfrm>
            <a:off x="1371600" y="3891707"/>
            <a:ext cx="803624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Server-side — batch.stream()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2"/>
          <p:cNvSpPr/>
          <p:nvPr/>
        </p:nvSpPr>
        <p:spPr>
          <a:xfrm>
            <a:off x="1371600" y="4339382"/>
            <a:ext cx="803624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GA: server 1.36 · client 4.20 — batch.experimental is deprecated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2"/>
          <p:cNvSpPr/>
          <p:nvPr/>
        </p:nvSpPr>
        <p:spPr>
          <a:xfrm>
            <a:off x="1371600" y="4748957"/>
            <a:ext cx="803624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Automatic backpressure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2"/>
          <p:cNvSpPr/>
          <p:nvPr/>
        </p:nvSpPr>
        <p:spPr>
          <a:xfrm>
            <a:off x="1371600" y="5025182"/>
            <a:ext cx="8036243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6B679A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B679A"/>
                </a:solidFill>
                <a:latin typeface="Inter"/>
                <a:ea typeface="Inter"/>
                <a:cs typeface="Inter"/>
                <a:sym typeface="Inter"/>
              </a:rPr>
              <a:t>server workload EMA sizes each send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2"/>
          <p:cNvSpPr/>
          <p:nvPr/>
        </p:nvSpPr>
        <p:spPr>
          <a:xfrm>
            <a:off x="1371600" y="5417493"/>
            <a:ext cx="803624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Streaming gRPC connection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2"/>
          <p:cNvSpPr/>
          <p:nvPr/>
        </p:nvSpPr>
        <p:spPr>
          <a:xfrm>
            <a:off x="1371600" y="5693718"/>
            <a:ext cx="8036243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6B679A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B679A"/>
                </a:solidFill>
                <a:latin typeface="Inter"/>
                <a:ea typeface="Inter"/>
                <a:cs typeface="Inter"/>
                <a:sym typeface="Inter"/>
              </a:rPr>
              <a:t>no manual batch-size tuning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2"/>
          <p:cNvSpPr/>
          <p:nvPr/>
        </p:nvSpPr>
        <p:spPr>
          <a:xfrm>
            <a:off x="1371600" y="6086029"/>
            <a:ext cx="803624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Errors on a separate stream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2"/>
          <p:cNvSpPr/>
          <p:nvPr/>
        </p:nvSpPr>
        <p:spPr>
          <a:xfrm>
            <a:off x="1371600" y="6362254"/>
            <a:ext cx="8036243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6B679A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B679A"/>
                </a:solidFill>
                <a:latin typeface="Inter"/>
                <a:ea typeface="Inter"/>
                <a:cs typeface="Inter"/>
                <a:sym typeface="Inter"/>
              </a:rPr>
              <a:t>object flow never interrupted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2"/>
          <p:cNvSpPr/>
          <p:nvPr/>
        </p:nvSpPr>
        <p:spPr>
          <a:xfrm>
            <a:off x="9286875" y="3625007"/>
            <a:ext cx="7953375" cy="4703713"/>
          </a:xfrm>
          <a:prstGeom prst="roundRect">
            <a:avLst>
              <a:gd fmla="val 3645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2"/>
          <p:cNvSpPr/>
          <p:nvPr/>
        </p:nvSpPr>
        <p:spPr>
          <a:xfrm>
            <a:off x="9610725" y="3891707"/>
            <a:ext cx="803624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Client-side — when it wins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2"/>
          <p:cNvSpPr/>
          <p:nvPr/>
        </p:nvSpPr>
        <p:spPr>
          <a:xfrm>
            <a:off x="9610725" y="4339382"/>
            <a:ext cx="803624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rate_limit(requests_per_minute)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2"/>
          <p:cNvSpPr/>
          <p:nvPr/>
        </p:nvSpPr>
        <p:spPr>
          <a:xfrm>
            <a:off x="9610725" y="4615607"/>
            <a:ext cx="8036243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6B679A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B679A"/>
                </a:solidFill>
                <a:latin typeface="Inter"/>
                <a:ea typeface="Inter"/>
                <a:cs typeface="Inter"/>
                <a:sym typeface="Inter"/>
              </a:rPr>
              <a:t>vectorizer API quotas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2"/>
          <p:cNvSpPr/>
          <p:nvPr/>
        </p:nvSpPr>
        <p:spPr>
          <a:xfrm>
            <a:off x="9610725" y="5007918"/>
            <a:ext cx="803624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fixed_size / dynamic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2"/>
          <p:cNvSpPr/>
          <p:nvPr/>
        </p:nvSpPr>
        <p:spPr>
          <a:xfrm>
            <a:off x="9610725" y="5284143"/>
            <a:ext cx="8036243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6B679A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B679A"/>
                </a:solidFill>
                <a:latin typeface="Inter"/>
                <a:ea typeface="Inter"/>
                <a:cs typeface="Inter"/>
                <a:sym typeface="Inter"/>
              </a:rPr>
              <a:t>older servers, explicit control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2"/>
          <p:cNvSpPr/>
          <p:nvPr/>
        </p:nvSpPr>
        <p:spPr>
          <a:xfrm>
            <a:off x="9610725" y="5676454"/>
            <a:ext cx="803624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Go client: no SSB yet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2"/>
          <p:cNvSpPr/>
          <p:nvPr/>
        </p:nvSpPr>
        <p:spPr>
          <a:xfrm>
            <a:off x="9610725" y="5952679"/>
            <a:ext cx="8036243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6B679A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B679A"/>
                </a:solidFill>
                <a:latin typeface="Inter"/>
                <a:ea typeface="Inter"/>
                <a:cs typeface="Inter"/>
                <a:sym typeface="Inter"/>
              </a:rPr>
              <a:t>verify support per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2"/>
          <p:cNvSpPr/>
          <p:nvPr/>
        </p:nvSpPr>
        <p:spPr>
          <a:xfrm>
            <a:off x="9610725" y="6344989"/>
            <a:ext cx="803624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Async client: stream() only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2"/>
          <p:cNvSpPr/>
          <p:nvPr/>
        </p:nvSpPr>
        <p:spPr>
          <a:xfrm>
            <a:off x="9610725" y="6621214"/>
            <a:ext cx="8036243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6B679A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B679A"/>
                </a:solidFill>
                <a:latin typeface="Inter"/>
                <a:ea typeface="Inter"/>
                <a:cs typeface="Inter"/>
                <a:sym typeface="Inter"/>
              </a:rPr>
              <a:t>client-side modes need the sync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2"/>
          <p:cNvSpPr/>
          <p:nvPr/>
        </p:nvSpPr>
        <p:spPr>
          <a:xfrm>
            <a:off x="1047750" y="8595420"/>
            <a:ext cx="16192500" cy="1120080"/>
          </a:xfrm>
          <a:prstGeom prst="roundRect">
            <a:avLst>
              <a:gd fmla="val 13606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2"/>
          <p:cNvSpPr/>
          <p:nvPr/>
        </p:nvSpPr>
        <p:spPr>
          <a:xfrm>
            <a:off x="1371600" y="8824020"/>
            <a:ext cx="306925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2B5E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Failed-object discipline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2"/>
          <p:cNvSpPr/>
          <p:nvPr/>
        </p:nvSpPr>
        <p:spPr>
          <a:xfrm>
            <a:off x="4371380" y="8824020"/>
            <a:ext cx="12921371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E5A2B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E5A2B"/>
                </a:solidFill>
                <a:latin typeface="Inter"/>
                <a:ea typeface="Inter"/>
                <a:cs typeface="Inter"/>
                <a:sym typeface="Inter"/>
              </a:rPr>
              <a:t>batch.failed_objects resets on the next batch — copy it, retry with deterministic IDs (generate_uuid5), and fail visibly. Silent drops are how recall incidents begin.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3"/>
          <p:cNvSpPr/>
          <p:nvPr/>
        </p:nvSpPr>
        <p:spPr>
          <a:xfrm>
            <a:off x="1047750" y="762000"/>
            <a:ext cx="9519464" cy="6037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353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4050"/>
              <a:buFont typeface="Plus Jakarta Sans"/>
              <a:buNone/>
            </a:pPr>
            <a:r>
              <a:rPr b="1" i="0" lang="en-US" sz="40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Filtered search: ACORN by default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3"/>
          <p:cNvSpPr/>
          <p:nvPr/>
        </p:nvSpPr>
        <p:spPr>
          <a:xfrm>
            <a:off x="1047750" y="1441996"/>
            <a:ext cx="9519464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Since 1.34 you inherit this decision — measure before you override it.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5" name="Google Shape;69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76200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23"/>
          <p:cNvSpPr/>
          <p:nvPr/>
        </p:nvSpPr>
        <p:spPr>
          <a:xfrm>
            <a:off x="1047750" y="2832646"/>
            <a:ext cx="16192500" cy="1857375"/>
          </a:xfrm>
          <a:prstGeom prst="roundRect">
            <a:avLst>
              <a:gd fmla="val 9231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23"/>
          <p:cNvSpPr/>
          <p:nvPr/>
        </p:nvSpPr>
        <p:spPr>
          <a:xfrm>
            <a:off x="1447800" y="3175546"/>
            <a:ext cx="122486" cy="1171575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E9E11E"/>
              </a:gs>
              <a:gs pos="100000">
                <a:srgbClr val="0C8C59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23"/>
          <p:cNvSpPr/>
          <p:nvPr/>
        </p:nvSpPr>
        <p:spPr>
          <a:xfrm>
            <a:off x="1836986" y="3175546"/>
            <a:ext cx="1650353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ACORN is the default (≥ 1.34)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3"/>
          <p:cNvSpPr/>
          <p:nvPr/>
        </p:nvSpPr>
        <p:spPr>
          <a:xfrm>
            <a:off x="1836986" y="3632746"/>
            <a:ext cx="1545331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Filtered HNSW traversal: objects that fail the filter are ignored in distance calculations. The question is when to override — not whether to enable.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3"/>
          <p:cNvSpPr/>
          <p:nvPr/>
        </p:nvSpPr>
        <p:spPr>
          <a:xfrm>
            <a:off x="1047750" y="4956721"/>
            <a:ext cx="16192500" cy="1857375"/>
          </a:xfrm>
          <a:prstGeom prst="roundRect">
            <a:avLst>
              <a:gd fmla="val 9231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23"/>
          <p:cNvSpPr/>
          <p:nvPr/>
        </p:nvSpPr>
        <p:spPr>
          <a:xfrm>
            <a:off x="1447800" y="5299621"/>
            <a:ext cx="109389" cy="1171575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E9E11E"/>
              </a:gs>
              <a:gs pos="100000">
                <a:srgbClr val="0C8C59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23"/>
          <p:cNvSpPr/>
          <p:nvPr/>
        </p:nvSpPr>
        <p:spPr>
          <a:xfrm>
            <a:off x="1823889" y="5299621"/>
            <a:ext cx="1651794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Restrictive filters fall back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3"/>
          <p:cNvSpPr/>
          <p:nvPr/>
        </p:nvSpPr>
        <p:spPr>
          <a:xfrm>
            <a:off x="1823889" y="5756821"/>
            <a:ext cx="1546680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Highly restrictive filters (~85%+ excluded) switch automatically to a brute-force scan, tied to flatSearchCutoff (40,000). The cliff is by design — know where it sits.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3"/>
          <p:cNvSpPr/>
          <p:nvPr/>
        </p:nvSpPr>
        <p:spPr>
          <a:xfrm>
            <a:off x="1047750" y="7080796"/>
            <a:ext cx="16192500" cy="1857375"/>
          </a:xfrm>
          <a:prstGeom prst="roundRect">
            <a:avLst>
              <a:gd fmla="val 9231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3"/>
          <p:cNvSpPr/>
          <p:nvPr/>
        </p:nvSpPr>
        <p:spPr>
          <a:xfrm>
            <a:off x="1447800" y="7423696"/>
            <a:ext cx="104775" cy="1171575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E9E11E"/>
              </a:gs>
              <a:gs pos="100000">
                <a:srgbClr val="0C8C59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3"/>
          <p:cNvSpPr/>
          <p:nvPr/>
        </p:nvSpPr>
        <p:spPr>
          <a:xfrm>
            <a:off x="1819275" y="7423696"/>
            <a:ext cx="1652301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Verify on your version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3"/>
          <p:cNvSpPr/>
          <p:nvPr/>
        </p:nvSpPr>
        <p:spPr>
          <a:xfrm>
            <a:off x="1819275" y="7880896"/>
            <a:ext cx="15471553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filterStrategy is hot-mutable; sweeping is still selectable. ACORN is strongest when filters correlate poorly with the query vector — Lab 2's brand filter is exactly that case.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24"/>
          <p:cNvSpPr/>
          <p:nvPr/>
        </p:nvSpPr>
        <p:spPr>
          <a:xfrm>
            <a:off x="1047750" y="762000"/>
            <a:ext cx="9059272" cy="6037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353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4050"/>
              <a:buFont typeface="Plus Jakarta Sans"/>
              <a:buNone/>
            </a:pPr>
            <a:r>
              <a:rPr b="1" i="0" lang="en-US" sz="40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Query levers you actually tune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4"/>
          <p:cNvSpPr/>
          <p:nvPr/>
        </p:nvSpPr>
        <p:spPr>
          <a:xfrm>
            <a:off x="1047750" y="1441996"/>
            <a:ext cx="9059272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Hybrid and vector search share one rule: one lever, one measurement.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5" name="Google Shape;71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76200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24"/>
          <p:cNvSpPr/>
          <p:nvPr/>
        </p:nvSpPr>
        <p:spPr>
          <a:xfrm>
            <a:off x="1047750" y="2207716"/>
            <a:ext cx="4210050" cy="1051471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24"/>
          <p:cNvSpPr/>
          <p:nvPr/>
        </p:nvSpPr>
        <p:spPr>
          <a:xfrm>
            <a:off x="1257300" y="2360116"/>
            <a:ext cx="3917252" cy="784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4"/>
          <p:cNvSpPr/>
          <p:nvPr/>
        </p:nvSpPr>
        <p:spPr>
          <a:xfrm>
            <a:off x="5257800" y="2207716"/>
            <a:ext cx="4210050" cy="1051471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24"/>
          <p:cNvSpPr/>
          <p:nvPr/>
        </p:nvSpPr>
        <p:spPr>
          <a:xfrm>
            <a:off x="5467350" y="2360116"/>
            <a:ext cx="3917252" cy="784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it trades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4"/>
          <p:cNvSpPr/>
          <p:nvPr/>
        </p:nvSpPr>
        <p:spPr>
          <a:xfrm>
            <a:off x="9467850" y="2207716"/>
            <a:ext cx="7772400" cy="1051471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24"/>
          <p:cNvSpPr/>
          <p:nvPr/>
        </p:nvSpPr>
        <p:spPr>
          <a:xfrm>
            <a:off x="9677400" y="2360116"/>
            <a:ext cx="7586472" cy="784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How to tune 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4"/>
          <p:cNvSpPr/>
          <p:nvPr/>
        </p:nvSpPr>
        <p:spPr>
          <a:xfrm>
            <a:off x="1047750" y="4808637"/>
            <a:ext cx="42100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24"/>
          <p:cNvSpPr/>
          <p:nvPr/>
        </p:nvSpPr>
        <p:spPr>
          <a:xfrm>
            <a:off x="1257300" y="3383012"/>
            <a:ext cx="3917252" cy="1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alpha (hybrid)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4"/>
          <p:cNvSpPr/>
          <p:nvPr/>
        </p:nvSpPr>
        <p:spPr>
          <a:xfrm>
            <a:off x="5257800" y="4808637"/>
            <a:ext cx="42100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24"/>
          <p:cNvSpPr/>
          <p:nvPr/>
        </p:nvSpPr>
        <p:spPr>
          <a:xfrm>
            <a:off x="5467350" y="3383012"/>
            <a:ext cx="3917252" cy="1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keyword ↔ vector weighting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4"/>
          <p:cNvSpPr/>
          <p:nvPr/>
        </p:nvSpPr>
        <p:spPr>
          <a:xfrm>
            <a:off x="9467850" y="4808637"/>
            <a:ext cx="77724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4"/>
          <p:cNvSpPr/>
          <p:nvPr/>
        </p:nvSpPr>
        <p:spPr>
          <a:xfrm>
            <a:off x="9677400" y="3383012"/>
            <a:ext cx="7586472" cy="1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Default 0.5; 0 = pure BM25, 1 = pure vector. Sweep against recall@10 on real queries, not toy prompts.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4"/>
          <p:cNvSpPr/>
          <p:nvPr/>
        </p:nvSpPr>
        <p:spPr>
          <a:xfrm>
            <a:off x="1047750" y="6375946"/>
            <a:ext cx="42100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24"/>
          <p:cNvSpPr/>
          <p:nvPr/>
        </p:nvSpPr>
        <p:spPr>
          <a:xfrm>
            <a:off x="1257300" y="4941987"/>
            <a:ext cx="3917252" cy="13482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ef (HNSW)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4"/>
          <p:cNvSpPr/>
          <p:nvPr/>
        </p:nvSpPr>
        <p:spPr>
          <a:xfrm>
            <a:off x="5257800" y="6375946"/>
            <a:ext cx="42100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24"/>
          <p:cNvSpPr/>
          <p:nvPr/>
        </p:nvSpPr>
        <p:spPr>
          <a:xfrm>
            <a:off x="5467350" y="4941987"/>
            <a:ext cx="3917252" cy="13482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recall ↔ latency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4"/>
          <p:cNvSpPr/>
          <p:nvPr/>
        </p:nvSpPr>
        <p:spPr>
          <a:xfrm>
            <a:off x="9467850" y="6375946"/>
            <a:ext cx="77724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24"/>
          <p:cNvSpPr/>
          <p:nvPr/>
        </p:nvSpPr>
        <p:spPr>
          <a:xfrm>
            <a:off x="9677400" y="4941987"/>
            <a:ext cx="7586472" cy="13482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Hot-mutable; default −1 (dynamic ef). Find the knee: recall flattens while p95 keeps climbing.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4"/>
          <p:cNvSpPr/>
          <p:nvPr/>
        </p:nvSpPr>
        <p:spPr>
          <a:xfrm>
            <a:off x="1047750" y="7943255"/>
            <a:ext cx="42100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24"/>
          <p:cNvSpPr/>
          <p:nvPr/>
        </p:nvSpPr>
        <p:spPr>
          <a:xfrm>
            <a:off x="1257300" y="6509296"/>
            <a:ext cx="3917252" cy="13482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rescoreLimit (compressed)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4"/>
          <p:cNvSpPr/>
          <p:nvPr/>
        </p:nvSpPr>
        <p:spPr>
          <a:xfrm>
            <a:off x="5257800" y="7943255"/>
            <a:ext cx="42100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24"/>
          <p:cNvSpPr/>
          <p:nvPr/>
        </p:nvSpPr>
        <p:spPr>
          <a:xfrm>
            <a:off x="5467350" y="6509296"/>
            <a:ext cx="3917252" cy="13482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recall recovery ↔ query cost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4"/>
          <p:cNvSpPr/>
          <p:nvPr/>
        </p:nvSpPr>
        <p:spPr>
          <a:xfrm>
            <a:off x="9467850" y="7943255"/>
            <a:ext cx="77724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24"/>
          <p:cNvSpPr/>
          <p:nvPr/>
        </p:nvSpPr>
        <p:spPr>
          <a:xfrm>
            <a:off x="9677400" y="6509296"/>
            <a:ext cx="7586472" cy="13482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Quantized search over-fetches, then re-scores with uncompressed originals. Re-measure recall whenever compression changes.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4"/>
          <p:cNvSpPr/>
          <p:nvPr/>
        </p:nvSpPr>
        <p:spPr>
          <a:xfrm>
            <a:off x="1047750" y="9510713"/>
            <a:ext cx="42100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24"/>
          <p:cNvSpPr/>
          <p:nvPr/>
        </p:nvSpPr>
        <p:spPr>
          <a:xfrm>
            <a:off x="1257300" y="8076605"/>
            <a:ext cx="3917252" cy="1348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BM25 side: query_properties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4"/>
          <p:cNvSpPr/>
          <p:nvPr/>
        </p:nvSpPr>
        <p:spPr>
          <a:xfrm>
            <a:off x="5257800" y="9510713"/>
            <a:ext cx="42100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24"/>
          <p:cNvSpPr/>
          <p:nvPr/>
        </p:nvSpPr>
        <p:spPr>
          <a:xfrm>
            <a:off x="5467350" y="8076605"/>
            <a:ext cx="3917252" cy="1348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match behavior ↔ index cost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4"/>
          <p:cNvSpPr/>
          <p:nvPr/>
        </p:nvSpPr>
        <p:spPr>
          <a:xfrm>
            <a:off x="9467850" y="9510713"/>
            <a:ext cx="77724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24"/>
          <p:cNvSpPr/>
          <p:nvPr/>
        </p:nvSpPr>
        <p:spPr>
          <a:xfrm>
            <a:off x="9677400" y="8076605"/>
            <a:ext cx="7586472" cy="1348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Property choice and tokenization change what matches — re-benchmark hybrid after any schema change.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25"/>
          <p:cNvSpPr/>
          <p:nvPr/>
        </p:nvSpPr>
        <p:spPr>
          <a:xfrm>
            <a:off x="1047750" y="685800"/>
            <a:ext cx="9717390" cy="6037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353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4050"/>
              <a:buFont typeface="Plus Jakarta Sans"/>
              <a:buNone/>
            </a:pPr>
            <a:r>
              <a:rPr b="1" i="0" lang="en-US" sz="40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Benchmarks that deserve the name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5"/>
          <p:cNvSpPr/>
          <p:nvPr/>
        </p:nvSpPr>
        <p:spPr>
          <a:xfrm>
            <a:off x="1047750" y="1365796"/>
            <a:ext cx="971739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If it cannot be reproduced, it is an anecdote with a chart.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3" name="Google Shape;75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68580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25"/>
          <p:cNvSpPr/>
          <p:nvPr/>
        </p:nvSpPr>
        <p:spPr>
          <a:xfrm>
            <a:off x="1047750" y="1998166"/>
            <a:ext cx="16192500" cy="1085850"/>
          </a:xfrm>
          <a:prstGeom prst="roundRect">
            <a:avLst>
              <a:gd fmla="val 14035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25"/>
          <p:cNvSpPr/>
          <p:nvPr/>
        </p:nvSpPr>
        <p:spPr>
          <a:xfrm>
            <a:off x="1371600" y="2207716"/>
            <a:ext cx="1709928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5E4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B9B5E4"/>
                </a:solidFill>
                <a:latin typeface="Inter"/>
                <a:ea typeface="Inter"/>
                <a:cs typeface="Inter"/>
                <a:sym typeface="Inter"/>
              </a:rPr>
              <a:t>Interaction: spot the broken benchmark — at least four flaws are planted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5"/>
          <p:cNvSpPr/>
          <p:nvPr/>
        </p:nvSpPr>
        <p:spPr>
          <a:xfrm>
            <a:off x="1371600" y="2541091"/>
            <a:ext cx="1709928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"p95 improved 40%" — at what recall, on what data?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5"/>
          <p:cNvSpPr/>
          <p:nvPr/>
        </p:nvSpPr>
        <p:spPr>
          <a:xfrm>
            <a:off x="1047750" y="3369766"/>
            <a:ext cx="5219700" cy="4901803"/>
          </a:xfrm>
          <a:prstGeom prst="roundRect">
            <a:avLst>
              <a:gd fmla="val 3498" name="adj"/>
            </a:avLst>
          </a:prstGeom>
          <a:solidFill>
            <a:srgbClr val="FBE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5"/>
          <p:cNvSpPr/>
          <p:nvPr/>
        </p:nvSpPr>
        <p:spPr>
          <a:xfrm>
            <a:off x="1371600" y="3636466"/>
            <a:ext cx="5029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9340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Broken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5"/>
          <p:cNvSpPr/>
          <p:nvPr/>
        </p:nvSpPr>
        <p:spPr>
          <a:xfrm>
            <a:off x="1371600" y="4074616"/>
            <a:ext cx="5029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93400F"/>
                </a:solidFill>
                <a:latin typeface="Inter"/>
                <a:ea typeface="Inter"/>
                <a:cs typeface="Inter"/>
                <a:sym typeface="Inter"/>
              </a:rPr>
              <a:t>Numbers that lie confidently.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5"/>
          <p:cNvSpPr/>
          <p:nvPr/>
        </p:nvSpPr>
        <p:spPr>
          <a:xfrm>
            <a:off x="1371600" y="4465141"/>
            <a:ext cx="4709160" cy="1454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7A4A2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7A4A26"/>
                </a:solidFill>
                <a:latin typeface="Inter"/>
                <a:ea typeface="Inter"/>
                <a:cs typeface="Inter"/>
                <a:sym typeface="Inter"/>
              </a:rPr>
              <a:t>No warm-up: cold-start p95 Single trial, no variance Latency without recall@k Two variables changed at once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5"/>
          <p:cNvSpPr/>
          <p:nvPr/>
        </p:nvSpPr>
        <p:spPr>
          <a:xfrm>
            <a:off x="6534150" y="3369766"/>
            <a:ext cx="5219700" cy="4901803"/>
          </a:xfrm>
          <a:prstGeom prst="roundRect">
            <a:avLst>
              <a:gd fmla="val 3498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25"/>
          <p:cNvSpPr/>
          <p:nvPr/>
        </p:nvSpPr>
        <p:spPr>
          <a:xfrm>
            <a:off x="6858000" y="3636466"/>
            <a:ext cx="5029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Honest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5"/>
          <p:cNvSpPr/>
          <p:nvPr/>
        </p:nvSpPr>
        <p:spPr>
          <a:xfrm>
            <a:off x="6858000" y="4074616"/>
            <a:ext cx="5029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Fit to compare options.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5"/>
          <p:cNvSpPr/>
          <p:nvPr/>
        </p:nvSpPr>
        <p:spPr>
          <a:xfrm>
            <a:off x="6858000" y="4465141"/>
            <a:ext cx="4709160" cy="1454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Warm-up runs, repeated trials recall@k with p50/p95/p99 Realistic query distribution One variable per run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5"/>
          <p:cNvSpPr/>
          <p:nvPr/>
        </p:nvSpPr>
        <p:spPr>
          <a:xfrm>
            <a:off x="12020550" y="3369766"/>
            <a:ext cx="5219700" cy="4901803"/>
          </a:xfrm>
          <a:prstGeom prst="roundRect">
            <a:avLst>
              <a:gd fmla="val 3498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25"/>
          <p:cNvSpPr/>
          <p:nvPr/>
        </p:nvSpPr>
        <p:spPr>
          <a:xfrm>
            <a:off x="12344400" y="3636466"/>
            <a:ext cx="5029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2B5E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Production-grade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5"/>
          <p:cNvSpPr/>
          <p:nvPr/>
        </p:nvSpPr>
        <p:spPr>
          <a:xfrm>
            <a:off x="12344400" y="4074616"/>
            <a:ext cx="5029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Fit to make promises 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5"/>
          <p:cNvSpPr/>
          <p:nvPr/>
        </p:nvSpPr>
        <p:spPr>
          <a:xfrm>
            <a:off x="12344400" y="4465141"/>
            <a:ext cx="4709160" cy="1454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3E5A2B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E5A2B"/>
                </a:solidFill>
                <a:latin typeface="Inter"/>
                <a:ea typeface="Inter"/>
                <a:cs typeface="Inter"/>
                <a:sym typeface="Inter"/>
              </a:rPr>
              <a:t>Production-like data &amp; scale Concurrency at peak QPS Config fingerprint: repeatable States its own limits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5"/>
          <p:cNvSpPr/>
          <p:nvPr/>
        </p:nvSpPr>
        <p:spPr>
          <a:xfrm>
            <a:off x="1047750" y="8557320"/>
            <a:ext cx="16192500" cy="1120080"/>
          </a:xfrm>
          <a:prstGeom prst="roundRect">
            <a:avLst>
              <a:gd fmla="val 13606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25"/>
          <p:cNvSpPr/>
          <p:nvPr/>
        </p:nvSpPr>
        <p:spPr>
          <a:xfrm>
            <a:off x="1371600" y="8785920"/>
            <a:ext cx="215689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0C8C5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this matters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5"/>
          <p:cNvSpPr/>
          <p:nvPr/>
        </p:nvSpPr>
        <p:spPr>
          <a:xfrm>
            <a:off x="3541961" y="8785920"/>
            <a:ext cx="13775673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A benchmark without recall or dataset scale is marketing. The Lab 2 harness enforces warm-up, repeated trials and machine-readable output — then makes you state what it still cannot prove.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E8"/>
        </a:solidFill>
      </p:bgPr>
    </p:bg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26"/>
          <p:cNvSpPr/>
          <p:nvPr/>
        </p:nvSpPr>
        <p:spPr>
          <a:xfrm>
            <a:off x="1047750" y="628650"/>
            <a:ext cx="1103858" cy="419100"/>
          </a:xfrm>
          <a:prstGeom prst="roundRect">
            <a:avLst>
              <a:gd fmla="val 50000" name="adj"/>
            </a:avLst>
          </a:prstGeom>
          <a:solidFill>
            <a:srgbClr val="0C8C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26"/>
          <p:cNvSpPr/>
          <p:nvPr/>
        </p:nvSpPr>
        <p:spPr>
          <a:xfrm>
            <a:off x="1238250" y="723900"/>
            <a:ext cx="79905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LAB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6"/>
          <p:cNvSpPr/>
          <p:nvPr/>
        </p:nvSpPr>
        <p:spPr>
          <a:xfrm>
            <a:off x="1047750" y="1181100"/>
            <a:ext cx="9552369" cy="5828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667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900"/>
              <a:buFont typeface="Plus Jakarta Sans"/>
              <a:buNone/>
            </a:pPr>
            <a:r>
              <a:rPr b="1" i="0" lang="en-US" sz="39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Lab 2 — tune with evidence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6"/>
          <p:cNvSpPr/>
          <p:nvPr/>
        </p:nvSpPr>
        <p:spPr>
          <a:xfrm>
            <a:off x="1047750" y="1859161"/>
            <a:ext cx="9552369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50 minutes · pairs · the harness enforces the method; you own the choice.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81" name="Google Shape;78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62865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26"/>
          <p:cNvSpPr/>
          <p:nvPr/>
        </p:nvSpPr>
        <p:spPr>
          <a:xfrm>
            <a:off x="1047750" y="2453432"/>
            <a:ext cx="1667827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75"/>
              <a:buFont typeface="Inter"/>
              <a:buNone/>
            </a:pPr>
            <a:r>
              <a:rPr b="1" lang="en-US" sz="1875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Acme</a:t>
            </a:r>
            <a:r>
              <a:rPr b="1" i="0" lang="en-US" sz="1875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 Retail (illustrative) · harness: </a:t>
            </a:r>
            <a:r>
              <a:rPr b="1" lang="en-US" sz="1875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acme</a:t>
            </a:r>
            <a:r>
              <a:rPr b="1" i="0" lang="en-US" sz="1875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.bench · preflight: make verify → 7/7 PASS — </a:t>
            </a:r>
            <a:r>
              <a:rPr b="1" i="0" lang="en-US" sz="1875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baseline → change ONE variable → re-measure → recommend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6"/>
          <p:cNvSpPr/>
          <p:nvPr/>
        </p:nvSpPr>
        <p:spPr>
          <a:xfrm>
            <a:off x="1047750" y="3367832"/>
            <a:ext cx="5219700" cy="4998988"/>
          </a:xfrm>
          <a:prstGeom prst="roundRect">
            <a:avLst>
              <a:gd fmla="val 343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26"/>
          <p:cNvSpPr/>
          <p:nvPr/>
        </p:nvSpPr>
        <p:spPr>
          <a:xfrm>
            <a:off x="1047750" y="3367832"/>
            <a:ext cx="5219700" cy="95250"/>
          </a:xfrm>
          <a:prstGeom prst="rect">
            <a:avLst/>
          </a:prstGeom>
          <a:solidFill>
            <a:srgbClr val="E9E1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26"/>
          <p:cNvSpPr/>
          <p:nvPr/>
        </p:nvSpPr>
        <p:spPr>
          <a:xfrm>
            <a:off x="1371600" y="3748832"/>
            <a:ext cx="5029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 · Baseline first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6"/>
          <p:cNvSpPr/>
          <p:nvPr/>
        </p:nvSpPr>
        <p:spPr>
          <a:xfrm>
            <a:off x="1371600" y="4186982"/>
            <a:ext cx="5029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Preset: baseline.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6"/>
          <p:cNvSpPr/>
          <p:nvPr/>
        </p:nvSpPr>
        <p:spPr>
          <a:xfrm>
            <a:off x="1371600" y="4577507"/>
            <a:ext cx="4709160" cy="1454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Predict recall@10 in writing Run --preset baseline Record recall, p50/p95/p99 JSON saved to labs/results/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6"/>
          <p:cNvSpPr/>
          <p:nvPr/>
        </p:nvSpPr>
        <p:spPr>
          <a:xfrm>
            <a:off x="6534150" y="3367832"/>
            <a:ext cx="5219700" cy="4998988"/>
          </a:xfrm>
          <a:prstGeom prst="roundRect">
            <a:avLst>
              <a:gd fmla="val 343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26"/>
          <p:cNvSpPr/>
          <p:nvPr/>
        </p:nvSpPr>
        <p:spPr>
          <a:xfrm>
            <a:off x="6534150" y="3367832"/>
            <a:ext cx="5219700" cy="95250"/>
          </a:xfrm>
          <a:prstGeom prst="rect">
            <a:avLst/>
          </a:prstGeom>
          <a:solidFill>
            <a:srgbClr val="61BD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26"/>
          <p:cNvSpPr/>
          <p:nvPr/>
        </p:nvSpPr>
        <p:spPr>
          <a:xfrm>
            <a:off x="6858000" y="3748832"/>
            <a:ext cx="5029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 · One change only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6"/>
          <p:cNvSpPr/>
          <p:nvPr/>
        </p:nvSpPr>
        <p:spPr>
          <a:xfrm>
            <a:off x="6858000" y="4186982"/>
            <a:ext cx="470916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Presets: rq8 · ef-sweep · hfresh · filter-strategy.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6"/>
          <p:cNvSpPr/>
          <p:nvPr/>
        </p:nvSpPr>
        <p:spPr>
          <a:xfrm>
            <a:off x="6858000" y="4853732"/>
            <a:ext cx="4709160" cy="1454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Write the expected trade-off rq8 builds its own collection hfresh sets searchProbe explicitly Presets restore what they mutate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6"/>
          <p:cNvSpPr/>
          <p:nvPr/>
        </p:nvSpPr>
        <p:spPr>
          <a:xfrm>
            <a:off x="12020550" y="3367832"/>
            <a:ext cx="5219700" cy="4998988"/>
          </a:xfrm>
          <a:prstGeom prst="roundRect">
            <a:avLst>
              <a:gd fmla="val 343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26"/>
          <p:cNvSpPr/>
          <p:nvPr/>
        </p:nvSpPr>
        <p:spPr>
          <a:xfrm>
            <a:off x="12020550" y="3367832"/>
            <a:ext cx="5219700" cy="95250"/>
          </a:xfrm>
          <a:prstGeom prst="rect">
            <a:avLst/>
          </a:prstGeom>
          <a:solidFill>
            <a:srgbClr val="0E6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26"/>
          <p:cNvSpPr/>
          <p:nvPr/>
        </p:nvSpPr>
        <p:spPr>
          <a:xfrm>
            <a:off x="12344400" y="3748832"/>
            <a:ext cx="5029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 · Recommend, with limits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6"/>
          <p:cNvSpPr/>
          <p:nvPr/>
        </p:nvSpPr>
        <p:spPr>
          <a:xfrm>
            <a:off x="12344400" y="4186982"/>
            <a:ext cx="5029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Five sentences, max.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6"/>
          <p:cNvSpPr/>
          <p:nvPr/>
        </p:nvSpPr>
        <p:spPr>
          <a:xfrm>
            <a:off x="12344400" y="4577507"/>
            <a:ext cx="4709160" cy="1454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Decision + evidence (numbers) Risk and rollback Dataset-scale caveat: mandatory 50 k × 256 ≠ 40 M × 768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6"/>
          <p:cNvSpPr/>
          <p:nvPr/>
        </p:nvSpPr>
        <p:spPr>
          <a:xfrm>
            <a:off x="1047750" y="8614470"/>
            <a:ext cx="16192500" cy="1120080"/>
          </a:xfrm>
          <a:prstGeom prst="roundRect">
            <a:avLst>
              <a:gd fmla="val 13606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26"/>
          <p:cNvSpPr/>
          <p:nvPr/>
        </p:nvSpPr>
        <p:spPr>
          <a:xfrm>
            <a:off x="1371600" y="8843070"/>
            <a:ext cx="30248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Timebox &amp; checkpoints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6"/>
          <p:cNvSpPr/>
          <p:nvPr/>
        </p:nvSpPr>
        <p:spPr>
          <a:xfrm>
            <a:off x="4350097" y="8843070"/>
            <a:ext cx="12943292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4E2F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E4E2F5"/>
                </a:solidFill>
                <a:latin typeface="Inter"/>
                <a:ea typeface="Inter"/>
                <a:cs typeface="Inter"/>
                <a:sym typeface="Inter"/>
              </a:rPr>
              <a:t>T1 baseline saved (min 10) · T2 change justified in writing (min 14) · T3 change measured (min 28) · T4 before/after table + recommendation (min 35) · micro-debrief to 40. Two-variable results are noise.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7"/>
          <p:cNvSpPr/>
          <p:nvPr/>
        </p:nvSpPr>
        <p:spPr>
          <a:xfrm>
            <a:off x="1047750" y="628650"/>
            <a:ext cx="10191170" cy="5828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667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900"/>
              <a:buFont typeface="Plus Jakarta Sans"/>
              <a:buNone/>
            </a:pPr>
            <a:r>
              <a:rPr b="1" i="0" lang="en-US" sz="39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Lab 2 debrief: what numbers don't say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7"/>
          <p:cNvSpPr/>
          <p:nvPr/>
        </p:nvSpPr>
        <p:spPr>
          <a:xfrm>
            <a:off x="1047750" y="1287661"/>
            <a:ext cx="1019117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The numbers are real; the scale is not — say both out loud.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08" name="Google Shape;80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62865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27"/>
          <p:cNvSpPr/>
          <p:nvPr/>
        </p:nvSpPr>
        <p:spPr>
          <a:xfrm>
            <a:off x="1047750" y="1881932"/>
            <a:ext cx="16192500" cy="1419225"/>
          </a:xfrm>
          <a:prstGeom prst="roundRect">
            <a:avLst>
              <a:gd fmla="val 10738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27"/>
          <p:cNvSpPr/>
          <p:nvPr/>
        </p:nvSpPr>
        <p:spPr>
          <a:xfrm>
            <a:off x="1371600" y="2091482"/>
            <a:ext cx="1709928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5E4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B9B5E4"/>
                </a:solidFill>
                <a:latin typeface="Inter"/>
                <a:ea typeface="Inter"/>
                <a:cs typeface="Inter"/>
                <a:sym typeface="Inter"/>
              </a:rPr>
              <a:t>Debrief · 5 minutes · one delta per team · </a:t>
            </a:r>
            <a:r>
              <a:rPr lang="en-US" sz="1800">
                <a:solidFill>
                  <a:srgbClr val="B9B5E4"/>
                </a:solidFill>
                <a:latin typeface="Inter"/>
                <a:ea typeface="Inter"/>
                <a:cs typeface="Inter"/>
                <a:sym typeface="Inter"/>
              </a:rPr>
              <a:t>Acme</a:t>
            </a:r>
            <a:r>
              <a:rPr b="0" i="0" lang="en-US" sz="1800" u="none" cap="none" strike="noStrike">
                <a:solidFill>
                  <a:srgbClr val="B9B5E4"/>
                </a:solidFill>
                <a:latin typeface="Inter"/>
                <a:ea typeface="Inter"/>
                <a:cs typeface="Inter"/>
                <a:sym typeface="Inter"/>
              </a:rPr>
              <a:t> numbers illustrative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7"/>
          <p:cNvSpPr/>
          <p:nvPr/>
        </p:nvSpPr>
        <p:spPr>
          <a:xfrm>
            <a:off x="1371600" y="2424857"/>
            <a:ext cx="1709928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"Recall up, latency flat — do you ship it at 40 M?"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7"/>
          <p:cNvSpPr/>
          <p:nvPr/>
        </p:nvSpPr>
        <p:spPr>
          <a:xfrm>
            <a:off x="1371600" y="2815382"/>
            <a:ext cx="1709928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A6D53B"/>
                </a:solidFill>
                <a:latin typeface="Inter"/>
                <a:ea typeface="Inter"/>
                <a:cs typeface="Inter"/>
                <a:sym typeface="Inter"/>
              </a:rPr>
              <a:t>Hesitation is the taught behavior: separate what you measured from what you inferred.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7"/>
          <p:cNvSpPr/>
          <p:nvPr/>
        </p:nvSpPr>
        <p:spPr>
          <a:xfrm>
            <a:off x="1047750" y="3548807"/>
            <a:ext cx="7953375" cy="4856113"/>
          </a:xfrm>
          <a:prstGeom prst="roundRect">
            <a:avLst>
              <a:gd fmla="val 3531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27"/>
          <p:cNvSpPr/>
          <p:nvPr/>
        </p:nvSpPr>
        <p:spPr>
          <a:xfrm>
            <a:off x="1352550" y="3796457"/>
            <a:ext cx="807815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2B5E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the numbers say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27"/>
          <p:cNvSpPr/>
          <p:nvPr/>
        </p:nvSpPr>
        <p:spPr>
          <a:xfrm>
            <a:off x="1352550" y="4225082"/>
            <a:ext cx="807815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rq8: recall within ~1–2 points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7"/>
          <p:cNvSpPr/>
          <p:nvPr/>
        </p:nvSpPr>
        <p:spPr>
          <a:xfrm>
            <a:off x="1352550" y="4501307"/>
            <a:ext cx="8078153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5C7A4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C7A46"/>
                </a:solidFill>
                <a:latin typeface="Inter"/>
                <a:ea typeface="Inter"/>
                <a:cs typeface="Inter"/>
                <a:sym typeface="Inter"/>
              </a:rPr>
              <a:t>rescoring recovers most loss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7"/>
          <p:cNvSpPr/>
          <p:nvPr/>
        </p:nvSpPr>
        <p:spPr>
          <a:xfrm>
            <a:off x="1352550" y="4884093"/>
            <a:ext cx="807815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ef-sweep: a visible knee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7"/>
          <p:cNvSpPr/>
          <p:nvPr/>
        </p:nvSpPr>
        <p:spPr>
          <a:xfrm>
            <a:off x="1352550" y="5160318"/>
            <a:ext cx="8078153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5C7A4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C7A46"/>
                </a:solidFill>
                <a:latin typeface="Inter"/>
                <a:ea typeface="Inter"/>
                <a:cs typeface="Inter"/>
                <a:sym typeface="Inter"/>
              </a:rPr>
              <a:t>recall flattens, p95 keeps climbing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7"/>
          <p:cNvSpPr/>
          <p:nvPr/>
        </p:nvSpPr>
        <p:spPr>
          <a:xfrm>
            <a:off x="1352550" y="5543104"/>
            <a:ext cx="807815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ACORN beats sweeping here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7"/>
          <p:cNvSpPr/>
          <p:nvPr/>
        </p:nvSpPr>
        <p:spPr>
          <a:xfrm>
            <a:off x="1352550" y="5819329"/>
            <a:ext cx="8078153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5C7A4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C7A46"/>
                </a:solidFill>
                <a:latin typeface="Inter"/>
                <a:ea typeface="Inter"/>
                <a:cs typeface="Inter"/>
                <a:sym typeface="Inter"/>
              </a:rPr>
              <a:t>brand filters are its best case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7"/>
          <p:cNvSpPr/>
          <p:nvPr/>
        </p:nvSpPr>
        <p:spPr>
          <a:xfrm>
            <a:off x="1352550" y="6202114"/>
            <a:ext cx="807815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Same lever, different deltas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7"/>
          <p:cNvSpPr/>
          <p:nvPr/>
        </p:nvSpPr>
        <p:spPr>
          <a:xfrm>
            <a:off x="1352550" y="6478339"/>
            <a:ext cx="8078153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5C7A4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C7A46"/>
                </a:solidFill>
                <a:latin typeface="Inter"/>
                <a:ea typeface="Inter"/>
                <a:cs typeface="Inter"/>
                <a:sym typeface="Inter"/>
              </a:rPr>
              <a:t>parameter × dataset — not contradiction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7"/>
          <p:cNvSpPr/>
          <p:nvPr/>
        </p:nvSpPr>
        <p:spPr>
          <a:xfrm>
            <a:off x="9286875" y="3548807"/>
            <a:ext cx="7953375" cy="4856113"/>
          </a:xfrm>
          <a:prstGeom prst="roundRect">
            <a:avLst>
              <a:gd fmla="val 3531" name="adj"/>
            </a:avLst>
          </a:prstGeom>
          <a:solidFill>
            <a:srgbClr val="FBE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27"/>
          <p:cNvSpPr/>
          <p:nvPr/>
        </p:nvSpPr>
        <p:spPr>
          <a:xfrm>
            <a:off x="9591675" y="3796457"/>
            <a:ext cx="807815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9340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they can't say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7"/>
          <p:cNvSpPr/>
          <p:nvPr/>
        </p:nvSpPr>
        <p:spPr>
          <a:xfrm>
            <a:off x="9591675" y="4225082"/>
            <a:ext cx="807815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93400F"/>
                </a:solidFill>
                <a:latin typeface="Inter"/>
                <a:ea typeface="Inter"/>
                <a:cs typeface="Inter"/>
                <a:sym typeface="Inter"/>
              </a:rPr>
              <a:t>Memory savings at 40 M × 768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7"/>
          <p:cNvSpPr/>
          <p:nvPr/>
        </p:nvSpPr>
        <p:spPr>
          <a:xfrm>
            <a:off x="9591675" y="4501307"/>
            <a:ext cx="8078153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7A4A2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7A4A26"/>
                </a:solidFill>
                <a:latin typeface="Inter"/>
                <a:ea typeface="Inter"/>
                <a:cs typeface="Inter"/>
                <a:sym typeface="Inter"/>
              </a:rPr>
              <a:t>inferred at 50 k — not measured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7"/>
          <p:cNvSpPr/>
          <p:nvPr/>
        </p:nvSpPr>
        <p:spPr>
          <a:xfrm>
            <a:off x="9591675" y="4884093"/>
            <a:ext cx="807815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93400F"/>
                </a:solidFill>
                <a:latin typeface="Inter"/>
                <a:ea typeface="Inter"/>
                <a:cs typeface="Inter"/>
                <a:sym typeface="Inter"/>
              </a:rPr>
              <a:t>Tail behavior at 450 QPS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27"/>
          <p:cNvSpPr/>
          <p:nvPr/>
        </p:nvSpPr>
        <p:spPr>
          <a:xfrm>
            <a:off x="9591675" y="5160318"/>
            <a:ext cx="8078153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7A4A2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7A4A26"/>
                </a:solidFill>
                <a:latin typeface="Inter"/>
                <a:ea typeface="Inter"/>
                <a:cs typeface="Inter"/>
                <a:sym typeface="Inter"/>
              </a:rPr>
              <a:t>the harness ran without concurrency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7"/>
          <p:cNvSpPr/>
          <p:nvPr/>
        </p:nvSpPr>
        <p:spPr>
          <a:xfrm>
            <a:off x="9591675" y="5543104"/>
            <a:ext cx="807815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93400F"/>
                </a:solidFill>
                <a:latin typeface="Inter"/>
                <a:ea typeface="Inter"/>
                <a:cs typeface="Inter"/>
                <a:sym typeface="Inter"/>
              </a:rPr>
              <a:t>HFresh looked slow?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7"/>
          <p:cNvSpPr/>
          <p:nvPr/>
        </p:nvSpPr>
        <p:spPr>
          <a:xfrm>
            <a:off x="9591675" y="5819329"/>
            <a:ext cx="8078153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7A4A2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7A4A26"/>
                </a:solidFill>
                <a:latin typeface="Inter"/>
                <a:ea typeface="Inter"/>
                <a:cs typeface="Inter"/>
                <a:sym typeface="Inter"/>
              </a:rPr>
              <a:t>cold centroid cache ≠ slow index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7"/>
          <p:cNvSpPr/>
          <p:nvPr/>
        </p:nvSpPr>
        <p:spPr>
          <a:xfrm>
            <a:off x="9591675" y="6202114"/>
            <a:ext cx="807815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93400F"/>
                </a:solidFill>
                <a:latin typeface="Inter"/>
                <a:ea typeface="Inter"/>
                <a:cs typeface="Inter"/>
                <a:sym typeface="Inter"/>
              </a:rPr>
              <a:t>Two variables moved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7"/>
          <p:cNvSpPr/>
          <p:nvPr/>
        </p:nvSpPr>
        <p:spPr>
          <a:xfrm>
            <a:off x="9591675" y="6478339"/>
            <a:ext cx="8078153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7A4A2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7A4A26"/>
                </a:solidFill>
                <a:latin typeface="Inter"/>
                <a:ea typeface="Inter"/>
                <a:cs typeface="Inter"/>
                <a:sym typeface="Inter"/>
              </a:rPr>
              <a:t>that result is noise — rerun 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7"/>
          <p:cNvSpPr/>
          <p:nvPr/>
        </p:nvSpPr>
        <p:spPr>
          <a:xfrm>
            <a:off x="1047750" y="8652570"/>
            <a:ext cx="16192500" cy="1081980"/>
          </a:xfrm>
          <a:prstGeom prst="roundRect">
            <a:avLst>
              <a:gd fmla="val 14085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27"/>
          <p:cNvSpPr/>
          <p:nvPr/>
        </p:nvSpPr>
        <p:spPr>
          <a:xfrm>
            <a:off x="1371600" y="8862120"/>
            <a:ext cx="124837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0C8C5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Takeaway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7"/>
          <p:cNvSpPr/>
          <p:nvPr/>
        </p:nvSpPr>
        <p:spPr>
          <a:xfrm>
            <a:off x="2753320" y="8862120"/>
            <a:ext cx="14587972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The deliverable is the recommendation: decision, evidence, risk, rollback — plus the dataset-scale caveat. 50 k × 256-dim demonstrates method; it is never a sizing guarantee for 40 M × 768.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0C49"/>
        </a:solidFill>
      </p:bgPr>
    </p:bg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41" name="Google Shape;841;p28"/>
          <p:cNvPicPr preferRelativeResize="0"/>
          <p:nvPr/>
        </p:nvPicPr>
        <p:blipFill rotWithShape="1">
          <a:blip r:embed="rId3">
            <a:alphaModFix/>
          </a:blip>
          <a:srcRect b="0" l="87" r="87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28"/>
          <p:cNvSpPr/>
          <p:nvPr/>
        </p:nvSpPr>
        <p:spPr>
          <a:xfrm>
            <a:off x="1047750" y="952500"/>
            <a:ext cx="1318396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75"/>
              <a:buFont typeface="Inter"/>
              <a:buNone/>
            </a:pPr>
            <a:r>
              <a:rPr b="1" i="0" lang="en-US" sz="1875" u="none" cap="none" strike="noStrike">
                <a:solidFill>
                  <a:srgbClr val="A6D53B"/>
                </a:solidFill>
                <a:latin typeface="Inter"/>
                <a:ea typeface="Inter"/>
                <a:cs typeface="Inter"/>
                <a:sym typeface="Inter"/>
              </a:rPr>
              <a:t>SEGMENT 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8"/>
          <p:cNvSpPr/>
          <p:nvPr/>
        </p:nvSpPr>
        <p:spPr>
          <a:xfrm>
            <a:off x="1047750" y="1381125"/>
            <a:ext cx="13183969" cy="8198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Plus Jakarta Sans"/>
              <a:buNone/>
            </a:pPr>
            <a:r>
              <a:rPr b="1" i="0" lang="en-US" sz="57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Designed for failure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8"/>
          <p:cNvSpPr/>
          <p:nvPr/>
        </p:nvSpPr>
        <p:spPr>
          <a:xfrm>
            <a:off x="1047750" y="2353419"/>
            <a:ext cx="13183969" cy="4385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143"/>
              </a:lnSpc>
              <a:spcBef>
                <a:spcPts val="0"/>
              </a:spcBef>
              <a:spcAft>
                <a:spcPts val="0"/>
              </a:spcAft>
              <a:buClr>
                <a:srgbClr val="C9C6E8"/>
              </a:buClr>
              <a:buSzPts val="2175"/>
              <a:buFont typeface="Inter"/>
              <a:buNone/>
            </a:pPr>
            <a:r>
              <a:rPr b="0" i="0" lang="en-US" sz="2175" u="none" cap="none" strike="noStrike">
                <a:solidFill>
                  <a:srgbClr val="C9C6E8"/>
                </a:solidFill>
                <a:latin typeface="Inter"/>
                <a:ea typeface="Inter"/>
                <a:cs typeface="Inter"/>
                <a:sym typeface="Inter"/>
              </a:rPr>
              <a:t>Segment 6 — HA, consistency, replication &amp; scaling. Designed for failure means paged less.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5" name="Google Shape;84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11563" y="952500"/>
            <a:ext cx="928688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28"/>
          <p:cNvSpPr/>
          <p:nvPr/>
        </p:nvSpPr>
        <p:spPr>
          <a:xfrm>
            <a:off x="1047750" y="3287316"/>
            <a:ext cx="5168801" cy="6142434"/>
          </a:xfrm>
          <a:prstGeom prst="roundRect">
            <a:avLst>
              <a:gd fmla="val 3686" name="adj"/>
            </a:avLst>
          </a:prstGeom>
          <a:solidFill>
            <a:srgbClr val="FFFFFF">
              <a:alpha val="7059"/>
            </a:srgbClr>
          </a:solidFill>
          <a:ln cap="flat" cmpd="sng" w="9525">
            <a:solidFill>
              <a:srgbClr val="FFFFF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28"/>
          <p:cNvSpPr/>
          <p:nvPr/>
        </p:nvSpPr>
        <p:spPr>
          <a:xfrm>
            <a:off x="1476375" y="3677841"/>
            <a:ext cx="444089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Availability is a topology decision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28"/>
          <p:cNvSpPr/>
          <p:nvPr/>
        </p:nvSpPr>
        <p:spPr>
          <a:xfrm>
            <a:off x="1476375" y="4573191"/>
            <a:ext cx="4440897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4E2F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E4E2F5"/>
                </a:solidFill>
                <a:latin typeface="Inter"/>
                <a:ea typeface="Inter"/>
                <a:cs typeface="Inter"/>
                <a:sym typeface="Inter"/>
              </a:rPr>
              <a:t>Shard count, replication factor, and placement are day-one decisions. Failures don't create the risk — they reveal the decision you already made.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8"/>
          <p:cNvSpPr/>
          <p:nvPr/>
        </p:nvSpPr>
        <p:spPr>
          <a:xfrm>
            <a:off x="6559451" y="3287316"/>
            <a:ext cx="5168950" cy="6142434"/>
          </a:xfrm>
          <a:prstGeom prst="roundRect">
            <a:avLst>
              <a:gd fmla="val 3685" name="adj"/>
            </a:avLst>
          </a:prstGeom>
          <a:solidFill>
            <a:srgbClr val="FFFFFF">
              <a:alpha val="7059"/>
            </a:srgbClr>
          </a:solidFill>
          <a:ln cap="flat" cmpd="sng" w="9525">
            <a:solidFill>
              <a:srgbClr val="FFFFF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28"/>
          <p:cNvSpPr/>
          <p:nvPr/>
        </p:nvSpPr>
        <p:spPr>
          <a:xfrm>
            <a:off x="6988076" y="3677841"/>
            <a:ext cx="474287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Predict first, then break things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8"/>
          <p:cNvSpPr/>
          <p:nvPr/>
        </p:nvSpPr>
        <p:spPr>
          <a:xfrm>
            <a:off x="6988076" y="4211241"/>
            <a:ext cx="4441051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4E2F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E4E2F5"/>
                </a:solidFill>
                <a:latin typeface="Inter"/>
                <a:ea typeface="Inter"/>
                <a:cs typeface="Inter"/>
                <a:sym typeface="Inter"/>
              </a:rPr>
              <a:t>You'll commit six failure predictions in ink, then kill a node in Lab 3. Wrong for a good reason beats right by luck.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28"/>
          <p:cNvSpPr/>
          <p:nvPr/>
        </p:nvSpPr>
        <p:spPr>
          <a:xfrm>
            <a:off x="12071300" y="3287316"/>
            <a:ext cx="5168950" cy="6142434"/>
          </a:xfrm>
          <a:prstGeom prst="roundRect">
            <a:avLst>
              <a:gd fmla="val 3685" name="adj"/>
            </a:avLst>
          </a:prstGeom>
          <a:solidFill>
            <a:srgbClr val="FFFFFF">
              <a:alpha val="7059"/>
            </a:srgbClr>
          </a:solidFill>
          <a:ln cap="flat" cmpd="sng" w="9525">
            <a:solidFill>
              <a:srgbClr val="FFFFF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28"/>
          <p:cNvSpPr/>
          <p:nvPr/>
        </p:nvSpPr>
        <p:spPr>
          <a:xfrm>
            <a:off x="12499925" y="3677841"/>
            <a:ext cx="4441051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Failover is not disaster recovery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28"/>
          <p:cNvSpPr/>
          <p:nvPr/>
        </p:nvSpPr>
        <p:spPr>
          <a:xfrm>
            <a:off x="12499925" y="4573191"/>
            <a:ext cx="4441051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4E2F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E4E2F5"/>
                </a:solidFill>
                <a:latin typeface="Inter"/>
                <a:ea typeface="Inter"/>
                <a:cs typeface="Inter"/>
                <a:sym typeface="Inter"/>
              </a:rPr>
              <a:t>The self-healing you'll watch repairs availability. It cannot rewind a bad delete and it is not a backup — Segment 10 finishes that story.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29"/>
          <p:cNvSpPr/>
          <p:nvPr/>
        </p:nvSpPr>
        <p:spPr>
          <a:xfrm>
            <a:off x="1047750" y="628650"/>
            <a:ext cx="14223043" cy="5828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667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900"/>
              <a:buFont typeface="Plus Jakarta Sans"/>
              <a:buNone/>
            </a:pPr>
            <a:r>
              <a:rPr b="1" i="0" lang="en-US" sz="39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Sharding vs replication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29"/>
          <p:cNvSpPr/>
          <p:nvPr/>
        </p:nvSpPr>
        <p:spPr>
          <a:xfrm>
            <a:off x="1047750" y="1287661"/>
            <a:ext cx="14223043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One collection, three nodes, RF 3 — sharding splits the data, replication copies it. They multiply, not substitute.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2" name="Google Shape;86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62865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29"/>
          <p:cNvSpPr/>
          <p:nvPr/>
        </p:nvSpPr>
        <p:spPr>
          <a:xfrm>
            <a:off x="1047750" y="1881932"/>
            <a:ext cx="7962900" cy="971550"/>
          </a:xfrm>
          <a:prstGeom prst="roundRect">
            <a:avLst>
              <a:gd fmla="val 13725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29"/>
          <p:cNvSpPr/>
          <p:nvPr/>
        </p:nvSpPr>
        <p:spPr>
          <a:xfrm>
            <a:off x="1333500" y="2053382"/>
            <a:ext cx="206013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2B5E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Sharding = split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29"/>
          <p:cNvSpPr/>
          <p:nvPr/>
        </p:nvSpPr>
        <p:spPr>
          <a:xfrm>
            <a:off x="3377803" y="2091482"/>
            <a:ext cx="287509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4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C7A46"/>
                </a:solidFill>
                <a:latin typeface="Inter"/>
                <a:ea typeface="Inter"/>
                <a:cs typeface="Inter"/>
                <a:sym typeface="Inter"/>
              </a:rPr>
              <a:t>3 shards · hash on UUID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29"/>
          <p:cNvSpPr/>
          <p:nvPr/>
        </p:nvSpPr>
        <p:spPr>
          <a:xfrm>
            <a:off x="9277350" y="1881932"/>
            <a:ext cx="7962900" cy="971550"/>
          </a:xfrm>
          <a:prstGeom prst="roundRect">
            <a:avLst>
              <a:gd fmla="val 13725" name="adj"/>
            </a:avLst>
          </a:prstGeom>
          <a:solidFill>
            <a:srgbClr val="F3F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29"/>
          <p:cNvSpPr/>
          <p:nvPr/>
        </p:nvSpPr>
        <p:spPr>
          <a:xfrm>
            <a:off x="9563100" y="2053382"/>
            <a:ext cx="3101577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14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5B661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Replication = copy each shard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9"/>
          <p:cNvSpPr/>
          <p:nvPr/>
        </p:nvSpPr>
        <p:spPr>
          <a:xfrm>
            <a:off x="12745789" y="2091482"/>
            <a:ext cx="433497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1F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77771F"/>
                </a:solidFill>
                <a:latin typeface="Inter"/>
                <a:ea typeface="Inter"/>
                <a:cs typeface="Inter"/>
                <a:sym typeface="Inter"/>
              </a:rPr>
              <a:t>RF per collection · default 1 · max = node count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29"/>
          <p:cNvSpPr/>
          <p:nvPr/>
        </p:nvSpPr>
        <p:spPr>
          <a:xfrm>
            <a:off x="1047750" y="3101132"/>
            <a:ext cx="5219700" cy="4556968"/>
          </a:xfrm>
          <a:prstGeom prst="roundRect">
            <a:avLst>
              <a:gd fmla="val 3762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0" name="Google Shape;87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2550" y="3367832"/>
            <a:ext cx="526256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29"/>
          <p:cNvSpPr/>
          <p:nvPr/>
        </p:nvSpPr>
        <p:spPr>
          <a:xfrm>
            <a:off x="2012156" y="3367832"/>
            <a:ext cx="191803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Node 1 (AZ-a)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9"/>
          <p:cNvSpPr/>
          <p:nvPr/>
        </p:nvSpPr>
        <p:spPr>
          <a:xfrm>
            <a:off x="1352550" y="3805982"/>
            <a:ext cx="553194" cy="381000"/>
          </a:xfrm>
          <a:prstGeom prst="roundRect">
            <a:avLst>
              <a:gd fmla="val 20000" name="adj"/>
            </a:avLst>
          </a:prstGeom>
          <a:solidFill>
            <a:srgbClr val="0C8C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29"/>
          <p:cNvSpPr/>
          <p:nvPr/>
        </p:nvSpPr>
        <p:spPr>
          <a:xfrm>
            <a:off x="1504950" y="3882182"/>
            <a:ext cx="32459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29"/>
          <p:cNvSpPr/>
          <p:nvPr/>
        </p:nvSpPr>
        <p:spPr>
          <a:xfrm>
            <a:off x="2000994" y="3805982"/>
            <a:ext cx="598438" cy="381000"/>
          </a:xfrm>
          <a:prstGeom prst="roundRect">
            <a:avLst>
              <a:gd fmla="val 20000" name="adj"/>
            </a:avLst>
          </a:prstGeom>
          <a:solidFill>
            <a:srgbClr val="0C8C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29"/>
          <p:cNvSpPr/>
          <p:nvPr/>
        </p:nvSpPr>
        <p:spPr>
          <a:xfrm>
            <a:off x="2153394" y="3882182"/>
            <a:ext cx="36983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29"/>
          <p:cNvSpPr/>
          <p:nvPr/>
        </p:nvSpPr>
        <p:spPr>
          <a:xfrm>
            <a:off x="2694682" y="3805982"/>
            <a:ext cx="602159" cy="381000"/>
          </a:xfrm>
          <a:prstGeom prst="roundRect">
            <a:avLst>
              <a:gd fmla="val 20000" name="adj"/>
            </a:avLst>
          </a:prstGeom>
          <a:solidFill>
            <a:srgbClr val="0C8C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29"/>
          <p:cNvSpPr/>
          <p:nvPr/>
        </p:nvSpPr>
        <p:spPr>
          <a:xfrm>
            <a:off x="2847082" y="3882182"/>
            <a:ext cx="37355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29"/>
          <p:cNvSpPr/>
          <p:nvPr/>
        </p:nvSpPr>
        <p:spPr>
          <a:xfrm>
            <a:off x="1352550" y="4301282"/>
            <a:ext cx="4748403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C6E8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C9C6E8"/>
                </a:solidFill>
                <a:latin typeface="Inter"/>
                <a:ea typeface="Inter"/>
                <a:cs typeface="Inter"/>
                <a:sym typeface="Inter"/>
              </a:rPr>
              <a:t>Hosts one replica of shards 1·2·3 — at RF 3 on 3 nodes every node carries a full set. Any node can coordinate a request.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29"/>
          <p:cNvSpPr/>
          <p:nvPr/>
        </p:nvSpPr>
        <p:spPr>
          <a:xfrm>
            <a:off x="6534150" y="3101132"/>
            <a:ext cx="5219700" cy="4556968"/>
          </a:xfrm>
          <a:prstGeom prst="roundRect">
            <a:avLst>
              <a:gd fmla="val 3762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0" name="Google Shape;88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8950" y="3367832"/>
            <a:ext cx="526256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29"/>
          <p:cNvSpPr/>
          <p:nvPr/>
        </p:nvSpPr>
        <p:spPr>
          <a:xfrm>
            <a:off x="7498556" y="3367832"/>
            <a:ext cx="199530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Node 2 (AZ-b)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29"/>
          <p:cNvSpPr/>
          <p:nvPr/>
        </p:nvSpPr>
        <p:spPr>
          <a:xfrm>
            <a:off x="6838950" y="3805982"/>
            <a:ext cx="553194" cy="381000"/>
          </a:xfrm>
          <a:prstGeom prst="roundRect">
            <a:avLst>
              <a:gd fmla="val 20000" name="adj"/>
            </a:avLst>
          </a:prstGeom>
          <a:solidFill>
            <a:srgbClr val="0C8C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29"/>
          <p:cNvSpPr/>
          <p:nvPr/>
        </p:nvSpPr>
        <p:spPr>
          <a:xfrm>
            <a:off x="6991350" y="3882182"/>
            <a:ext cx="32459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29"/>
          <p:cNvSpPr/>
          <p:nvPr/>
        </p:nvSpPr>
        <p:spPr>
          <a:xfrm>
            <a:off x="7487394" y="3805982"/>
            <a:ext cx="598438" cy="381000"/>
          </a:xfrm>
          <a:prstGeom prst="roundRect">
            <a:avLst>
              <a:gd fmla="val 20000" name="adj"/>
            </a:avLst>
          </a:prstGeom>
          <a:solidFill>
            <a:srgbClr val="0C8C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29"/>
          <p:cNvSpPr/>
          <p:nvPr/>
        </p:nvSpPr>
        <p:spPr>
          <a:xfrm>
            <a:off x="7639794" y="3882182"/>
            <a:ext cx="36983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29"/>
          <p:cNvSpPr/>
          <p:nvPr/>
        </p:nvSpPr>
        <p:spPr>
          <a:xfrm>
            <a:off x="8181082" y="3805982"/>
            <a:ext cx="602159" cy="381000"/>
          </a:xfrm>
          <a:prstGeom prst="roundRect">
            <a:avLst>
              <a:gd fmla="val 20000" name="adj"/>
            </a:avLst>
          </a:prstGeom>
          <a:solidFill>
            <a:srgbClr val="0C8C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29"/>
          <p:cNvSpPr/>
          <p:nvPr/>
        </p:nvSpPr>
        <p:spPr>
          <a:xfrm>
            <a:off x="8333482" y="3882182"/>
            <a:ext cx="37355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9"/>
          <p:cNvSpPr/>
          <p:nvPr/>
        </p:nvSpPr>
        <p:spPr>
          <a:xfrm>
            <a:off x="6838950" y="4301282"/>
            <a:ext cx="4748403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C6E8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C9C6E8"/>
                </a:solidFill>
                <a:latin typeface="Inter"/>
                <a:ea typeface="Inter"/>
                <a:cs typeface="Inter"/>
                <a:sym typeface="Inter"/>
              </a:rPr>
              <a:t>Same shard set. If Node 1 dies, replicas here keep serving reads and QUORUM writes — the availability you paid for.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29"/>
          <p:cNvSpPr/>
          <p:nvPr/>
        </p:nvSpPr>
        <p:spPr>
          <a:xfrm>
            <a:off x="12020550" y="3101132"/>
            <a:ext cx="5219700" cy="4556968"/>
          </a:xfrm>
          <a:prstGeom prst="roundRect">
            <a:avLst>
              <a:gd fmla="val 3762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0" name="Google Shape;89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25350" y="3367832"/>
            <a:ext cx="526256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29"/>
          <p:cNvSpPr/>
          <p:nvPr/>
        </p:nvSpPr>
        <p:spPr>
          <a:xfrm>
            <a:off x="12984956" y="3367832"/>
            <a:ext cx="198237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Node 3 (AZ-c)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29"/>
          <p:cNvSpPr/>
          <p:nvPr/>
        </p:nvSpPr>
        <p:spPr>
          <a:xfrm>
            <a:off x="12325350" y="3805982"/>
            <a:ext cx="553194" cy="381000"/>
          </a:xfrm>
          <a:prstGeom prst="roundRect">
            <a:avLst>
              <a:gd fmla="val 20000" name="adj"/>
            </a:avLst>
          </a:prstGeom>
          <a:solidFill>
            <a:srgbClr val="0C8C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29"/>
          <p:cNvSpPr/>
          <p:nvPr/>
        </p:nvSpPr>
        <p:spPr>
          <a:xfrm>
            <a:off x="12477750" y="3882182"/>
            <a:ext cx="32459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29"/>
          <p:cNvSpPr/>
          <p:nvPr/>
        </p:nvSpPr>
        <p:spPr>
          <a:xfrm>
            <a:off x="12973794" y="3805982"/>
            <a:ext cx="598438" cy="381000"/>
          </a:xfrm>
          <a:prstGeom prst="roundRect">
            <a:avLst>
              <a:gd fmla="val 20000" name="adj"/>
            </a:avLst>
          </a:prstGeom>
          <a:solidFill>
            <a:srgbClr val="0C8C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29"/>
          <p:cNvSpPr/>
          <p:nvPr/>
        </p:nvSpPr>
        <p:spPr>
          <a:xfrm>
            <a:off x="13126194" y="3882182"/>
            <a:ext cx="36983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29"/>
          <p:cNvSpPr/>
          <p:nvPr/>
        </p:nvSpPr>
        <p:spPr>
          <a:xfrm>
            <a:off x="13667482" y="3805982"/>
            <a:ext cx="602159" cy="381000"/>
          </a:xfrm>
          <a:prstGeom prst="roundRect">
            <a:avLst>
              <a:gd fmla="val 20000" name="adj"/>
            </a:avLst>
          </a:prstGeom>
          <a:solidFill>
            <a:srgbClr val="0C8C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29"/>
          <p:cNvSpPr/>
          <p:nvPr/>
        </p:nvSpPr>
        <p:spPr>
          <a:xfrm>
            <a:off x="13819882" y="3882182"/>
            <a:ext cx="37355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29"/>
          <p:cNvSpPr/>
          <p:nvPr/>
        </p:nvSpPr>
        <p:spPr>
          <a:xfrm>
            <a:off x="12325350" y="4301282"/>
            <a:ext cx="4748403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C6E8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C9C6E8"/>
                </a:solidFill>
                <a:latin typeface="Inter"/>
                <a:ea typeface="Inter"/>
                <a:cs typeface="Inter"/>
                <a:sym typeface="Inter"/>
              </a:rPr>
              <a:t>Same shard set. Async replication keeps these replicas converged with the other two in the background.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29"/>
          <p:cNvSpPr/>
          <p:nvPr/>
        </p:nvSpPr>
        <p:spPr>
          <a:xfrm>
            <a:off x="1047750" y="7905750"/>
            <a:ext cx="16192500" cy="1828800"/>
          </a:xfrm>
          <a:prstGeom prst="roundRect">
            <a:avLst>
              <a:gd fmla="val 8333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29"/>
          <p:cNvSpPr/>
          <p:nvPr/>
        </p:nvSpPr>
        <p:spPr>
          <a:xfrm>
            <a:off x="1371600" y="8115300"/>
            <a:ext cx="170992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Tenants ride the same machinery — </a:t>
            </a:r>
            <a:r>
              <a:rPr b="1" lang="en-US" sz="1875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Acme</a:t>
            </a:r>
            <a:r>
              <a:rPr b="1" i="0" lang="en-US" sz="187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Retail (illustrative)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29"/>
          <p:cNvSpPr/>
          <p:nvPr/>
        </p:nvSpPr>
        <p:spPr>
          <a:xfrm>
            <a:off x="1371600" y="8496300"/>
            <a:ext cx="1601114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Each of 1,200 tenants = its own shard with a dedicated vector index; tenant shards replicate like any other shard. Shard count is fixed at creation — no resharding. RF can't exceed node count and isn't changed by a simple update. </a:t>
            </a: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Sharding buys dataset size and import speed. Replication buys HA, query throughput, and zero-downtime upgrades.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30"/>
          <p:cNvSpPr/>
          <p:nvPr/>
        </p:nvSpPr>
        <p:spPr>
          <a:xfrm>
            <a:off x="1047750" y="762000"/>
            <a:ext cx="13603233" cy="6037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353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4050"/>
              <a:buFont typeface="Plus Jakarta Sans"/>
              <a:buNone/>
            </a:pPr>
            <a:r>
              <a:rPr b="1" i="0" lang="en-US" sz="40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Two planes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30"/>
          <p:cNvSpPr/>
          <p:nvPr/>
        </p:nvSpPr>
        <p:spPr>
          <a:xfrm>
            <a:off x="1047750" y="1441996"/>
            <a:ext cx="13603233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Raft keeps metadata strongly consistent; the leaderless data plane keeps serving. Know which one broke.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9" name="Google Shape;90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76200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30"/>
          <p:cNvSpPr/>
          <p:nvPr/>
        </p:nvSpPr>
        <p:spPr>
          <a:xfrm>
            <a:off x="1047750" y="2245816"/>
            <a:ext cx="5194250" cy="7279184"/>
          </a:xfrm>
          <a:prstGeom prst="roundRect">
            <a:avLst>
              <a:gd fmla="val 3301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30"/>
          <p:cNvSpPr/>
          <p:nvPr/>
        </p:nvSpPr>
        <p:spPr>
          <a:xfrm>
            <a:off x="1428750" y="2588716"/>
            <a:ext cx="1970484" cy="361950"/>
          </a:xfrm>
          <a:prstGeom prst="roundRect">
            <a:avLst>
              <a:gd fmla="val 50000" name="adj"/>
            </a:avLst>
          </a:prstGeom>
          <a:solidFill>
            <a:srgbClr val="E7E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0"/>
          <p:cNvSpPr/>
          <p:nvPr/>
        </p:nvSpPr>
        <p:spPr>
          <a:xfrm>
            <a:off x="1581150" y="2655391"/>
            <a:ext cx="186273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1C4E93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C4E93"/>
                </a:solidFill>
                <a:latin typeface="Inter"/>
                <a:ea typeface="Inter"/>
                <a:cs typeface="Inter"/>
                <a:sym typeface="Inter"/>
              </a:rPr>
              <a:t>Quorum: 2 of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30"/>
          <p:cNvSpPr/>
          <p:nvPr/>
        </p:nvSpPr>
        <p:spPr>
          <a:xfrm>
            <a:off x="1428750" y="3045916"/>
            <a:ext cx="48754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Raft — the metadata plane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30"/>
          <p:cNvSpPr/>
          <p:nvPr/>
        </p:nvSpPr>
        <p:spPr>
          <a:xfrm>
            <a:off x="1428750" y="3579316"/>
            <a:ext cx="4565218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Collection definitions and shard/tenant states replicate via Raft. Three voters tolerate one loss; a two-node cluster tolerates none.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30"/>
          <p:cNvSpPr/>
          <p:nvPr/>
        </p:nvSpPr>
        <p:spPr>
          <a:xfrm>
            <a:off x="6546800" y="2245816"/>
            <a:ext cx="5194399" cy="7279184"/>
          </a:xfrm>
          <a:prstGeom prst="roundRect">
            <a:avLst>
              <a:gd fmla="val 3301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30"/>
          <p:cNvSpPr/>
          <p:nvPr/>
        </p:nvSpPr>
        <p:spPr>
          <a:xfrm>
            <a:off x="6927800" y="2588716"/>
            <a:ext cx="2539901" cy="361950"/>
          </a:xfrm>
          <a:prstGeom prst="roundRect">
            <a:avLst>
              <a:gd fmla="val 50000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30"/>
          <p:cNvSpPr/>
          <p:nvPr/>
        </p:nvSpPr>
        <p:spPr>
          <a:xfrm>
            <a:off x="7080200" y="2655391"/>
            <a:ext cx="248909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Tunable per request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0"/>
          <p:cNvSpPr/>
          <p:nvPr/>
        </p:nvSpPr>
        <p:spPr>
          <a:xfrm>
            <a:off x="6927800" y="3045916"/>
            <a:ext cx="487563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Leaderless data plane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30"/>
          <p:cNvSpPr/>
          <p:nvPr/>
        </p:nvSpPr>
        <p:spPr>
          <a:xfrm>
            <a:off x="6927800" y="3579316"/>
            <a:ext cx="4565371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Any node coordinates a read or write and fans out to replicas — Dynamo-style, no single point of failure, consistency chosen per request.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30"/>
          <p:cNvSpPr/>
          <p:nvPr/>
        </p:nvSpPr>
        <p:spPr>
          <a:xfrm>
            <a:off x="12046000" y="2245816"/>
            <a:ext cx="5194250" cy="7279184"/>
          </a:xfrm>
          <a:prstGeom prst="roundRect">
            <a:avLst>
              <a:gd fmla="val 3301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30"/>
          <p:cNvSpPr/>
          <p:nvPr/>
        </p:nvSpPr>
        <p:spPr>
          <a:xfrm>
            <a:off x="12427000" y="2588716"/>
            <a:ext cx="1765250" cy="361950"/>
          </a:xfrm>
          <a:prstGeom prst="roundRect">
            <a:avLst>
              <a:gd fmla="val 50000" name="adj"/>
            </a:avLst>
          </a:prstGeom>
          <a:solidFill>
            <a:srgbClr val="FDF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30"/>
          <p:cNvSpPr/>
          <p:nvPr/>
        </p:nvSpPr>
        <p:spPr>
          <a:xfrm>
            <a:off x="12579400" y="2655391"/>
            <a:ext cx="16369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6B5E0E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6B5E0E"/>
                </a:solidFill>
                <a:latin typeface="Inter"/>
                <a:ea typeface="Inter"/>
                <a:cs typeface="Inter"/>
                <a:sym typeface="Inter"/>
              </a:rPr>
              <a:t>Failure triage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30"/>
          <p:cNvSpPr/>
          <p:nvPr/>
        </p:nvSpPr>
        <p:spPr>
          <a:xfrm>
            <a:off x="12427000" y="3045916"/>
            <a:ext cx="48754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the split matters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30"/>
          <p:cNvSpPr/>
          <p:nvPr/>
        </p:nvSpPr>
        <p:spPr>
          <a:xfrm>
            <a:off x="12427000" y="3579316"/>
            <a:ext cx="4565218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Lose Raft quorum and schema or tenant-state changes stop — while data replicas still serve reads. "Queries work, schema fails" is a diagnosis.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31"/>
          <p:cNvSpPr/>
          <p:nvPr/>
        </p:nvSpPr>
        <p:spPr>
          <a:xfrm>
            <a:off x="1047750" y="666750"/>
            <a:ext cx="13568363" cy="5828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667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900"/>
              <a:buFont typeface="Plus Jakarta Sans"/>
              <a:buNone/>
            </a:pPr>
            <a:r>
              <a:rPr b="1" i="0" lang="en-US" sz="39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Consistency &amp; the overlap rule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31"/>
          <p:cNvSpPr/>
          <p:nvPr/>
        </p:nvSpPr>
        <p:spPr>
          <a:xfrm>
            <a:off x="1047750" y="1325761"/>
            <a:ext cx="13568363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Commit all six workbook §6 predictions in ink before any reveal — reasoning counts more than the guess.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32" name="Google Shape;93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66675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31"/>
          <p:cNvSpPr/>
          <p:nvPr/>
        </p:nvSpPr>
        <p:spPr>
          <a:xfrm>
            <a:off x="1047750" y="1958132"/>
            <a:ext cx="5219700" cy="5479107"/>
          </a:xfrm>
          <a:prstGeom prst="roundRect">
            <a:avLst>
              <a:gd fmla="val 3285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31"/>
          <p:cNvSpPr/>
          <p:nvPr/>
        </p:nvSpPr>
        <p:spPr>
          <a:xfrm>
            <a:off x="1047750" y="1958132"/>
            <a:ext cx="5219700" cy="95250"/>
          </a:xfrm>
          <a:prstGeom prst="rect">
            <a:avLst/>
          </a:prstGeom>
          <a:solidFill>
            <a:srgbClr val="E9E1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31"/>
          <p:cNvSpPr/>
          <p:nvPr/>
        </p:nvSpPr>
        <p:spPr>
          <a:xfrm>
            <a:off x="1371600" y="2339132"/>
            <a:ext cx="50292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550"/>
              <a:buFont typeface="Plus Jakarta Sans"/>
              <a:buNone/>
            </a:pPr>
            <a:r>
              <a:rPr b="1" i="0" lang="en-US" sz="25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31"/>
          <p:cNvSpPr/>
          <p:nvPr/>
        </p:nvSpPr>
        <p:spPr>
          <a:xfrm>
            <a:off x="1371600" y="2863007"/>
            <a:ext cx="5029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One replica answers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31"/>
          <p:cNvSpPr/>
          <p:nvPr/>
        </p:nvSpPr>
        <p:spPr>
          <a:xfrm>
            <a:off x="1371600" y="3253532"/>
            <a:ext cx="47091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Fastest, least consistent: one ack per write, one response per read. Stale reads are possible.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31"/>
          <p:cNvSpPr/>
          <p:nvPr/>
        </p:nvSpPr>
        <p:spPr>
          <a:xfrm>
            <a:off x="6534150" y="1958132"/>
            <a:ext cx="5219700" cy="5479107"/>
          </a:xfrm>
          <a:prstGeom prst="roundRect">
            <a:avLst>
              <a:gd fmla="val 3285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31"/>
          <p:cNvSpPr/>
          <p:nvPr/>
        </p:nvSpPr>
        <p:spPr>
          <a:xfrm>
            <a:off x="6534150" y="1958132"/>
            <a:ext cx="5219700" cy="95250"/>
          </a:xfrm>
          <a:prstGeom prst="rect">
            <a:avLst/>
          </a:prstGeom>
          <a:solidFill>
            <a:srgbClr val="61BD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31"/>
          <p:cNvSpPr/>
          <p:nvPr/>
        </p:nvSpPr>
        <p:spPr>
          <a:xfrm>
            <a:off x="6858000" y="2339132"/>
            <a:ext cx="50292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550"/>
              <a:buFont typeface="Plus Jakarta Sans"/>
              <a:buNone/>
            </a:pPr>
            <a:r>
              <a:rPr b="1" i="0" lang="en-US" sz="25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QUORUM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1"/>
          <p:cNvSpPr/>
          <p:nvPr/>
        </p:nvSpPr>
        <p:spPr>
          <a:xfrm>
            <a:off x="6858000" y="2863007"/>
            <a:ext cx="5029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n/2 + 1 replicas answer — 2 of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1"/>
          <p:cNvSpPr/>
          <p:nvPr/>
        </p:nvSpPr>
        <p:spPr>
          <a:xfrm>
            <a:off x="6858000" y="3253532"/>
            <a:ext cx="47091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Balanced cost and safety; tolerates one dead replica at RF 3. </a:t>
            </a:r>
            <a:r>
              <a:rPr lang="en-US" sz="1800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Acme</a:t>
            </a: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's default posture (illustrative).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1"/>
          <p:cNvSpPr/>
          <p:nvPr/>
        </p:nvSpPr>
        <p:spPr>
          <a:xfrm>
            <a:off x="12020550" y="1958132"/>
            <a:ext cx="5219700" cy="5479107"/>
          </a:xfrm>
          <a:prstGeom prst="roundRect">
            <a:avLst>
              <a:gd fmla="val 3285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1"/>
          <p:cNvSpPr/>
          <p:nvPr/>
        </p:nvSpPr>
        <p:spPr>
          <a:xfrm>
            <a:off x="12020550" y="1958132"/>
            <a:ext cx="5219700" cy="95250"/>
          </a:xfrm>
          <a:prstGeom prst="rect">
            <a:avLst/>
          </a:prstGeom>
          <a:solidFill>
            <a:srgbClr val="0E6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31"/>
          <p:cNvSpPr/>
          <p:nvPr/>
        </p:nvSpPr>
        <p:spPr>
          <a:xfrm>
            <a:off x="12344400" y="2339132"/>
            <a:ext cx="50292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550"/>
              <a:buFont typeface="Plus Jakarta Sans"/>
              <a:buNone/>
            </a:pPr>
            <a:r>
              <a:rPr b="1" i="0" lang="en-US" sz="25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31"/>
          <p:cNvSpPr/>
          <p:nvPr/>
        </p:nvSpPr>
        <p:spPr>
          <a:xfrm>
            <a:off x="12344400" y="2863007"/>
            <a:ext cx="5029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Every replica answers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31"/>
          <p:cNvSpPr/>
          <p:nvPr/>
        </p:nvSpPr>
        <p:spPr>
          <a:xfrm>
            <a:off x="12344400" y="3253532"/>
            <a:ext cx="47091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Most consistent, least available: if any replica is down, the request fails. That availability price is the design.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31"/>
          <p:cNvSpPr/>
          <p:nvPr/>
        </p:nvSpPr>
        <p:spPr>
          <a:xfrm>
            <a:off x="1047750" y="7722989"/>
            <a:ext cx="17811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overlap rule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31"/>
          <p:cNvSpPr/>
          <p:nvPr/>
        </p:nvSpPr>
        <p:spPr>
          <a:xfrm>
            <a:off x="1047750" y="8218289"/>
            <a:ext cx="7962900" cy="1478161"/>
          </a:xfrm>
          <a:prstGeom prst="roundRect">
            <a:avLst>
              <a:gd fmla="val 10310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31"/>
          <p:cNvSpPr/>
          <p:nvPr/>
        </p:nvSpPr>
        <p:spPr>
          <a:xfrm>
            <a:off x="1352550" y="8446889"/>
            <a:ext cx="808863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2B5E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 + w &gt; n → strong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31"/>
          <p:cNvSpPr/>
          <p:nvPr/>
        </p:nvSpPr>
        <p:spPr>
          <a:xfrm>
            <a:off x="1352550" y="8827889"/>
            <a:ext cx="7573899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3E5A2B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E5A2B"/>
                </a:solidFill>
                <a:latin typeface="Inter"/>
                <a:ea typeface="Inter"/>
                <a:cs typeface="Inter"/>
                <a:sym typeface="Inter"/>
              </a:rPr>
              <a:t>Reads overlap the newest write. QUORUM/QUORUM at RF 3: 2 + 2 &gt; 3 — strongly consistent.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31"/>
          <p:cNvSpPr/>
          <p:nvPr/>
        </p:nvSpPr>
        <p:spPr>
          <a:xfrm>
            <a:off x="9277350" y="8218289"/>
            <a:ext cx="7962900" cy="1478161"/>
          </a:xfrm>
          <a:prstGeom prst="roundRect">
            <a:avLst>
              <a:gd fmla="val 10310" name="adj"/>
            </a:avLst>
          </a:prstGeom>
          <a:solidFill>
            <a:srgbClr val="FDF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31"/>
          <p:cNvSpPr/>
          <p:nvPr/>
        </p:nvSpPr>
        <p:spPr>
          <a:xfrm>
            <a:off x="9582150" y="8446889"/>
            <a:ext cx="808863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E0E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6B5E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 + w ≤ n → eventual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31"/>
          <p:cNvSpPr/>
          <p:nvPr/>
        </p:nvSpPr>
        <p:spPr>
          <a:xfrm>
            <a:off x="9582150" y="8827889"/>
            <a:ext cx="7573899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6E643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E6430"/>
                </a:solidFill>
                <a:latin typeface="Inter"/>
                <a:ea typeface="Inter"/>
                <a:cs typeface="Inter"/>
                <a:sym typeface="Inter"/>
              </a:rPr>
              <a:t>ONE/ONE at RF 3: 1 + 1 ≤ 3 — stale reads possible until repair or anti-entropy converges.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32"/>
          <p:cNvSpPr/>
          <p:nvPr/>
        </p:nvSpPr>
        <p:spPr>
          <a:xfrm>
            <a:off x="1047750" y="762000"/>
            <a:ext cx="9851797" cy="6037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353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4050"/>
              <a:buFont typeface="Plus Jakarta Sans"/>
              <a:buNone/>
            </a:pPr>
            <a:r>
              <a:rPr b="1" i="0" lang="en-US" sz="40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read consistency reconciles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32"/>
          <p:cNvSpPr/>
          <p:nvPr/>
        </p:nvSpPr>
        <p:spPr>
          <a:xfrm>
            <a:off x="1047750" y="1441996"/>
            <a:ext cx="9851797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The KC-3 distractor lives on this slide — docs wording verbatim in the notes.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62" name="Google Shape;96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76200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32"/>
          <p:cNvSpPr/>
          <p:nvPr/>
        </p:nvSpPr>
        <p:spPr>
          <a:xfrm>
            <a:off x="1047750" y="2245816"/>
            <a:ext cx="5194250" cy="7279184"/>
          </a:xfrm>
          <a:prstGeom prst="roundRect">
            <a:avLst>
              <a:gd fmla="val 3301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32"/>
          <p:cNvSpPr/>
          <p:nvPr/>
        </p:nvSpPr>
        <p:spPr>
          <a:xfrm>
            <a:off x="1428750" y="2588716"/>
            <a:ext cx="48754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2B5E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Object versions, by ID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32"/>
          <p:cNvSpPr/>
          <p:nvPr/>
        </p:nvSpPr>
        <p:spPr>
          <a:xfrm>
            <a:off x="1428750" y="3103066"/>
            <a:ext cx="4565218" cy="1824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E5A2B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E5A2B"/>
                </a:solidFill>
                <a:latin typeface="Inter"/>
                <a:ea typeface="Inter"/>
                <a:cs typeface="Inter"/>
                <a:sym typeface="Inter"/>
              </a:rPr>
              <a:t>Once a query has identified its result set, read consistency governs retrieving those objects from replicas — propagating missing copies, updating stale versions.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32"/>
          <p:cNvSpPr/>
          <p:nvPr/>
        </p:nvSpPr>
        <p:spPr>
          <a:xfrm>
            <a:off x="6546800" y="2245816"/>
            <a:ext cx="5194399" cy="7279184"/>
          </a:xfrm>
          <a:prstGeom prst="roundRect">
            <a:avLst>
              <a:gd fmla="val 3301" name="adj"/>
            </a:avLst>
          </a:prstGeom>
          <a:solidFill>
            <a:srgbClr val="FBE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32"/>
          <p:cNvSpPr/>
          <p:nvPr/>
        </p:nvSpPr>
        <p:spPr>
          <a:xfrm>
            <a:off x="6927800" y="2588716"/>
            <a:ext cx="487563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9340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NOT ANN candidate merging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32"/>
          <p:cNvSpPr/>
          <p:nvPr/>
        </p:nvSpPr>
        <p:spPr>
          <a:xfrm>
            <a:off x="6927800" y="3103066"/>
            <a:ext cx="4565371" cy="1824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4A2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7A4A26"/>
                </a:solidFill>
                <a:latin typeface="Inter"/>
                <a:ea typeface="Inter"/>
                <a:cs typeface="Inter"/>
                <a:sym typeface="Inter"/>
              </a:rPr>
              <a:t>Docs: tunable read consistency "does not affect consistency of the list of objects returned by a query." Which objects the search finds is not this knob.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32"/>
          <p:cNvSpPr/>
          <p:nvPr/>
        </p:nvSpPr>
        <p:spPr>
          <a:xfrm>
            <a:off x="12046000" y="2245816"/>
            <a:ext cx="5194250" cy="7279184"/>
          </a:xfrm>
          <a:prstGeom prst="roundRect">
            <a:avLst>
              <a:gd fmla="val 3301" name="adj"/>
            </a:avLst>
          </a:prstGeom>
          <a:solidFill>
            <a:srgbClr val="FBE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32"/>
          <p:cNvSpPr/>
          <p:nvPr/>
        </p:nvSpPr>
        <p:spPr>
          <a:xfrm>
            <a:off x="12427000" y="2588716"/>
            <a:ext cx="48754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9340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NOT a recall tuner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32"/>
          <p:cNvSpPr/>
          <p:nvPr/>
        </p:nvSpPr>
        <p:spPr>
          <a:xfrm>
            <a:off x="12427000" y="3103066"/>
            <a:ext cx="4565218" cy="1824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4A2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7A4A26"/>
                </a:solidFill>
                <a:latin typeface="Inter"/>
                <a:ea typeface="Inter"/>
                <a:cs typeface="Inter"/>
                <a:sym typeface="Inter"/>
              </a:rPr>
              <a:t>Raising the read level buys fresher object versions, not better search quality. Recall levers live in Segment 4 — index, ef, quantization — and are measured.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33"/>
          <p:cNvSpPr/>
          <p:nvPr/>
        </p:nvSpPr>
        <p:spPr>
          <a:xfrm>
            <a:off x="1047750" y="762000"/>
            <a:ext cx="12607870" cy="6037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353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4050"/>
              <a:buFont typeface="Plus Jakarta Sans"/>
              <a:buNone/>
            </a:pPr>
            <a:r>
              <a:rPr b="1" i="0" lang="en-US" sz="40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Async replication, default-on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33"/>
          <p:cNvSpPr/>
          <p:nvPr/>
        </p:nvSpPr>
        <p:spPr>
          <a:xfrm>
            <a:off x="1047750" y="1441996"/>
            <a:ext cx="1260787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Background anti-entropy, not your write path — write acks still follow your write consistency level.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9" name="Google Shape;97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76200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33"/>
          <p:cNvSpPr/>
          <p:nvPr/>
        </p:nvSpPr>
        <p:spPr>
          <a:xfrm>
            <a:off x="1047750" y="2245816"/>
            <a:ext cx="5194250" cy="7279184"/>
          </a:xfrm>
          <a:prstGeom prst="roundRect">
            <a:avLst>
              <a:gd fmla="val 3301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33"/>
          <p:cNvSpPr/>
          <p:nvPr/>
        </p:nvSpPr>
        <p:spPr>
          <a:xfrm>
            <a:off x="1428750" y="2588716"/>
            <a:ext cx="2521446" cy="361950"/>
          </a:xfrm>
          <a:prstGeom prst="roundRect">
            <a:avLst>
              <a:gd fmla="val 50000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33"/>
          <p:cNvSpPr/>
          <p:nvPr/>
        </p:nvSpPr>
        <p:spPr>
          <a:xfrm>
            <a:off x="1581150" y="2655391"/>
            <a:ext cx="246879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GA · default-on 1.38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33"/>
          <p:cNvSpPr/>
          <p:nvPr/>
        </p:nvSpPr>
        <p:spPr>
          <a:xfrm>
            <a:off x="1428750" y="3045916"/>
            <a:ext cx="48754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Default-on when RF &gt; 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33"/>
          <p:cNvSpPr/>
          <p:nvPr/>
        </p:nvSpPr>
        <p:spPr>
          <a:xfrm>
            <a:off x="1428750" y="3579316"/>
            <a:ext cx="4565218" cy="1824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GA since 1.29. As of 1.38 async replication runs automatically for any collection with factor &gt; 1 — the per-collection asyncEnabled flag is removed.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33"/>
          <p:cNvSpPr/>
          <p:nvPr/>
        </p:nvSpPr>
        <p:spPr>
          <a:xfrm>
            <a:off x="6546800" y="2245816"/>
            <a:ext cx="5194399" cy="7279184"/>
          </a:xfrm>
          <a:prstGeom prst="roundRect">
            <a:avLst>
              <a:gd fmla="val 3301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33"/>
          <p:cNvSpPr/>
          <p:nvPr/>
        </p:nvSpPr>
        <p:spPr>
          <a:xfrm>
            <a:off x="6927800" y="2588716"/>
            <a:ext cx="1864519" cy="361950"/>
          </a:xfrm>
          <a:prstGeom prst="roundRect">
            <a:avLst>
              <a:gd fmla="val 50000" name="adj"/>
            </a:avLst>
          </a:prstGeom>
          <a:solidFill>
            <a:srgbClr val="E7E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33"/>
          <p:cNvSpPr/>
          <p:nvPr/>
        </p:nvSpPr>
        <p:spPr>
          <a:xfrm>
            <a:off x="7080200" y="2655391"/>
            <a:ext cx="174617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1C4E93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C4E93"/>
                </a:solidFill>
                <a:latin typeface="Inter"/>
                <a:ea typeface="Inter"/>
                <a:cs typeface="Inter"/>
                <a:sym typeface="Inter"/>
              </a:rPr>
              <a:t>Rebuilt in 1.38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33"/>
          <p:cNvSpPr/>
          <p:nvPr/>
        </p:nvSpPr>
        <p:spPr>
          <a:xfrm>
            <a:off x="6927800" y="3045916"/>
            <a:ext cx="487563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Cluster-wide scheduler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33"/>
          <p:cNvSpPr/>
          <p:nvPr/>
        </p:nvSpPr>
        <p:spPr>
          <a:xfrm>
            <a:off x="6927800" y="3579316"/>
            <a:ext cx="4565371" cy="1824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A single scheduler with one shared worker pool replaces per-collection pools. Convergence is observable — in Lab 3 you'll watch queue depth fall to zero.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33"/>
          <p:cNvSpPr/>
          <p:nvPr/>
        </p:nvSpPr>
        <p:spPr>
          <a:xfrm>
            <a:off x="12046000" y="2245816"/>
            <a:ext cx="5194250" cy="7279184"/>
          </a:xfrm>
          <a:prstGeom prst="roundRect">
            <a:avLst>
              <a:gd fmla="val 3301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33"/>
          <p:cNvSpPr/>
          <p:nvPr/>
        </p:nvSpPr>
        <p:spPr>
          <a:xfrm>
            <a:off x="12427000" y="2588716"/>
            <a:ext cx="2397770" cy="361950"/>
          </a:xfrm>
          <a:prstGeom prst="roundRect">
            <a:avLst>
              <a:gd fmla="val 50000" name="adj"/>
            </a:avLst>
          </a:prstGeom>
          <a:solidFill>
            <a:srgbClr val="FDF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33"/>
          <p:cNvSpPr/>
          <p:nvPr/>
        </p:nvSpPr>
        <p:spPr>
          <a:xfrm>
            <a:off x="12579400" y="2655391"/>
            <a:ext cx="233274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6B5E0E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6B5E0E"/>
                </a:solidFill>
                <a:latin typeface="Inter"/>
                <a:ea typeface="Inter"/>
                <a:cs typeface="Inter"/>
                <a:sym typeface="Inter"/>
              </a:rPr>
              <a:t>Tenant-scale math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33"/>
          <p:cNvSpPr/>
          <p:nvPr/>
        </p:nvSpPr>
        <p:spPr>
          <a:xfrm>
            <a:off x="12427000" y="3045916"/>
            <a:ext cx="48754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Hash trees cost memory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33"/>
          <p:cNvSpPr/>
          <p:nvPr/>
        </p:nvSpPr>
        <p:spPr>
          <a:xfrm>
            <a:off x="12427000" y="3579316"/>
            <a:ext cx="4565218" cy="1824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Each shard replica keeps a hash tree: ~2 MB per shard per node single-tenant, ~16 KB per tenant per node multi-tenant. At 1,200 tenants × RF 3 (illustrative), budget it.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34"/>
          <p:cNvSpPr/>
          <p:nvPr/>
        </p:nvSpPr>
        <p:spPr>
          <a:xfrm>
            <a:off x="1047750" y="628650"/>
            <a:ext cx="7853214" cy="5828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667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900"/>
              <a:buFont typeface="Plus Jakarta Sans"/>
              <a:buNone/>
            </a:pPr>
            <a:r>
              <a:rPr b="1" i="0" lang="en-US" sz="39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When things die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34"/>
          <p:cNvSpPr/>
          <p:nvPr/>
        </p:nvSpPr>
        <p:spPr>
          <a:xfrm>
            <a:off x="1047750" y="1287661"/>
            <a:ext cx="7853214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Pod, node, AZ — the reveal of your workbook §6 predictions.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02" name="Google Shape;100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62865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34"/>
          <p:cNvSpPr/>
          <p:nvPr/>
        </p:nvSpPr>
        <p:spPr>
          <a:xfrm>
            <a:off x="1047750" y="1881932"/>
            <a:ext cx="16192500" cy="1028700"/>
          </a:xfrm>
          <a:prstGeom prst="roundRect">
            <a:avLst>
              <a:gd fmla="val 14815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34"/>
          <p:cNvSpPr/>
          <p:nvPr/>
        </p:nvSpPr>
        <p:spPr>
          <a:xfrm>
            <a:off x="1371600" y="2072432"/>
            <a:ext cx="1709928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5E4"/>
              </a:buClr>
              <a:buSzPts val="1800"/>
              <a:buFont typeface="Inter"/>
              <a:buNone/>
            </a:pPr>
            <a:r>
              <a:rPr lang="en-US" sz="1800">
                <a:solidFill>
                  <a:srgbClr val="B9B5E4"/>
                </a:solidFill>
                <a:latin typeface="Inter"/>
                <a:ea typeface="Inter"/>
                <a:cs typeface="Inter"/>
                <a:sym typeface="Inter"/>
              </a:rPr>
              <a:t>Acme</a:t>
            </a:r>
            <a:r>
              <a:rPr b="0" i="0" lang="en-US" sz="1800" u="none" cap="none" strike="noStrike">
                <a:solidFill>
                  <a:srgbClr val="B9B5E4"/>
                </a:solidFill>
                <a:latin typeface="Inter"/>
                <a:ea typeface="Inter"/>
                <a:cs typeface="Inter"/>
                <a:sym typeface="Inter"/>
              </a:rPr>
              <a:t> Retail (illustrative) · RF 3 · one replica of each shard per AZ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34"/>
          <p:cNvSpPr/>
          <p:nvPr/>
        </p:nvSpPr>
        <p:spPr>
          <a:xfrm>
            <a:off x="1371600" y="2386757"/>
            <a:ext cx="1709928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"What actually happens when we lose it during business hours?"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34"/>
          <p:cNvSpPr/>
          <p:nvPr/>
        </p:nvSpPr>
        <p:spPr>
          <a:xfrm>
            <a:off x="1047750" y="3158282"/>
            <a:ext cx="5219700" cy="5246638"/>
          </a:xfrm>
          <a:prstGeom prst="roundRect">
            <a:avLst>
              <a:gd fmla="val 3285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34"/>
          <p:cNvSpPr/>
          <p:nvPr/>
        </p:nvSpPr>
        <p:spPr>
          <a:xfrm>
            <a:off x="1047750" y="3158282"/>
            <a:ext cx="5219700" cy="95250"/>
          </a:xfrm>
          <a:prstGeom prst="rect">
            <a:avLst/>
          </a:prstGeom>
          <a:solidFill>
            <a:srgbClr val="61BD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34"/>
          <p:cNvSpPr/>
          <p:nvPr/>
        </p:nvSpPr>
        <p:spPr>
          <a:xfrm>
            <a:off x="1352550" y="3520232"/>
            <a:ext cx="507111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Pod dies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34"/>
          <p:cNvSpPr/>
          <p:nvPr/>
        </p:nvSpPr>
        <p:spPr>
          <a:xfrm>
            <a:off x="1352550" y="3967907"/>
            <a:ext cx="507111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Kubernetes reschedules. Nobody pages.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34"/>
          <p:cNvSpPr/>
          <p:nvPr/>
        </p:nvSpPr>
        <p:spPr>
          <a:xfrm>
            <a:off x="1352550" y="4358432"/>
            <a:ext cx="4748403" cy="18091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Replicas keep serving reads QUORUM writes still land (2 of 3) ALL reads &amp; writes fail meanwhile Returning pod converges via async replication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34"/>
          <p:cNvSpPr/>
          <p:nvPr/>
        </p:nvSpPr>
        <p:spPr>
          <a:xfrm>
            <a:off x="6534150" y="3158282"/>
            <a:ext cx="5219700" cy="5246638"/>
          </a:xfrm>
          <a:prstGeom prst="roundRect">
            <a:avLst>
              <a:gd fmla="val 3285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34"/>
          <p:cNvSpPr/>
          <p:nvPr/>
        </p:nvSpPr>
        <p:spPr>
          <a:xfrm>
            <a:off x="6534150" y="3158282"/>
            <a:ext cx="5219700" cy="95250"/>
          </a:xfrm>
          <a:prstGeom prst="rect">
            <a:avLst/>
          </a:prstGeom>
          <a:solidFill>
            <a:srgbClr val="E9E1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34"/>
          <p:cNvSpPr/>
          <p:nvPr/>
        </p:nvSpPr>
        <p:spPr>
          <a:xfrm>
            <a:off x="6838950" y="3520232"/>
            <a:ext cx="507111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Node dies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34"/>
          <p:cNvSpPr/>
          <p:nvPr/>
        </p:nvSpPr>
        <p:spPr>
          <a:xfrm>
            <a:off x="6838950" y="3967907"/>
            <a:ext cx="507111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Same story, longer — minus capacity.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34"/>
          <p:cNvSpPr/>
          <p:nvPr/>
        </p:nvSpPr>
        <p:spPr>
          <a:xfrm>
            <a:off x="6838950" y="4358432"/>
            <a:ext cx="4748403" cy="1454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Reads &amp; QUORUM writes survive Raft quorum holds — metadata still works Capacity down: watch p95 at peak load A second node down freezes metadata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34"/>
          <p:cNvSpPr/>
          <p:nvPr/>
        </p:nvSpPr>
        <p:spPr>
          <a:xfrm>
            <a:off x="12020550" y="3158282"/>
            <a:ext cx="5219700" cy="5246638"/>
          </a:xfrm>
          <a:prstGeom prst="roundRect">
            <a:avLst>
              <a:gd fmla="val 3285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4"/>
          <p:cNvSpPr/>
          <p:nvPr/>
        </p:nvSpPr>
        <p:spPr>
          <a:xfrm>
            <a:off x="12020550" y="3158282"/>
            <a:ext cx="5219700" cy="95250"/>
          </a:xfrm>
          <a:prstGeom prst="rect">
            <a:avLst/>
          </a:prstGeom>
          <a:solidFill>
            <a:srgbClr val="C254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4"/>
          <p:cNvSpPr/>
          <p:nvPr/>
        </p:nvSpPr>
        <p:spPr>
          <a:xfrm>
            <a:off x="12325350" y="3520232"/>
            <a:ext cx="507111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AZ dies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34"/>
          <p:cNvSpPr/>
          <p:nvPr/>
        </p:nvSpPr>
        <p:spPr>
          <a:xfrm>
            <a:off x="12325350" y="3967907"/>
            <a:ext cx="507111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Placement decided this on day one.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34"/>
          <p:cNvSpPr/>
          <p:nvPr/>
        </p:nvSpPr>
        <p:spPr>
          <a:xfrm>
            <a:off x="12325350" y="4358432"/>
            <a:ext cx="4748403" cy="1454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Topology spread + PDBs pay off now One replica per AZ → cluster survives Expect cross-AZ latency + traffic surge Lab 3 does NOT simulate this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34"/>
          <p:cNvSpPr/>
          <p:nvPr/>
        </p:nvSpPr>
        <p:spPr>
          <a:xfrm>
            <a:off x="1047750" y="8652570"/>
            <a:ext cx="16192500" cy="1081980"/>
          </a:xfrm>
          <a:prstGeom prst="roundRect">
            <a:avLst>
              <a:gd fmla="val 14085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34"/>
          <p:cNvSpPr/>
          <p:nvPr/>
        </p:nvSpPr>
        <p:spPr>
          <a:xfrm>
            <a:off x="1371600" y="8862120"/>
            <a:ext cx="215689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2B5E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this matters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34"/>
          <p:cNvSpPr/>
          <p:nvPr/>
        </p:nvSpPr>
        <p:spPr>
          <a:xfrm>
            <a:off x="3541961" y="8862120"/>
            <a:ext cx="13775673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E5A2B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E5A2B"/>
                </a:solidFill>
                <a:latin typeface="Inter"/>
                <a:ea typeface="Inter"/>
                <a:cs typeface="Inter"/>
                <a:sym typeface="Inter"/>
              </a:rPr>
              <a:t>Your §6 matrix predicted these rows — scenario 5 said a minority-partitioned AZ still serves ONE reads while QUORUM writes and schema changes fail. Lab 3 verifies the pod and node rows for real.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35"/>
          <p:cNvSpPr/>
          <p:nvPr/>
        </p:nvSpPr>
        <p:spPr>
          <a:xfrm>
            <a:off x="1047750" y="762000"/>
            <a:ext cx="12852782" cy="6037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353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4050"/>
              <a:buFont typeface="Plus Jakarta Sans"/>
              <a:buNone/>
            </a:pPr>
            <a:r>
              <a:rPr b="1" i="0" lang="en-US" sz="40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Multi-tenancy under load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35"/>
          <p:cNvSpPr/>
          <p:nvPr/>
        </p:nvSpPr>
        <p:spPr>
          <a:xfrm>
            <a:off x="1047750" y="1441996"/>
            <a:ext cx="12852782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1,200 storefront tenants (illustrative): lifecycle states, cold storage, and isolation are capacity levers.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1" name="Google Shape;103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76200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2" name="Google Shape;1032;p35"/>
          <p:cNvSpPr/>
          <p:nvPr/>
        </p:nvSpPr>
        <p:spPr>
          <a:xfrm>
            <a:off x="1047750" y="2245816"/>
            <a:ext cx="5194250" cy="7279184"/>
          </a:xfrm>
          <a:prstGeom prst="roundRect">
            <a:avLst>
              <a:gd fmla="val 3301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35"/>
          <p:cNvSpPr/>
          <p:nvPr/>
        </p:nvSpPr>
        <p:spPr>
          <a:xfrm>
            <a:off x="1428750" y="2588716"/>
            <a:ext cx="639961" cy="361950"/>
          </a:xfrm>
          <a:prstGeom prst="roundRect">
            <a:avLst>
              <a:gd fmla="val 50000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35"/>
          <p:cNvSpPr/>
          <p:nvPr/>
        </p:nvSpPr>
        <p:spPr>
          <a:xfrm>
            <a:off x="1581150" y="2655391"/>
            <a:ext cx="39915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GA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35"/>
          <p:cNvSpPr/>
          <p:nvPr/>
        </p:nvSpPr>
        <p:spPr>
          <a:xfrm>
            <a:off x="1428750" y="3045916"/>
            <a:ext cx="48754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States are a cost dial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35"/>
          <p:cNvSpPr/>
          <p:nvPr/>
        </p:nvSpPr>
        <p:spPr>
          <a:xfrm>
            <a:off x="1428750" y="3579316"/>
            <a:ext cx="4565218" cy="1824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ACTIVE (loaded, read/write) → INACTIVE (local disk, fast reactivation) → OFFLOADED (cloud, slow reactivation). Both auto-tenant features default off.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35"/>
          <p:cNvSpPr/>
          <p:nvPr/>
        </p:nvSpPr>
        <p:spPr>
          <a:xfrm>
            <a:off x="6546800" y="2245816"/>
            <a:ext cx="5194399" cy="7279184"/>
          </a:xfrm>
          <a:prstGeom prst="roundRect">
            <a:avLst>
              <a:gd fmla="val 3301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35"/>
          <p:cNvSpPr/>
          <p:nvPr/>
        </p:nvSpPr>
        <p:spPr>
          <a:xfrm>
            <a:off x="6927800" y="2588716"/>
            <a:ext cx="2654052" cy="361950"/>
          </a:xfrm>
          <a:prstGeom prst="roundRect">
            <a:avLst>
              <a:gd fmla="val 50000" name="adj"/>
            </a:avLst>
          </a:prstGeom>
          <a:solidFill>
            <a:srgbClr val="FDF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35"/>
          <p:cNvSpPr/>
          <p:nvPr/>
        </p:nvSpPr>
        <p:spPr>
          <a:xfrm>
            <a:off x="7080200" y="2655391"/>
            <a:ext cx="261465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6B5E0E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6B5E0E"/>
                </a:solidFill>
                <a:latin typeface="Inter"/>
                <a:ea typeface="Inter"/>
                <a:cs typeface="Inter"/>
                <a:sym typeface="Inter"/>
              </a:rPr>
              <a:t>Deployment-specific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35"/>
          <p:cNvSpPr/>
          <p:nvPr/>
        </p:nvSpPr>
        <p:spPr>
          <a:xfrm>
            <a:off x="6927800" y="3045916"/>
            <a:ext cx="487563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Tenant offloading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35"/>
          <p:cNvSpPr/>
          <p:nvPr/>
        </p:nvSpPr>
        <p:spPr>
          <a:xfrm>
            <a:off x="6927800" y="3579316"/>
            <a:ext cx="4565371" cy="1824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The offload-s3 module (v1.26+) targets AWS S3 — the only documented backend. Weaviate Cloud availability is not documented; verify on your deployment first.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35"/>
          <p:cNvSpPr/>
          <p:nvPr/>
        </p:nvSpPr>
        <p:spPr>
          <a:xfrm>
            <a:off x="12046000" y="2245816"/>
            <a:ext cx="5194250" cy="7279184"/>
          </a:xfrm>
          <a:prstGeom prst="roundRect">
            <a:avLst>
              <a:gd fmla="val 3301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35"/>
          <p:cNvSpPr/>
          <p:nvPr/>
        </p:nvSpPr>
        <p:spPr>
          <a:xfrm>
            <a:off x="12427000" y="2588716"/>
            <a:ext cx="2344192" cy="361950"/>
          </a:xfrm>
          <a:prstGeom prst="roundRect">
            <a:avLst>
              <a:gd fmla="val 50000" name="adj"/>
            </a:avLst>
          </a:prstGeom>
          <a:solidFill>
            <a:srgbClr val="E7E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35"/>
          <p:cNvSpPr/>
          <p:nvPr/>
        </p:nvSpPr>
        <p:spPr>
          <a:xfrm>
            <a:off x="12579400" y="2655391"/>
            <a:ext cx="227381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1C4E93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C4E93"/>
                </a:solidFill>
                <a:latin typeface="Inter"/>
                <a:ea typeface="Inter"/>
                <a:cs typeface="Inter"/>
                <a:sym typeface="Inter"/>
              </a:rPr>
              <a:t>50k+ shards/node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35"/>
          <p:cNvSpPr/>
          <p:nvPr/>
        </p:nvSpPr>
        <p:spPr>
          <a:xfrm>
            <a:off x="12427000" y="3045916"/>
            <a:ext cx="48754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Noisy neighbors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35"/>
          <p:cNvSpPr/>
          <p:nvPr/>
        </p:nvSpPr>
        <p:spPr>
          <a:xfrm>
            <a:off x="12427000" y="3579316"/>
            <a:ext cx="4565218" cy="1824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Each tenant gets a dedicated vector index — that isolation is the documented mitigation. New tenants land on the least-loaded node; existing ones move only via replica movement.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36"/>
          <p:cNvSpPr/>
          <p:nvPr/>
        </p:nvSpPr>
        <p:spPr>
          <a:xfrm>
            <a:off x="1047750" y="723900"/>
            <a:ext cx="13864843" cy="6037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353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4050"/>
              <a:buFont typeface="Plus Jakarta Sans"/>
              <a:buNone/>
            </a:pPr>
            <a:r>
              <a:rPr b="1" i="0" lang="en-US" sz="40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Choices you can't unmake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36"/>
          <p:cNvSpPr/>
          <p:nvPr/>
        </p:nvSpPr>
        <p:spPr>
          <a:xfrm>
            <a:off x="1047750" y="1403896"/>
            <a:ext cx="13864843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Vertical first when memory-bound; horizontal needs placement work; some settings only a rebuild changes.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4" name="Google Shape;105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72390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36"/>
          <p:cNvSpPr/>
          <p:nvPr/>
        </p:nvSpPr>
        <p:spPr>
          <a:xfrm>
            <a:off x="1047750" y="2131516"/>
            <a:ext cx="3562350" cy="999679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36"/>
          <p:cNvSpPr/>
          <p:nvPr/>
        </p:nvSpPr>
        <p:spPr>
          <a:xfrm>
            <a:off x="1257300" y="2283916"/>
            <a:ext cx="3250121" cy="732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36"/>
          <p:cNvSpPr/>
          <p:nvPr/>
        </p:nvSpPr>
        <p:spPr>
          <a:xfrm>
            <a:off x="4610100" y="2131516"/>
            <a:ext cx="5829300" cy="999679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36"/>
          <p:cNvSpPr/>
          <p:nvPr/>
        </p:nvSpPr>
        <p:spPr>
          <a:xfrm>
            <a:off x="4819650" y="2283916"/>
            <a:ext cx="5585079" cy="732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When it wins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36"/>
          <p:cNvSpPr/>
          <p:nvPr/>
        </p:nvSpPr>
        <p:spPr>
          <a:xfrm>
            <a:off x="10439400" y="2131516"/>
            <a:ext cx="6800850" cy="999679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36"/>
          <p:cNvSpPr/>
          <p:nvPr/>
        </p:nvSpPr>
        <p:spPr>
          <a:xfrm>
            <a:off x="10648950" y="2283916"/>
            <a:ext cx="6585776" cy="732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Cost &amp; risk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36"/>
          <p:cNvSpPr/>
          <p:nvPr/>
        </p:nvSpPr>
        <p:spPr>
          <a:xfrm>
            <a:off x="1047750" y="4603849"/>
            <a:ext cx="35623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36"/>
          <p:cNvSpPr/>
          <p:nvPr/>
        </p:nvSpPr>
        <p:spPr>
          <a:xfrm>
            <a:off x="1257300" y="3255020"/>
            <a:ext cx="3250121" cy="12631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Vertical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36"/>
          <p:cNvSpPr/>
          <p:nvPr/>
        </p:nvSpPr>
        <p:spPr>
          <a:xfrm>
            <a:off x="4610100" y="4603849"/>
            <a:ext cx="58293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36"/>
          <p:cNvSpPr/>
          <p:nvPr/>
        </p:nvSpPr>
        <p:spPr>
          <a:xfrm>
            <a:off x="4819650" y="3255020"/>
            <a:ext cx="5585079" cy="12631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Memory-bound: HNSW, caches, GC pressure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36"/>
          <p:cNvSpPr/>
          <p:nvPr/>
        </p:nvSpPr>
        <p:spPr>
          <a:xfrm>
            <a:off x="10439400" y="4603849"/>
            <a:ext cx="68008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36"/>
          <p:cNvSpPr/>
          <p:nvPr/>
        </p:nvSpPr>
        <p:spPr>
          <a:xfrm>
            <a:off x="10648950" y="3255020"/>
            <a:ext cx="6585776" cy="12631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Simplest move — no rebalancing. Per-node ceiling; resizing means a restart.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36"/>
          <p:cNvSpPr/>
          <p:nvPr/>
        </p:nvSpPr>
        <p:spPr>
          <a:xfrm>
            <a:off x="1047750" y="6093916"/>
            <a:ext cx="35623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36"/>
          <p:cNvSpPr/>
          <p:nvPr/>
        </p:nvSpPr>
        <p:spPr>
          <a:xfrm>
            <a:off x="1257300" y="4737199"/>
            <a:ext cx="3250121" cy="12709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Horizontal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36"/>
          <p:cNvSpPr/>
          <p:nvPr/>
        </p:nvSpPr>
        <p:spPr>
          <a:xfrm>
            <a:off x="4610100" y="6093916"/>
            <a:ext cx="58293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36"/>
          <p:cNvSpPr/>
          <p:nvPr/>
        </p:nvSpPr>
        <p:spPr>
          <a:xfrm>
            <a:off x="4819650" y="4737199"/>
            <a:ext cx="5585079" cy="12709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Dataset growth, import throughput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36"/>
          <p:cNvSpPr/>
          <p:nvPr/>
        </p:nvSpPr>
        <p:spPr>
          <a:xfrm>
            <a:off x="10439400" y="6093916"/>
            <a:ext cx="68008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36"/>
          <p:cNvSpPr/>
          <p:nvPr/>
        </p:nvSpPr>
        <p:spPr>
          <a:xfrm>
            <a:off x="10648950" y="4737199"/>
            <a:ext cx="6585776" cy="12709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Adding nodes does NOT rebalance existing shards — plan the placement work explicitly.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36"/>
          <p:cNvSpPr/>
          <p:nvPr/>
        </p:nvSpPr>
        <p:spPr>
          <a:xfrm>
            <a:off x="1047750" y="7583984"/>
            <a:ext cx="35623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36"/>
          <p:cNvSpPr/>
          <p:nvPr/>
        </p:nvSpPr>
        <p:spPr>
          <a:xfrm>
            <a:off x="1257300" y="6227266"/>
            <a:ext cx="3250121" cy="12709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Replica movement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36"/>
          <p:cNvSpPr/>
          <p:nvPr/>
        </p:nvSpPr>
        <p:spPr>
          <a:xfrm>
            <a:off x="4610100" y="7583984"/>
            <a:ext cx="58293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36"/>
          <p:cNvSpPr/>
          <p:nvPr/>
        </p:nvSpPr>
        <p:spPr>
          <a:xfrm>
            <a:off x="4819650" y="6227266"/>
            <a:ext cx="5585079" cy="12709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Rebalance onto new nodes, decommission, cool a hot shard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36"/>
          <p:cNvSpPr/>
          <p:nvPr/>
        </p:nvSpPr>
        <p:spPr>
          <a:xfrm>
            <a:off x="10439400" y="7583984"/>
            <a:ext cx="68008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36"/>
          <p:cNvSpPr/>
          <p:nvPr/>
        </p:nvSpPr>
        <p:spPr>
          <a:xfrm>
            <a:off x="10648950" y="6227266"/>
            <a:ext cx="6585776" cy="12709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Production-ready in 1.38 yet still explicitly enabled; COPY raises that shard's RF, MOVE relocates it.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36"/>
          <p:cNvSpPr/>
          <p:nvPr/>
        </p:nvSpPr>
        <p:spPr>
          <a:xfrm>
            <a:off x="1047750" y="7593509"/>
            <a:ext cx="3562350" cy="2021979"/>
          </a:xfrm>
          <a:prstGeom prst="rect">
            <a:avLst/>
          </a:prstGeom>
          <a:solidFill>
            <a:srgbClr val="FDF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36"/>
          <p:cNvSpPr/>
          <p:nvPr/>
        </p:nvSpPr>
        <p:spPr>
          <a:xfrm>
            <a:off x="1047750" y="9605963"/>
            <a:ext cx="35623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36"/>
          <p:cNvSpPr/>
          <p:nvPr/>
        </p:nvSpPr>
        <p:spPr>
          <a:xfrm>
            <a:off x="1257300" y="7717334"/>
            <a:ext cx="3250121" cy="1802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93400F"/>
                </a:solidFill>
                <a:latin typeface="Inter"/>
                <a:ea typeface="Inter"/>
                <a:cs typeface="Inter"/>
                <a:sym typeface="Inter"/>
              </a:rPr>
              <a:t>Immutable at creation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36"/>
          <p:cNvSpPr/>
          <p:nvPr/>
        </p:nvSpPr>
        <p:spPr>
          <a:xfrm>
            <a:off x="4610100" y="7593509"/>
            <a:ext cx="5829300" cy="2021979"/>
          </a:xfrm>
          <a:prstGeom prst="rect">
            <a:avLst/>
          </a:prstGeom>
          <a:solidFill>
            <a:srgbClr val="FDF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36"/>
          <p:cNvSpPr/>
          <p:nvPr/>
        </p:nvSpPr>
        <p:spPr>
          <a:xfrm>
            <a:off x="4610100" y="9605963"/>
            <a:ext cx="58293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36"/>
          <p:cNvSpPr/>
          <p:nvPr/>
        </p:nvSpPr>
        <p:spPr>
          <a:xfrm>
            <a:off x="4819650" y="7717334"/>
            <a:ext cx="5585079" cy="1802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Decide on day one, with witnesses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36"/>
          <p:cNvSpPr/>
          <p:nvPr/>
        </p:nvSpPr>
        <p:spPr>
          <a:xfrm>
            <a:off x="10439400" y="7593509"/>
            <a:ext cx="6800850" cy="2021979"/>
          </a:xfrm>
          <a:prstGeom prst="rect">
            <a:avLst/>
          </a:prstGeom>
          <a:solidFill>
            <a:srgbClr val="FDF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36"/>
          <p:cNvSpPr/>
          <p:nvPr/>
        </p:nvSpPr>
        <p:spPr>
          <a:xfrm>
            <a:off x="10439400" y="9605963"/>
            <a:ext cx="680085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36"/>
          <p:cNvSpPr/>
          <p:nvPr/>
        </p:nvSpPr>
        <p:spPr>
          <a:xfrm>
            <a:off x="10648950" y="7717334"/>
            <a:ext cx="6585776" cy="1802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Shard count, efConstruction, maxConnections, distance metric, MT flag. Escape hatch: new collection + alias swap.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E8"/>
        </a:solidFill>
      </p:bgPr>
    </p:bg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37"/>
          <p:cNvSpPr/>
          <p:nvPr/>
        </p:nvSpPr>
        <p:spPr>
          <a:xfrm>
            <a:off x="1047750" y="609600"/>
            <a:ext cx="1107430" cy="419100"/>
          </a:xfrm>
          <a:prstGeom prst="roundRect">
            <a:avLst>
              <a:gd fmla="val 50000" name="adj"/>
            </a:avLst>
          </a:prstGeom>
          <a:solidFill>
            <a:srgbClr val="0C8C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37"/>
          <p:cNvSpPr/>
          <p:nvPr/>
        </p:nvSpPr>
        <p:spPr>
          <a:xfrm>
            <a:off x="1238250" y="704850"/>
            <a:ext cx="80263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LAB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37"/>
          <p:cNvSpPr/>
          <p:nvPr/>
        </p:nvSpPr>
        <p:spPr>
          <a:xfrm>
            <a:off x="1047750" y="1162050"/>
            <a:ext cx="6833295" cy="5828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667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900"/>
              <a:buFont typeface="Plus Jakarta Sans"/>
              <a:buNone/>
            </a:pPr>
            <a:r>
              <a:rPr b="1" i="0" lang="en-US" sz="39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Lab 3: controlled failure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37"/>
          <p:cNvSpPr/>
          <p:nvPr/>
        </p:nvSpPr>
        <p:spPr>
          <a:xfrm>
            <a:off x="1047750" y="1840111"/>
            <a:ext cx="6833295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35 minutes — predictions in ink before anything dies.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7" name="Google Shape;109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60960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8" name="Google Shape;1098;p37"/>
          <p:cNvSpPr/>
          <p:nvPr/>
        </p:nvSpPr>
        <p:spPr>
          <a:xfrm>
            <a:off x="1047750" y="2415332"/>
            <a:ext cx="16192500" cy="1028700"/>
          </a:xfrm>
          <a:prstGeom prst="roundRect">
            <a:avLst>
              <a:gd fmla="val 14815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37"/>
          <p:cNvSpPr/>
          <p:nvPr/>
        </p:nvSpPr>
        <p:spPr>
          <a:xfrm>
            <a:off x="1371600" y="2605832"/>
            <a:ext cx="1709928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5E4"/>
              </a:buClr>
              <a:buSzPts val="1800"/>
              <a:buFont typeface="Inter"/>
              <a:buNone/>
            </a:pPr>
            <a:r>
              <a:rPr lang="en-US" sz="1800">
                <a:solidFill>
                  <a:srgbClr val="B9B5E4"/>
                </a:solidFill>
                <a:latin typeface="Inter"/>
                <a:ea typeface="Inter"/>
                <a:cs typeface="Inter"/>
                <a:sym typeface="Inter"/>
              </a:rPr>
              <a:t>Acme</a:t>
            </a:r>
            <a:r>
              <a:rPr b="0" i="0" lang="en-US" sz="1800" u="none" cap="none" strike="noStrike">
                <a:solidFill>
                  <a:srgbClr val="B9B5E4"/>
                </a:solidFill>
                <a:latin typeface="Inter"/>
                <a:ea typeface="Inter"/>
                <a:cs typeface="Inter"/>
                <a:sym typeface="Inter"/>
              </a:rPr>
              <a:t>'s change board (illustrative) wants evidence, not folklore: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37"/>
          <p:cNvSpPr/>
          <p:nvPr/>
        </p:nvSpPr>
        <p:spPr>
          <a:xfrm>
            <a:off x="1371600" y="2920157"/>
            <a:ext cx="1709928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"Kill one of three replicas. Predict first. Watch it heal."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37"/>
          <p:cNvSpPr/>
          <p:nvPr/>
        </p:nvSpPr>
        <p:spPr>
          <a:xfrm>
            <a:off x="1047750" y="3672632"/>
            <a:ext cx="5219700" cy="4770388"/>
          </a:xfrm>
          <a:prstGeom prst="roundRect">
            <a:avLst>
              <a:gd fmla="val 359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37"/>
          <p:cNvSpPr/>
          <p:nvPr/>
        </p:nvSpPr>
        <p:spPr>
          <a:xfrm>
            <a:off x="1047750" y="3672632"/>
            <a:ext cx="5219700" cy="95250"/>
          </a:xfrm>
          <a:prstGeom prst="rect">
            <a:avLst/>
          </a:prstGeom>
          <a:solidFill>
            <a:srgbClr val="E9E1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37"/>
          <p:cNvSpPr/>
          <p:nvPr/>
        </p:nvSpPr>
        <p:spPr>
          <a:xfrm>
            <a:off x="1352550" y="4034582"/>
            <a:ext cx="507111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 · Predict (to min 6)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37"/>
          <p:cNvSpPr/>
          <p:nvPr/>
        </p:nvSpPr>
        <p:spPr>
          <a:xfrm>
            <a:off x="1352550" y="4472732"/>
            <a:ext cx="507111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Six cells, in ink, with reasons.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37"/>
          <p:cNvSpPr/>
          <p:nvPr/>
        </p:nvSpPr>
        <p:spPr>
          <a:xfrm>
            <a:off x="1352550" y="4863257"/>
            <a:ext cx="4748403" cy="1454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RF 3, one replica down Writes at ONE / QUORUM / ALL? Reads at ONE / QUORUM / ALL? Justify each with r + w &gt; 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37"/>
          <p:cNvSpPr/>
          <p:nvPr/>
        </p:nvSpPr>
        <p:spPr>
          <a:xfrm>
            <a:off x="6534150" y="3672632"/>
            <a:ext cx="5219700" cy="4770388"/>
          </a:xfrm>
          <a:prstGeom prst="roundRect">
            <a:avLst>
              <a:gd fmla="val 359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37"/>
          <p:cNvSpPr/>
          <p:nvPr/>
        </p:nvSpPr>
        <p:spPr>
          <a:xfrm>
            <a:off x="6534150" y="3672632"/>
            <a:ext cx="5219700" cy="95250"/>
          </a:xfrm>
          <a:prstGeom prst="rect">
            <a:avLst/>
          </a:prstGeom>
          <a:solidFill>
            <a:srgbClr val="61BD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37"/>
          <p:cNvSpPr/>
          <p:nvPr/>
        </p:nvSpPr>
        <p:spPr>
          <a:xfrm>
            <a:off x="6838950" y="4034582"/>
            <a:ext cx="507111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 · Break &amp; observe (to 16)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37"/>
          <p:cNvSpPr/>
          <p:nvPr/>
        </p:nvSpPr>
        <p:spPr>
          <a:xfrm>
            <a:off x="6838950" y="4472732"/>
            <a:ext cx="507111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instructor: chaos kill weaviate-1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37"/>
          <p:cNvSpPr/>
          <p:nvPr/>
        </p:nvSpPr>
        <p:spPr>
          <a:xfrm>
            <a:off x="6838950" y="4863257"/>
            <a:ext cx="4748403" cy="1454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You: write-drill Note the simulation banner make verify — which checks fail? Record outcomes beside predictions Never kill a second node (quorum)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37"/>
          <p:cNvSpPr/>
          <p:nvPr/>
        </p:nvSpPr>
        <p:spPr>
          <a:xfrm>
            <a:off x="12020550" y="3672632"/>
            <a:ext cx="5219700" cy="4770388"/>
          </a:xfrm>
          <a:prstGeom prst="roundRect">
            <a:avLst>
              <a:gd fmla="val 359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37"/>
          <p:cNvSpPr/>
          <p:nvPr/>
        </p:nvSpPr>
        <p:spPr>
          <a:xfrm>
            <a:off x="12020550" y="3672632"/>
            <a:ext cx="5219700" cy="95250"/>
          </a:xfrm>
          <a:prstGeom prst="rect">
            <a:avLst/>
          </a:prstGeom>
          <a:solidFill>
            <a:srgbClr val="0E6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37"/>
          <p:cNvSpPr/>
          <p:nvPr/>
        </p:nvSpPr>
        <p:spPr>
          <a:xfrm>
            <a:off x="12325350" y="4034582"/>
            <a:ext cx="507111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 · Recover &amp; verify (to 30)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37"/>
          <p:cNvSpPr/>
          <p:nvPr/>
        </p:nvSpPr>
        <p:spPr>
          <a:xfrm>
            <a:off x="12325350" y="4472732"/>
            <a:ext cx="507111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chaos restore · convergence watcher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37"/>
          <p:cNvSpPr/>
          <p:nvPr/>
        </p:nvSpPr>
        <p:spPr>
          <a:xfrm>
            <a:off x="12325350" y="4863257"/>
            <a:ext cx="4748403" cy="1454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Watch queue depth fall to zero Read repair or async replication? Failover-vs-DR boundary paragraph Score predictions: reasoning &gt; luck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37"/>
          <p:cNvSpPr/>
          <p:nvPr/>
        </p:nvSpPr>
        <p:spPr>
          <a:xfrm>
            <a:off x="1047750" y="8671620"/>
            <a:ext cx="16192500" cy="1081980"/>
          </a:xfrm>
          <a:prstGeom prst="roundRect">
            <a:avLst>
              <a:gd fmla="val 14085" name="adj"/>
            </a:avLst>
          </a:prstGeom>
          <a:solidFill>
            <a:srgbClr val="FBE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37"/>
          <p:cNvSpPr/>
          <p:nvPr/>
        </p:nvSpPr>
        <p:spPr>
          <a:xfrm>
            <a:off x="1371600" y="8881170"/>
            <a:ext cx="215689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9340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this matters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37"/>
          <p:cNvSpPr/>
          <p:nvPr/>
        </p:nvSpPr>
        <p:spPr>
          <a:xfrm>
            <a:off x="3541961" y="8881170"/>
            <a:ext cx="13775673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4A2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7A4A26"/>
                </a:solidFill>
                <a:latin typeface="Inter"/>
                <a:ea typeface="Inter"/>
                <a:cs typeface="Inter"/>
                <a:sym typeface="Inter"/>
              </a:rPr>
              <a:t>Safety boundary: one compose stop approximates pod/node loss. It is a labeled simulation — not AZ loss, not a partition — and nothing in this lab is a backup. Quorum-loss demo is instructor-only.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38"/>
          <p:cNvSpPr/>
          <p:nvPr/>
        </p:nvSpPr>
        <p:spPr>
          <a:xfrm>
            <a:off x="1047750" y="609600"/>
            <a:ext cx="9014579" cy="5828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667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900"/>
              <a:buFont typeface="Plus Jakarta Sans"/>
              <a:buNone/>
            </a:pPr>
            <a:r>
              <a:rPr b="1" i="0" lang="en-US" sz="39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Failover happened. DR didn't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38"/>
          <p:cNvSpPr/>
          <p:nvPr/>
        </p:nvSpPr>
        <p:spPr>
          <a:xfrm>
            <a:off x="1047750" y="1268611"/>
            <a:ext cx="9014579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Debrief: what today's self-healing proved — and what it cannot prove.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6" name="Google Shape;112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60960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38"/>
          <p:cNvSpPr/>
          <p:nvPr/>
        </p:nvSpPr>
        <p:spPr>
          <a:xfrm>
            <a:off x="1047750" y="1843832"/>
            <a:ext cx="16192500" cy="1343025"/>
          </a:xfrm>
          <a:prstGeom prst="roundRect">
            <a:avLst>
              <a:gd fmla="val 11348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38"/>
          <p:cNvSpPr/>
          <p:nvPr/>
        </p:nvSpPr>
        <p:spPr>
          <a:xfrm>
            <a:off x="1371600" y="2034332"/>
            <a:ext cx="1709928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5E4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B9B5E4"/>
                </a:solidFill>
                <a:latin typeface="Inter"/>
                <a:ea typeface="Inter"/>
                <a:cs typeface="Inter"/>
                <a:sym typeface="Inter"/>
              </a:rPr>
              <a:t>Prediction vs observation — reasoning weighs more than the guess: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38"/>
          <p:cNvSpPr/>
          <p:nvPr/>
        </p:nvSpPr>
        <p:spPr>
          <a:xfrm>
            <a:off x="1371600" y="2348657"/>
            <a:ext cx="1709928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"The cluster healed itself. So we're covered — right?"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38"/>
          <p:cNvSpPr/>
          <p:nvPr/>
        </p:nvSpPr>
        <p:spPr>
          <a:xfrm>
            <a:off x="1371600" y="2720132"/>
            <a:ext cx="1709928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A6D53B"/>
                </a:solidFill>
                <a:latin typeface="Inter"/>
                <a:ea typeface="Inter"/>
                <a:cs typeface="Inter"/>
                <a:sym typeface="Inter"/>
              </a:rPr>
              <a:t>Covered for availability. Not covered for recovery. Different products.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38"/>
          <p:cNvSpPr/>
          <p:nvPr/>
        </p:nvSpPr>
        <p:spPr>
          <a:xfrm>
            <a:off x="1047750" y="3415457"/>
            <a:ext cx="7953375" cy="5027563"/>
          </a:xfrm>
          <a:prstGeom prst="roundRect">
            <a:avLst>
              <a:gd fmla="val 3410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38"/>
          <p:cNvSpPr/>
          <p:nvPr/>
        </p:nvSpPr>
        <p:spPr>
          <a:xfrm>
            <a:off x="1352550" y="3663107"/>
            <a:ext cx="807815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2B5E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failover proved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38"/>
          <p:cNvSpPr/>
          <p:nvPr/>
        </p:nvSpPr>
        <p:spPr>
          <a:xfrm>
            <a:off x="1352550" y="4091732"/>
            <a:ext cx="807815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ALL failed during the outage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38"/>
          <p:cNvSpPr/>
          <p:nvPr/>
        </p:nvSpPr>
        <p:spPr>
          <a:xfrm>
            <a:off x="1352550" y="4367957"/>
            <a:ext cx="8078153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5C7A4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C7A46"/>
                </a:solidFill>
                <a:latin typeface="Inter"/>
                <a:ea typeface="Inter"/>
                <a:cs typeface="Inter"/>
                <a:sym typeface="Inter"/>
              </a:rPr>
              <a:t>a coordinator error — not a dead cluster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38"/>
          <p:cNvSpPr/>
          <p:nvPr/>
        </p:nvSpPr>
        <p:spPr>
          <a:xfrm>
            <a:off x="1352550" y="4750743"/>
            <a:ext cx="807815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ONE kept "working"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38"/>
          <p:cNvSpPr/>
          <p:nvPr/>
        </p:nvSpPr>
        <p:spPr>
          <a:xfrm>
            <a:off x="1352550" y="5026968"/>
            <a:ext cx="8078153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5C7A4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C7A46"/>
                </a:solidFill>
                <a:latin typeface="Inter"/>
                <a:ea typeface="Inter"/>
                <a:cs typeface="Inter"/>
                <a:sym typeface="Inter"/>
              </a:rPr>
              <a:t>you measured availability, not consistency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38"/>
          <p:cNvSpPr/>
          <p:nvPr/>
        </p:nvSpPr>
        <p:spPr>
          <a:xfrm>
            <a:off x="1352550" y="5409754"/>
            <a:ext cx="807815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Convergence was observable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38"/>
          <p:cNvSpPr/>
          <p:nvPr/>
        </p:nvSpPr>
        <p:spPr>
          <a:xfrm>
            <a:off x="1352550" y="5685979"/>
            <a:ext cx="8078153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5C7A4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C7A46"/>
                </a:solidFill>
                <a:latin typeface="Inter"/>
                <a:ea typeface="Inter"/>
                <a:cs typeface="Inter"/>
                <a:sym typeface="Inter"/>
              </a:rPr>
              <a:t>queue depth spiked, then flattened to zero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38"/>
          <p:cNvSpPr/>
          <p:nvPr/>
        </p:nvSpPr>
        <p:spPr>
          <a:xfrm>
            <a:off x="1352550" y="6068764"/>
            <a:ext cx="807815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Metadata plane never blinked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38"/>
          <p:cNvSpPr/>
          <p:nvPr/>
        </p:nvSpPr>
        <p:spPr>
          <a:xfrm>
            <a:off x="1352550" y="6344989"/>
            <a:ext cx="8078153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5C7A4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C7A46"/>
                </a:solidFill>
                <a:latin typeface="Inter"/>
                <a:ea typeface="Inter"/>
                <a:cs typeface="Inter"/>
                <a:sym typeface="Inter"/>
              </a:rPr>
              <a:t>Raft quorum held at 2 of 3 voters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38"/>
          <p:cNvSpPr/>
          <p:nvPr/>
        </p:nvSpPr>
        <p:spPr>
          <a:xfrm>
            <a:off x="9286875" y="3415457"/>
            <a:ext cx="7953375" cy="5027563"/>
          </a:xfrm>
          <a:prstGeom prst="roundRect">
            <a:avLst>
              <a:gd fmla="val 3410" name="adj"/>
            </a:avLst>
          </a:prstGeom>
          <a:solidFill>
            <a:srgbClr val="FBE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38"/>
          <p:cNvSpPr/>
          <p:nvPr/>
        </p:nvSpPr>
        <p:spPr>
          <a:xfrm>
            <a:off x="9591675" y="3663107"/>
            <a:ext cx="807815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9340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it did not prove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38"/>
          <p:cNvSpPr/>
          <p:nvPr/>
        </p:nvSpPr>
        <p:spPr>
          <a:xfrm>
            <a:off x="9591675" y="4091732"/>
            <a:ext cx="807815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93400F"/>
                </a:solidFill>
                <a:latin typeface="Inter"/>
                <a:ea typeface="Inter"/>
                <a:cs typeface="Inter"/>
                <a:sym typeface="Inter"/>
              </a:rPr>
              <a:t>AZ resilience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38"/>
          <p:cNvSpPr/>
          <p:nvPr/>
        </p:nvSpPr>
        <p:spPr>
          <a:xfrm>
            <a:off x="9591675" y="4367957"/>
            <a:ext cx="8078153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7A4A2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7A4A26"/>
                </a:solidFill>
                <a:latin typeface="Inter"/>
                <a:ea typeface="Inter"/>
                <a:cs typeface="Inter"/>
                <a:sym typeface="Inter"/>
              </a:rPr>
              <a:t>one pod in a shared cluster ≠ AZ loss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38"/>
          <p:cNvSpPr/>
          <p:nvPr/>
        </p:nvSpPr>
        <p:spPr>
          <a:xfrm>
            <a:off x="9591675" y="4750743"/>
            <a:ext cx="807815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93400F"/>
                </a:solidFill>
                <a:latin typeface="Inter"/>
                <a:ea typeface="Inter"/>
                <a:cs typeface="Inter"/>
                <a:sym typeface="Inter"/>
              </a:rPr>
              <a:t>Point-in-time recovery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38"/>
          <p:cNvSpPr/>
          <p:nvPr/>
        </p:nvSpPr>
        <p:spPr>
          <a:xfrm>
            <a:off x="9591675" y="5026968"/>
            <a:ext cx="8078153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7A4A2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7A4A26"/>
                </a:solidFill>
                <a:latin typeface="Inter"/>
                <a:ea typeface="Inter"/>
                <a:cs typeface="Inter"/>
                <a:sym typeface="Inter"/>
              </a:rPr>
              <a:t>nothing rewinds a bad write or delete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38"/>
          <p:cNvSpPr/>
          <p:nvPr/>
        </p:nvSpPr>
        <p:spPr>
          <a:xfrm>
            <a:off x="9591675" y="5409754"/>
            <a:ext cx="807815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93400F"/>
                </a:solidFill>
                <a:latin typeface="Inter"/>
                <a:ea typeface="Inter"/>
                <a:cs typeface="Inter"/>
                <a:sym typeface="Inter"/>
              </a:rPr>
              <a:t>RPO 1 h / RTO 4 h (illustrative)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38"/>
          <p:cNvSpPr/>
          <p:nvPr/>
        </p:nvSpPr>
        <p:spPr>
          <a:xfrm>
            <a:off x="9591675" y="5685979"/>
            <a:ext cx="8078153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7A4A2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7A4A26"/>
                </a:solidFill>
                <a:latin typeface="Inter"/>
                <a:ea typeface="Inter"/>
                <a:cs typeface="Inter"/>
                <a:sym typeface="Inter"/>
              </a:rPr>
              <a:t>those need restore-tested backups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38"/>
          <p:cNvSpPr/>
          <p:nvPr/>
        </p:nvSpPr>
        <p:spPr>
          <a:xfrm>
            <a:off x="9591675" y="6068764"/>
            <a:ext cx="807815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93400F"/>
                </a:solidFill>
                <a:latin typeface="Inter"/>
                <a:ea typeface="Inter"/>
                <a:cs typeface="Inter"/>
                <a:sym typeface="Inter"/>
              </a:rPr>
              <a:t>Disaster recovery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38"/>
          <p:cNvSpPr/>
          <p:nvPr/>
        </p:nvSpPr>
        <p:spPr>
          <a:xfrm>
            <a:off x="9591675" y="6344989"/>
            <a:ext cx="8078153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7A4A2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7A4A26"/>
                </a:solidFill>
                <a:latin typeface="Inter"/>
                <a:ea typeface="Inter"/>
                <a:cs typeface="Inter"/>
                <a:sym typeface="Inter"/>
              </a:rPr>
              <a:t>replication ≠ backup — Segment 10 closes this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38"/>
          <p:cNvSpPr/>
          <p:nvPr/>
        </p:nvSpPr>
        <p:spPr>
          <a:xfrm>
            <a:off x="1047750" y="8671620"/>
            <a:ext cx="16192500" cy="1081980"/>
          </a:xfrm>
          <a:prstGeom prst="roundRect">
            <a:avLst>
              <a:gd fmla="val 14085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38"/>
          <p:cNvSpPr/>
          <p:nvPr/>
        </p:nvSpPr>
        <p:spPr>
          <a:xfrm>
            <a:off x="1371600" y="8881170"/>
            <a:ext cx="215689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0C8C5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this matters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38"/>
          <p:cNvSpPr/>
          <p:nvPr/>
        </p:nvSpPr>
        <p:spPr>
          <a:xfrm>
            <a:off x="3541961" y="8881170"/>
            <a:ext cx="13775673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First strike of a point taught twice today: what converged was availability repair. A backup you haven't restored is a hypothesis — Segment 10 makes that a discipline.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0C49"/>
        </a:solidFill>
      </p:bgPr>
    </p:bg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59" name="Google Shape;1159;p39"/>
          <p:cNvPicPr preferRelativeResize="0"/>
          <p:nvPr/>
        </p:nvPicPr>
        <p:blipFill rotWithShape="1">
          <a:blip r:embed="rId3">
            <a:alphaModFix/>
          </a:blip>
          <a:srcRect b="0" l="87" r="87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39"/>
          <p:cNvSpPr/>
          <p:nvPr/>
        </p:nvSpPr>
        <p:spPr>
          <a:xfrm>
            <a:off x="1047750" y="952500"/>
            <a:ext cx="1361289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75"/>
              <a:buFont typeface="Inter"/>
              <a:buNone/>
            </a:pPr>
            <a:r>
              <a:rPr b="1" i="0" lang="en-US" sz="1875" u="none" cap="none" strike="noStrike">
                <a:solidFill>
                  <a:srgbClr val="A6D53B"/>
                </a:solidFill>
                <a:latin typeface="Inter"/>
                <a:ea typeface="Inter"/>
                <a:cs typeface="Inter"/>
                <a:sym typeface="Inter"/>
              </a:rPr>
              <a:t>SEGMENT 8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39"/>
          <p:cNvSpPr/>
          <p:nvPr/>
        </p:nvSpPr>
        <p:spPr>
          <a:xfrm>
            <a:off x="1047750" y="1381125"/>
            <a:ext cx="13612892" cy="8198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Plus Jakarta Sans"/>
              <a:buNone/>
            </a:pPr>
            <a:r>
              <a:rPr b="1" i="0" lang="en-US" sz="57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See it before it pages you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39"/>
          <p:cNvSpPr/>
          <p:nvPr/>
        </p:nvSpPr>
        <p:spPr>
          <a:xfrm>
            <a:off x="1047750" y="2353419"/>
            <a:ext cx="13612892" cy="4385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143"/>
              </a:lnSpc>
              <a:spcBef>
                <a:spcPts val="0"/>
              </a:spcBef>
              <a:spcAft>
                <a:spcPts val="0"/>
              </a:spcAft>
              <a:buClr>
                <a:srgbClr val="C9C6E8"/>
              </a:buClr>
              <a:buSzPts val="2175"/>
              <a:buFont typeface="Inter"/>
              <a:buNone/>
            </a:pPr>
            <a:r>
              <a:rPr b="0" i="0" lang="en-US" sz="2175" u="none" cap="none" strike="noStrike">
                <a:solidFill>
                  <a:srgbClr val="C9C6E8"/>
                </a:solidFill>
                <a:latin typeface="Inter"/>
                <a:ea typeface="Inter"/>
                <a:cs typeface="Inter"/>
                <a:sym typeface="Inter"/>
              </a:rPr>
              <a:t>Segment 8 · Observability &amp; advanced troubleshooting — you can't defend what you can't see.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63" name="Google Shape;1163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11563" y="952500"/>
            <a:ext cx="928688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4" name="Google Shape;1164;p39"/>
          <p:cNvSpPr/>
          <p:nvPr/>
        </p:nvSpPr>
        <p:spPr>
          <a:xfrm>
            <a:off x="1047750" y="3287316"/>
            <a:ext cx="5168801" cy="6142434"/>
          </a:xfrm>
          <a:prstGeom prst="roundRect">
            <a:avLst>
              <a:gd fmla="val 3686" name="adj"/>
            </a:avLst>
          </a:prstGeom>
          <a:solidFill>
            <a:srgbClr val="FFFFFF">
              <a:alpha val="7059"/>
            </a:srgbClr>
          </a:solidFill>
          <a:ln cap="flat" cmpd="sng" w="9525">
            <a:solidFill>
              <a:srgbClr val="FFFFF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39"/>
          <p:cNvSpPr/>
          <p:nvPr/>
        </p:nvSpPr>
        <p:spPr>
          <a:xfrm>
            <a:off x="1476375" y="3677841"/>
            <a:ext cx="444089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Golden signals, spoken in Weaviate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39"/>
          <p:cNvSpPr/>
          <p:nvPr/>
        </p:nvSpPr>
        <p:spPr>
          <a:xfrm>
            <a:off x="1476375" y="4573191"/>
            <a:ext cx="4440897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4E2F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E4E2F5"/>
                </a:solidFill>
                <a:latin typeface="Inter"/>
                <a:ea typeface="Inter"/>
                <a:cs typeface="Inter"/>
                <a:sym typeface="Inter"/>
              </a:rPr>
              <a:t>Latency, traffic, errors, saturation still apply — but here saturation means memory, GC pressure, disk headroom, and index queues.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39"/>
          <p:cNvSpPr/>
          <p:nvPr/>
        </p:nvSpPr>
        <p:spPr>
          <a:xfrm>
            <a:off x="6559451" y="3287316"/>
            <a:ext cx="5168950" cy="6142434"/>
          </a:xfrm>
          <a:prstGeom prst="roundRect">
            <a:avLst>
              <a:gd fmla="val 3685" name="adj"/>
            </a:avLst>
          </a:prstGeom>
          <a:solidFill>
            <a:srgbClr val="FFFFFF">
              <a:alpha val="7059"/>
            </a:srgbClr>
          </a:solidFill>
          <a:ln cap="flat" cmpd="sng" w="9525">
            <a:solidFill>
              <a:srgbClr val="FFFFF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39"/>
          <p:cNvSpPr/>
          <p:nvPr/>
        </p:nvSpPr>
        <p:spPr>
          <a:xfrm>
            <a:off x="6988076" y="3677841"/>
            <a:ext cx="474287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Alerts page on symptoms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39"/>
          <p:cNvSpPr/>
          <p:nvPr/>
        </p:nvSpPr>
        <p:spPr>
          <a:xfrm>
            <a:off x="6988076" y="4211241"/>
            <a:ext cx="4441051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4E2F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E4E2F5"/>
                </a:solidFill>
                <a:latin typeface="Inter"/>
                <a:ea typeface="Inter"/>
                <a:cs typeface="Inter"/>
                <a:sym typeface="Inter"/>
              </a:rPr>
              <a:t>SLO burn and leading indicators page a human. Cause metrics belong on dashboards — the fewer, better alerts survive triage.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39"/>
          <p:cNvSpPr/>
          <p:nvPr/>
        </p:nvSpPr>
        <p:spPr>
          <a:xfrm>
            <a:off x="12071300" y="3287316"/>
            <a:ext cx="5168950" cy="6142434"/>
          </a:xfrm>
          <a:prstGeom prst="roundRect">
            <a:avLst>
              <a:gd fmla="val 3685" name="adj"/>
            </a:avLst>
          </a:prstGeom>
          <a:solidFill>
            <a:srgbClr val="FFFFFF">
              <a:alpha val="7059"/>
            </a:srgbClr>
          </a:solidFill>
          <a:ln cap="flat" cmpd="sng" w="9525">
            <a:solidFill>
              <a:srgbClr val="FFFFF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39"/>
          <p:cNvSpPr/>
          <p:nvPr/>
        </p:nvSpPr>
        <p:spPr>
          <a:xfrm>
            <a:off x="12499925" y="3677841"/>
            <a:ext cx="474287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Evidence before hypothesis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39"/>
          <p:cNvSpPr/>
          <p:nvPr/>
        </p:nvSpPr>
        <p:spPr>
          <a:xfrm>
            <a:off x="12499925" y="4211241"/>
            <a:ext cx="4441051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4E2F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E4E2F5"/>
                </a:solidFill>
                <a:latin typeface="Inter"/>
                <a:ea typeface="Inter"/>
                <a:cs typeface="Inter"/>
                <a:sym typeface="Inter"/>
              </a:rPr>
              <a:t>An 8-step workflow turns "it's slow" into a mechanism you can name. Lab 4 runs it against a live incident.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40"/>
          <p:cNvSpPr/>
          <p:nvPr/>
        </p:nvSpPr>
        <p:spPr>
          <a:xfrm>
            <a:off x="952500" y="571500"/>
            <a:ext cx="1561245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30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750"/>
              <a:buFont typeface="Plus Jakarta Sans"/>
              <a:buNone/>
            </a:pPr>
            <a:r>
              <a:rPr b="1" i="0" lang="en-US" sz="37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From golden signals to Weaviate signals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40"/>
          <p:cNvSpPr/>
          <p:nvPr/>
        </p:nvSpPr>
        <p:spPr>
          <a:xfrm>
            <a:off x="952500" y="1190625"/>
            <a:ext cx="1561245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Symptoms on the rail up top; mechanisms below. Match the signal to its cause before you mitigate — Lab 4 assumes this map.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80" name="Google Shape;118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30638" y="57150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1" name="Google Shape;1181;p40"/>
          <p:cNvSpPr/>
          <p:nvPr/>
        </p:nvSpPr>
        <p:spPr>
          <a:xfrm>
            <a:off x="952500" y="1752600"/>
            <a:ext cx="3938588" cy="1289447"/>
          </a:xfrm>
          <a:prstGeom prst="roundRect">
            <a:avLst>
              <a:gd fmla="val 10342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40"/>
          <p:cNvSpPr/>
          <p:nvPr/>
        </p:nvSpPr>
        <p:spPr>
          <a:xfrm>
            <a:off x="1200150" y="1924050"/>
            <a:ext cx="378761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Latency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40"/>
          <p:cNvSpPr/>
          <p:nvPr/>
        </p:nvSpPr>
        <p:spPr>
          <a:xfrm>
            <a:off x="1200150" y="2276475"/>
            <a:ext cx="3787616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C9C6E8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C9C6E8"/>
                </a:solidFill>
                <a:latin typeface="Inter"/>
                <a:ea typeface="Inter"/>
                <a:cs typeface="Inter"/>
                <a:sym typeface="Inter"/>
              </a:rPr>
              <a:t>queries_durations_ms p95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40"/>
          <p:cNvSpPr/>
          <p:nvPr/>
        </p:nvSpPr>
        <p:spPr>
          <a:xfrm>
            <a:off x="5100638" y="1752600"/>
            <a:ext cx="3938588" cy="1289447"/>
          </a:xfrm>
          <a:prstGeom prst="roundRect">
            <a:avLst>
              <a:gd fmla="val 10342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40"/>
          <p:cNvSpPr/>
          <p:nvPr/>
        </p:nvSpPr>
        <p:spPr>
          <a:xfrm>
            <a:off x="5348288" y="1924050"/>
            <a:ext cx="378761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Traffic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40"/>
          <p:cNvSpPr/>
          <p:nvPr/>
        </p:nvSpPr>
        <p:spPr>
          <a:xfrm>
            <a:off x="5348288" y="2276475"/>
            <a:ext cx="3546586" cy="6322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C9C6E8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C9C6E8"/>
                </a:solidFill>
                <a:latin typeface="Inter"/>
                <a:ea typeface="Inter"/>
                <a:cs typeface="Inter"/>
                <a:sym typeface="Inter"/>
              </a:rPr>
              <a:t>requests_total · batch_size_objects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40"/>
          <p:cNvSpPr/>
          <p:nvPr/>
        </p:nvSpPr>
        <p:spPr>
          <a:xfrm>
            <a:off x="9248775" y="1752600"/>
            <a:ext cx="3938588" cy="1289447"/>
          </a:xfrm>
          <a:prstGeom prst="roundRect">
            <a:avLst>
              <a:gd fmla="val 10342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40"/>
          <p:cNvSpPr/>
          <p:nvPr/>
        </p:nvSpPr>
        <p:spPr>
          <a:xfrm>
            <a:off x="9496425" y="1924050"/>
            <a:ext cx="378761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Errors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40"/>
          <p:cNvSpPr/>
          <p:nvPr/>
        </p:nvSpPr>
        <p:spPr>
          <a:xfrm>
            <a:off x="9496425" y="2276475"/>
            <a:ext cx="3546586" cy="6322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C9C6E8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C9C6E8"/>
                </a:solidFill>
                <a:latin typeface="Inter"/>
                <a:ea typeface="Inter"/>
                <a:cs typeface="Inter"/>
                <a:sym typeface="Inter"/>
              </a:rPr>
              <a:t>requests_total 5xx · write failures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40"/>
          <p:cNvSpPr/>
          <p:nvPr/>
        </p:nvSpPr>
        <p:spPr>
          <a:xfrm>
            <a:off x="13396913" y="1752600"/>
            <a:ext cx="3938588" cy="1289447"/>
          </a:xfrm>
          <a:prstGeom prst="roundRect">
            <a:avLst>
              <a:gd fmla="val 10342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40"/>
          <p:cNvSpPr/>
          <p:nvPr/>
        </p:nvSpPr>
        <p:spPr>
          <a:xfrm>
            <a:off x="13644563" y="1924050"/>
            <a:ext cx="378761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Saturation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40"/>
          <p:cNvSpPr/>
          <p:nvPr/>
        </p:nvSpPr>
        <p:spPr>
          <a:xfrm>
            <a:off x="13644563" y="2276475"/>
            <a:ext cx="3787616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C9C6E8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C9C6E8"/>
                </a:solidFill>
                <a:latin typeface="Inter"/>
                <a:ea typeface="Inter"/>
                <a:cs typeface="Inter"/>
                <a:sym typeface="Inter"/>
              </a:rPr>
              <a:t>memory · GC · disk headroom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40"/>
          <p:cNvSpPr/>
          <p:nvPr/>
        </p:nvSpPr>
        <p:spPr>
          <a:xfrm>
            <a:off x="952500" y="3270647"/>
            <a:ext cx="5334000" cy="2706142"/>
          </a:xfrm>
          <a:prstGeom prst="roundRect">
            <a:avLst>
              <a:gd fmla="val 4928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40"/>
          <p:cNvSpPr/>
          <p:nvPr/>
        </p:nvSpPr>
        <p:spPr>
          <a:xfrm>
            <a:off x="1200150" y="3461147"/>
            <a:ext cx="532257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Async index queue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40"/>
          <p:cNvSpPr/>
          <p:nvPr/>
        </p:nvSpPr>
        <p:spPr>
          <a:xfrm>
            <a:off x="1200150" y="3823097"/>
            <a:ext cx="4983861" cy="6551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queue_size · queue_paused — backlog = freshness lag; paused = stopped, not slow.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40"/>
          <p:cNvSpPr/>
          <p:nvPr/>
        </p:nvSpPr>
        <p:spPr>
          <a:xfrm>
            <a:off x="6477000" y="3270647"/>
            <a:ext cx="5334000" cy="2706142"/>
          </a:xfrm>
          <a:prstGeom prst="roundRect">
            <a:avLst>
              <a:gd fmla="val 4928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40"/>
          <p:cNvSpPr/>
          <p:nvPr/>
        </p:nvSpPr>
        <p:spPr>
          <a:xfrm>
            <a:off x="6724650" y="3461147"/>
            <a:ext cx="532257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LSM &amp; compaction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40"/>
          <p:cNvSpPr/>
          <p:nvPr/>
        </p:nvSpPr>
        <p:spPr>
          <a:xfrm>
            <a:off x="6724650" y="3823097"/>
            <a:ext cx="4983861" cy="9636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lsm_active_segments · lsm_bucket_compaction_* — stalled compaction inflates read work.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40"/>
          <p:cNvSpPr/>
          <p:nvPr/>
        </p:nvSpPr>
        <p:spPr>
          <a:xfrm>
            <a:off x="12001500" y="3270647"/>
            <a:ext cx="5334000" cy="2706142"/>
          </a:xfrm>
          <a:prstGeom prst="roundRect">
            <a:avLst>
              <a:gd fmla="val 4928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40"/>
          <p:cNvSpPr/>
          <p:nvPr/>
        </p:nvSpPr>
        <p:spPr>
          <a:xfrm>
            <a:off x="12249150" y="3461147"/>
            <a:ext cx="532257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Tombstones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40"/>
          <p:cNvSpPr/>
          <p:nvPr/>
        </p:nvSpPr>
        <p:spPr>
          <a:xfrm>
            <a:off x="12249150" y="3823097"/>
            <a:ext cx="4983861" cy="6551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vector_index_tombstones — deletes decay latency until cleanup runs.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40"/>
          <p:cNvSpPr/>
          <p:nvPr/>
        </p:nvSpPr>
        <p:spPr>
          <a:xfrm>
            <a:off x="952500" y="6167289"/>
            <a:ext cx="5334000" cy="2706291"/>
          </a:xfrm>
          <a:prstGeom prst="roundRect">
            <a:avLst>
              <a:gd fmla="val 4927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40"/>
          <p:cNvSpPr/>
          <p:nvPr/>
        </p:nvSpPr>
        <p:spPr>
          <a:xfrm>
            <a:off x="1200150" y="6357789"/>
            <a:ext cx="532257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Read-only disk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40"/>
          <p:cNvSpPr/>
          <p:nvPr/>
        </p:nvSpPr>
        <p:spPr>
          <a:xfrm>
            <a:off x="1200150" y="6719739"/>
            <a:ext cx="4983861" cy="6551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kubelet_volume_stats_* — shards go read-only at disk thresholds, by design.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40"/>
          <p:cNvSpPr/>
          <p:nvPr/>
        </p:nvSpPr>
        <p:spPr>
          <a:xfrm>
            <a:off x="6477000" y="6167289"/>
            <a:ext cx="5334000" cy="2706291"/>
          </a:xfrm>
          <a:prstGeom prst="roundRect">
            <a:avLst>
              <a:gd fmla="val 4927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40"/>
          <p:cNvSpPr/>
          <p:nvPr/>
        </p:nvSpPr>
        <p:spPr>
          <a:xfrm>
            <a:off x="6724650" y="6357789"/>
            <a:ext cx="532257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GC &amp; memory pressure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40"/>
          <p:cNvSpPr/>
          <p:nvPr/>
        </p:nvSpPr>
        <p:spPr>
          <a:xfrm>
            <a:off x="6724650" y="6719739"/>
            <a:ext cx="4983861" cy="9636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container_memory_working_set_bytes — GC pauses ride p99; check GOMEMLIMIT and caches.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40"/>
          <p:cNvSpPr/>
          <p:nvPr/>
        </p:nvSpPr>
        <p:spPr>
          <a:xfrm>
            <a:off x="12001500" y="6167289"/>
            <a:ext cx="5334000" cy="2706291"/>
          </a:xfrm>
          <a:prstGeom prst="roundRect">
            <a:avLst>
              <a:gd fmla="val 4927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40"/>
          <p:cNvSpPr/>
          <p:nvPr/>
        </p:nvSpPr>
        <p:spPr>
          <a:xfrm>
            <a:off x="12249150" y="6357789"/>
            <a:ext cx="532257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Replication &amp; convergence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40"/>
          <p:cNvSpPr/>
          <p:nvPr/>
        </p:nvSpPr>
        <p:spPr>
          <a:xfrm>
            <a:off x="12249150" y="6719739"/>
            <a:ext cx="4983861" cy="9636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async_replication_scheduler_queue_depth · replication_read_repair_failure — sustained depth = divergence not healing.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40"/>
          <p:cNvSpPr/>
          <p:nvPr/>
        </p:nvSpPr>
        <p:spPr>
          <a:xfrm>
            <a:off x="952500" y="9102179"/>
            <a:ext cx="16383000" cy="670471"/>
          </a:xfrm>
          <a:prstGeom prst="roundRect">
            <a:avLst>
              <a:gd fmla="val 19889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40"/>
          <p:cNvSpPr/>
          <p:nvPr/>
        </p:nvSpPr>
        <p:spPr>
          <a:xfrm>
            <a:off x="1200150" y="9273629"/>
            <a:ext cx="200709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2B5E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Backup activity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40"/>
          <p:cNvSpPr/>
          <p:nvPr/>
        </p:nvSpPr>
        <p:spPr>
          <a:xfrm>
            <a:off x="3177183" y="9292679"/>
            <a:ext cx="8802901" cy="3466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3E5A2B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E5A2B"/>
                </a:solidFill>
                <a:latin typeface="Inter"/>
                <a:ea typeface="Inter"/>
                <a:cs typeface="Inter"/>
                <a:sym typeface="Inter"/>
              </a:rPr>
              <a:t>backup_store_to_backend_ms — 25 h of silence = growing RPO exposure.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41"/>
          <p:cNvSpPr/>
          <p:nvPr/>
        </p:nvSpPr>
        <p:spPr>
          <a:xfrm>
            <a:off x="952500" y="628650"/>
            <a:ext cx="15716250" cy="5828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667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900"/>
              <a:buFont typeface="Plus Jakarta Sans"/>
              <a:buNone/>
            </a:pPr>
            <a:r>
              <a:rPr b="1" i="0" lang="en-US" sz="39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earns dashboard space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41"/>
          <p:cNvSpPr/>
          <p:nvPr/>
        </p:nvSpPr>
        <p:spPr>
          <a:xfrm>
            <a:off x="952500" y="1287661"/>
            <a:ext cx="1471612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Panels answer questions. At 1.2 k tenants (illustrative), set PROMETHEUS_MONITORING_GROUP=true — or per-tenant labels eat Prometheus first.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1" name="Google Shape;122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30638" y="62865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41"/>
          <p:cNvSpPr/>
          <p:nvPr/>
        </p:nvSpPr>
        <p:spPr>
          <a:xfrm>
            <a:off x="952500" y="2278261"/>
            <a:ext cx="4259461" cy="880021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41"/>
          <p:cNvSpPr/>
          <p:nvPr/>
        </p:nvSpPr>
        <p:spPr>
          <a:xfrm>
            <a:off x="1162050" y="2430661"/>
            <a:ext cx="3968145" cy="613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question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41"/>
          <p:cNvSpPr/>
          <p:nvPr/>
        </p:nvSpPr>
        <p:spPr>
          <a:xfrm>
            <a:off x="5211961" y="2278261"/>
            <a:ext cx="6553200" cy="880021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41"/>
          <p:cNvSpPr/>
          <p:nvPr/>
        </p:nvSpPr>
        <p:spPr>
          <a:xfrm>
            <a:off x="5421511" y="2430661"/>
            <a:ext cx="6330696" cy="613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Metrics (shipped names)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41"/>
          <p:cNvSpPr/>
          <p:nvPr/>
        </p:nvSpPr>
        <p:spPr>
          <a:xfrm>
            <a:off x="11765161" y="2278261"/>
            <a:ext cx="5570339" cy="880021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41"/>
          <p:cNvSpPr/>
          <p:nvPr/>
        </p:nvSpPr>
        <p:spPr>
          <a:xfrm>
            <a:off x="11974711" y="2430661"/>
            <a:ext cx="5318349" cy="613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it earns the pixels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41"/>
          <p:cNvSpPr/>
          <p:nvPr/>
        </p:nvSpPr>
        <p:spPr>
          <a:xfrm>
            <a:off x="952500" y="4453533"/>
            <a:ext cx="4259461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41"/>
          <p:cNvSpPr/>
          <p:nvPr/>
        </p:nvSpPr>
        <p:spPr>
          <a:xfrm>
            <a:off x="1162050" y="3282107"/>
            <a:ext cx="3968145" cy="10857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Are we serving within SLO?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41"/>
          <p:cNvSpPr/>
          <p:nvPr/>
        </p:nvSpPr>
        <p:spPr>
          <a:xfrm>
            <a:off x="5211961" y="4453533"/>
            <a:ext cx="65532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41"/>
          <p:cNvSpPr/>
          <p:nvPr/>
        </p:nvSpPr>
        <p:spPr>
          <a:xfrm>
            <a:off x="5421511" y="3282107"/>
            <a:ext cx="6330696" cy="10857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Courier New"/>
                <a:ea typeface="Courier New"/>
                <a:cs typeface="Courier New"/>
                <a:sym typeface="Courier New"/>
              </a:rPr>
              <a:t>queries_durations_ms · requests_total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41"/>
          <p:cNvSpPr/>
          <p:nvPr/>
        </p:nvSpPr>
        <p:spPr>
          <a:xfrm>
            <a:off x="11765161" y="4453533"/>
            <a:ext cx="5570339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41"/>
          <p:cNvSpPr/>
          <p:nvPr/>
        </p:nvSpPr>
        <p:spPr>
          <a:xfrm>
            <a:off x="11974711" y="3282107"/>
            <a:ext cx="5318349" cy="10857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p95 versus target and error share — the two panels that page a human.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41"/>
          <p:cNvSpPr/>
          <p:nvPr/>
        </p:nvSpPr>
        <p:spPr>
          <a:xfrm>
            <a:off x="952500" y="5765304"/>
            <a:ext cx="4259461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41"/>
          <p:cNvSpPr/>
          <p:nvPr/>
        </p:nvSpPr>
        <p:spPr>
          <a:xfrm>
            <a:off x="1162050" y="4586883"/>
            <a:ext cx="3968145" cy="10926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Is search fresh?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41"/>
          <p:cNvSpPr/>
          <p:nvPr/>
        </p:nvSpPr>
        <p:spPr>
          <a:xfrm>
            <a:off x="5211961" y="5765304"/>
            <a:ext cx="65532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41"/>
          <p:cNvSpPr/>
          <p:nvPr/>
        </p:nvSpPr>
        <p:spPr>
          <a:xfrm>
            <a:off x="5421511" y="4586883"/>
            <a:ext cx="6330696" cy="10926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Courier New"/>
                <a:ea typeface="Courier New"/>
                <a:cs typeface="Courier New"/>
                <a:sym typeface="Courier New"/>
              </a:rPr>
              <a:t>queue_size · queue_paused · vectorQueueLength (nodes API)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41"/>
          <p:cNvSpPr/>
          <p:nvPr/>
        </p:nvSpPr>
        <p:spPr>
          <a:xfrm>
            <a:off x="11765161" y="5765304"/>
            <a:ext cx="5570339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41"/>
          <p:cNvSpPr/>
          <p:nvPr/>
        </p:nvSpPr>
        <p:spPr>
          <a:xfrm>
            <a:off x="11974711" y="4586883"/>
            <a:ext cx="5318349" cy="10926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The async-indexing backlog: objects visible by ID but not yet vector-searchable.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41"/>
          <p:cNvSpPr/>
          <p:nvPr/>
        </p:nvSpPr>
        <p:spPr>
          <a:xfrm>
            <a:off x="952500" y="7077075"/>
            <a:ext cx="4259461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41"/>
          <p:cNvSpPr/>
          <p:nvPr/>
        </p:nvSpPr>
        <p:spPr>
          <a:xfrm>
            <a:off x="1162050" y="5898654"/>
            <a:ext cx="3968145" cy="10926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Is ingest healthy?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41"/>
          <p:cNvSpPr/>
          <p:nvPr/>
        </p:nvSpPr>
        <p:spPr>
          <a:xfrm>
            <a:off x="5211961" y="7077075"/>
            <a:ext cx="65532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41"/>
          <p:cNvSpPr/>
          <p:nvPr/>
        </p:nvSpPr>
        <p:spPr>
          <a:xfrm>
            <a:off x="5421511" y="5898654"/>
            <a:ext cx="6330696" cy="10926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Courier New"/>
                <a:ea typeface="Courier New"/>
                <a:cs typeface="Courier New"/>
                <a:sym typeface="Courier New"/>
              </a:rPr>
              <a:t>batch_durations_ms · batch_size_objects · t2v_request_duration_seconds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41"/>
          <p:cNvSpPr/>
          <p:nvPr/>
        </p:nvSpPr>
        <p:spPr>
          <a:xfrm>
            <a:off x="11765161" y="7077075"/>
            <a:ext cx="5570339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41"/>
          <p:cNvSpPr/>
          <p:nvPr/>
        </p:nvSpPr>
        <p:spPr>
          <a:xfrm>
            <a:off x="11974711" y="5898654"/>
            <a:ext cx="5318349" cy="10926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Attributes ingest time across batch → vectorizer → LSM → index-queue stages.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41"/>
          <p:cNvSpPr/>
          <p:nvPr/>
        </p:nvSpPr>
        <p:spPr>
          <a:xfrm>
            <a:off x="952500" y="8388846"/>
            <a:ext cx="4259461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41"/>
          <p:cNvSpPr/>
          <p:nvPr/>
        </p:nvSpPr>
        <p:spPr>
          <a:xfrm>
            <a:off x="1162050" y="7210425"/>
            <a:ext cx="3968145" cy="10926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Converging? Backed up?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41"/>
          <p:cNvSpPr/>
          <p:nvPr/>
        </p:nvSpPr>
        <p:spPr>
          <a:xfrm>
            <a:off x="5211961" y="8388846"/>
            <a:ext cx="65532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41"/>
          <p:cNvSpPr/>
          <p:nvPr/>
        </p:nvSpPr>
        <p:spPr>
          <a:xfrm>
            <a:off x="5421511" y="7210425"/>
            <a:ext cx="6330696" cy="10926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Courier New"/>
                <a:ea typeface="Courier New"/>
                <a:cs typeface="Courier New"/>
                <a:sym typeface="Courier New"/>
              </a:rPr>
              <a:t>async_replication_scheduler_queue_depth · backup_store_to_backend_ms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41"/>
          <p:cNvSpPr/>
          <p:nvPr/>
        </p:nvSpPr>
        <p:spPr>
          <a:xfrm>
            <a:off x="11765161" y="8388846"/>
            <a:ext cx="5570339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41"/>
          <p:cNvSpPr/>
          <p:nvPr/>
        </p:nvSpPr>
        <p:spPr>
          <a:xfrm>
            <a:off x="11974711" y="7210425"/>
            <a:ext cx="5318349" cy="10926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Sustained scheduler depth = divergence; 25 h of backup silence = RPO exposure.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41"/>
          <p:cNvSpPr/>
          <p:nvPr/>
        </p:nvSpPr>
        <p:spPr>
          <a:xfrm>
            <a:off x="952500" y="9701213"/>
            <a:ext cx="4259461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41"/>
          <p:cNvSpPr/>
          <p:nvPr/>
        </p:nvSpPr>
        <p:spPr>
          <a:xfrm>
            <a:off x="1162050" y="8522196"/>
            <a:ext cx="3968145" cy="10932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Did config change under us?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41"/>
          <p:cNvSpPr/>
          <p:nvPr/>
        </p:nvSpPr>
        <p:spPr>
          <a:xfrm>
            <a:off x="5211961" y="9701213"/>
            <a:ext cx="65532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41"/>
          <p:cNvSpPr/>
          <p:nvPr/>
        </p:nvSpPr>
        <p:spPr>
          <a:xfrm>
            <a:off x="5421511" y="8522196"/>
            <a:ext cx="6330696" cy="10932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Courier New"/>
                <a:ea typeface="Courier New"/>
                <a:cs typeface="Courier New"/>
                <a:sym typeface="Courier New"/>
              </a:rPr>
              <a:t>weaviate_runtime_config_hash · weaviate_runtime_config_last_load_success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41"/>
          <p:cNvSpPr/>
          <p:nvPr/>
        </p:nvSpPr>
        <p:spPr>
          <a:xfrm>
            <a:off x="11765161" y="9701213"/>
            <a:ext cx="5570339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41"/>
          <p:cNvSpPr/>
          <p:nvPr/>
        </p:nvSpPr>
        <p:spPr>
          <a:xfrm>
            <a:off x="11974711" y="8522196"/>
            <a:ext cx="5318349" cy="10932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Docs: alert on load-success 0 — Weaviate keeps serving the last valid config.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42"/>
          <p:cNvSpPr/>
          <p:nvPr/>
        </p:nvSpPr>
        <p:spPr>
          <a:xfrm>
            <a:off x="952500" y="590550"/>
            <a:ext cx="7968302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30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750"/>
              <a:buFont typeface="Plus Jakarta Sans"/>
              <a:buNone/>
            </a:pPr>
            <a:r>
              <a:rPr b="1" i="0" lang="en-US" sz="37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Where the latency lives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42"/>
          <p:cNvSpPr/>
          <p:nvPr/>
        </p:nvSpPr>
        <p:spPr>
          <a:xfrm>
            <a:off x="952500" y="1209675"/>
            <a:ext cx="796830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Split database time from provider time before you tune anything.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65" name="Google Shape;126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30638" y="59055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6" name="Google Shape;1266;p42"/>
          <p:cNvSpPr/>
          <p:nvPr/>
        </p:nvSpPr>
        <p:spPr>
          <a:xfrm>
            <a:off x="952500" y="1771650"/>
            <a:ext cx="16383000" cy="1333500"/>
          </a:xfrm>
          <a:prstGeom prst="roundRect">
            <a:avLst>
              <a:gd fmla="val 11429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42"/>
          <p:cNvSpPr/>
          <p:nvPr/>
        </p:nvSpPr>
        <p:spPr>
          <a:xfrm>
            <a:off x="1257300" y="1962150"/>
            <a:ext cx="173507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5E4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B9B5E4"/>
                </a:solidFill>
                <a:latin typeface="Inter"/>
                <a:ea typeface="Inter"/>
                <a:cs typeface="Inter"/>
                <a:sym typeface="Inter"/>
              </a:rPr>
              <a:t>The classic misdiagnosis: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42"/>
          <p:cNvSpPr/>
          <p:nvPr/>
        </p:nvSpPr>
        <p:spPr>
          <a:xfrm>
            <a:off x="1257300" y="2276475"/>
            <a:ext cx="1735074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"Weaviate is slow" — and the profile shows the database barely broke a sweat.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42"/>
          <p:cNvSpPr/>
          <p:nvPr/>
        </p:nvSpPr>
        <p:spPr>
          <a:xfrm>
            <a:off x="1257300" y="2638425"/>
            <a:ext cx="173507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A6D53B"/>
                </a:solidFill>
                <a:latin typeface="Inter"/>
                <a:ea typeface="Inter"/>
                <a:cs typeface="Inter"/>
                <a:sym typeface="Inter"/>
              </a:rPr>
              <a:t>query_profile (v1.36.9+): per-request, per-shard, opt-in — zero overhead when off.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42"/>
          <p:cNvSpPr/>
          <p:nvPr/>
        </p:nvSpPr>
        <p:spPr>
          <a:xfrm>
            <a:off x="952500" y="3333750"/>
            <a:ext cx="8058150" cy="5109270"/>
          </a:xfrm>
          <a:prstGeom prst="roundRect">
            <a:avLst>
              <a:gd fmla="val 3356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42"/>
          <p:cNvSpPr/>
          <p:nvPr/>
        </p:nvSpPr>
        <p:spPr>
          <a:xfrm>
            <a:off x="1238250" y="3562350"/>
            <a:ext cx="823531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2B5E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the profile shows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42"/>
          <p:cNvSpPr/>
          <p:nvPr/>
        </p:nvSpPr>
        <p:spPr>
          <a:xfrm>
            <a:off x="1238250" y="3990975"/>
            <a:ext cx="823531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Per-shard phase timings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42"/>
          <p:cNvSpPr/>
          <p:nvPr/>
        </p:nvSpPr>
        <p:spPr>
          <a:xfrm>
            <a:off x="1238250" y="4267200"/>
            <a:ext cx="8235315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5C7A4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C7A46"/>
                </a:solidFill>
                <a:latin typeface="Inter"/>
                <a:ea typeface="Inter"/>
                <a:cs typeface="Inter"/>
                <a:sym typeface="Inter"/>
              </a:rPr>
              <a:t>MetadataQuery(query_profile=True)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42"/>
          <p:cNvSpPr/>
          <p:nvPr/>
        </p:nvSpPr>
        <p:spPr>
          <a:xfrm>
            <a:off x="1238250" y="4640461"/>
            <a:ext cx="823531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Vector-search internals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42"/>
          <p:cNvSpPr/>
          <p:nvPr/>
        </p:nvSpPr>
        <p:spPr>
          <a:xfrm>
            <a:off x="1238250" y="4916686"/>
            <a:ext cx="8235315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5C7A4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C7A46"/>
                </a:solidFill>
                <a:latin typeface="Inter"/>
                <a:ea typeface="Inter"/>
                <a:cs typeface="Inter"/>
                <a:sym typeface="Inter"/>
              </a:rPr>
              <a:t>HNSW traversal · rescore · flat fallback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42"/>
          <p:cNvSpPr/>
          <p:nvPr/>
        </p:nvSpPr>
        <p:spPr>
          <a:xfrm>
            <a:off x="1238250" y="5289947"/>
            <a:ext cx="823531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Filters &amp; BM25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42"/>
          <p:cNvSpPr/>
          <p:nvPr/>
        </p:nvSpPr>
        <p:spPr>
          <a:xfrm>
            <a:off x="1238250" y="5566172"/>
            <a:ext cx="8235315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5C7A4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C7A46"/>
                </a:solidFill>
                <a:latin typeface="Inter"/>
                <a:ea typeface="Inter"/>
                <a:cs typeface="Inter"/>
                <a:sym typeface="Inter"/>
              </a:rPr>
              <a:t>allow-list build · BlockMax WAND scoring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42"/>
          <p:cNvSpPr/>
          <p:nvPr/>
        </p:nvSpPr>
        <p:spPr>
          <a:xfrm>
            <a:off x="1238250" y="5939433"/>
            <a:ext cx="823531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Slow-query log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42"/>
          <p:cNvSpPr/>
          <p:nvPr/>
        </p:nvSpPr>
        <p:spPr>
          <a:xfrm>
            <a:off x="1238250" y="6215658"/>
            <a:ext cx="8235315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5C7A4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C7A46"/>
                </a:solidFill>
                <a:latin typeface="Inter"/>
                <a:ea typeface="Inter"/>
                <a:cs typeface="Inter"/>
                <a:sym typeface="Inter"/>
              </a:rPr>
              <a:t>QUERY_SLOW_LOG_ENABLED · _THRESHOLD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42"/>
          <p:cNvSpPr/>
          <p:nvPr/>
        </p:nvSpPr>
        <p:spPr>
          <a:xfrm>
            <a:off x="9277350" y="3333750"/>
            <a:ext cx="8058150" cy="5109270"/>
          </a:xfrm>
          <a:prstGeom prst="roundRect">
            <a:avLst>
              <a:gd fmla="val 3356" name="adj"/>
            </a:avLst>
          </a:prstGeom>
          <a:solidFill>
            <a:srgbClr val="FBE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42"/>
          <p:cNvSpPr/>
          <p:nvPr/>
        </p:nvSpPr>
        <p:spPr>
          <a:xfrm>
            <a:off x="9563100" y="3562350"/>
            <a:ext cx="823531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9340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it cannot see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42"/>
          <p:cNvSpPr/>
          <p:nvPr/>
        </p:nvSpPr>
        <p:spPr>
          <a:xfrm>
            <a:off x="9563100" y="3990975"/>
            <a:ext cx="823531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93400F"/>
                </a:solidFill>
                <a:latin typeface="Inter"/>
                <a:ea typeface="Inter"/>
                <a:cs typeface="Inter"/>
                <a:sym typeface="Inter"/>
              </a:rPr>
              <a:t>Generative module time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42"/>
          <p:cNvSpPr/>
          <p:nvPr/>
        </p:nvSpPr>
        <p:spPr>
          <a:xfrm>
            <a:off x="9563100" y="4267200"/>
            <a:ext cx="8235315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7A4A2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7A4A26"/>
                </a:solidFill>
                <a:latin typeface="Inter"/>
                <a:ea typeface="Inter"/>
                <a:cs typeface="Inter"/>
                <a:sym typeface="Inter"/>
              </a:rPr>
              <a:t>excluded from the profile — by documented design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42"/>
          <p:cNvSpPr/>
          <p:nvPr/>
        </p:nvSpPr>
        <p:spPr>
          <a:xfrm>
            <a:off x="9563100" y="4640461"/>
            <a:ext cx="823531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93400F"/>
                </a:solidFill>
                <a:latin typeface="Inter"/>
                <a:ea typeface="Inter"/>
                <a:cs typeface="Inter"/>
                <a:sym typeface="Inter"/>
              </a:rPr>
              <a:t>Reranker &amp; vectorizer calls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42"/>
          <p:cNvSpPr/>
          <p:nvPr/>
        </p:nvSpPr>
        <p:spPr>
          <a:xfrm>
            <a:off x="9563100" y="4916686"/>
            <a:ext cx="8235315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7A4A2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7A4A26"/>
                </a:solidFill>
                <a:latin typeface="Inter"/>
                <a:ea typeface="Inter"/>
                <a:cs typeface="Inter"/>
                <a:sym typeface="Inter"/>
              </a:rPr>
              <a:t>weaviate_module_request_duration_seconds · t2v_*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42"/>
          <p:cNvSpPr/>
          <p:nvPr/>
        </p:nvSpPr>
        <p:spPr>
          <a:xfrm>
            <a:off x="9563100" y="5289947"/>
            <a:ext cx="823531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93400F"/>
                </a:solidFill>
                <a:latin typeface="Inter"/>
                <a:ea typeface="Inter"/>
                <a:cs typeface="Inter"/>
                <a:sym typeface="Inter"/>
              </a:rPr>
              <a:t>Client &amp; network time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42"/>
          <p:cNvSpPr/>
          <p:nvPr/>
        </p:nvSpPr>
        <p:spPr>
          <a:xfrm>
            <a:off x="9563100" y="5566172"/>
            <a:ext cx="8235315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7A4A2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7A4A26"/>
                </a:solidFill>
                <a:latin typeface="Inter"/>
                <a:ea typeface="Inter"/>
                <a:cs typeface="Inter"/>
                <a:sym typeface="Inter"/>
              </a:rPr>
              <a:t>timeouts, retries, pools live in your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42"/>
          <p:cNvSpPr/>
          <p:nvPr/>
        </p:nvSpPr>
        <p:spPr>
          <a:xfrm>
            <a:off x="9563100" y="5939433"/>
            <a:ext cx="823531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93400F"/>
                </a:solidFill>
                <a:latin typeface="Inter"/>
                <a:ea typeface="Inter"/>
                <a:cs typeface="Inter"/>
                <a:sym typeface="Inter"/>
              </a:rPr>
              <a:t>The attribution verdict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42"/>
          <p:cNvSpPr/>
          <p:nvPr/>
        </p:nvSpPr>
        <p:spPr>
          <a:xfrm>
            <a:off x="9563100" y="6215658"/>
            <a:ext cx="8235315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7A4A2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7A4A26"/>
                </a:solidFill>
                <a:latin typeface="Inter"/>
                <a:ea typeface="Inter"/>
                <a:cs typeface="Inter"/>
                <a:sym typeface="Inter"/>
              </a:rPr>
              <a:t>compare direct query vs full-pipeline latency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42"/>
          <p:cNvSpPr/>
          <p:nvPr/>
        </p:nvSpPr>
        <p:spPr>
          <a:xfrm>
            <a:off x="952500" y="8671620"/>
            <a:ext cx="16383000" cy="1081980"/>
          </a:xfrm>
          <a:prstGeom prst="roundRect">
            <a:avLst>
              <a:gd fmla="val 14085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42"/>
          <p:cNvSpPr/>
          <p:nvPr/>
        </p:nvSpPr>
        <p:spPr>
          <a:xfrm>
            <a:off x="1257300" y="8881170"/>
            <a:ext cx="175710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0C8C5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boundary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42"/>
          <p:cNvSpPr/>
          <p:nvPr/>
        </p:nvSpPr>
        <p:spPr>
          <a:xfrm>
            <a:off x="3064222" y="8881170"/>
            <a:ext cx="14385472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If the profile is fast but users still wait, the latency lives outside Weaviate — in embedding, rerank, or generative calls. Attribute first; don't tune ef for a reranker problem.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43"/>
          <p:cNvSpPr/>
          <p:nvPr/>
        </p:nvSpPr>
        <p:spPr>
          <a:xfrm>
            <a:off x="1047750" y="762000"/>
            <a:ext cx="8495288" cy="6037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353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4050"/>
              <a:buFont typeface="Plus Jakarta Sans"/>
              <a:buNone/>
            </a:pPr>
            <a:r>
              <a:rPr b="1" i="0" lang="en-US" sz="40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Alerts on symptoms, not vitals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43"/>
          <p:cNvSpPr/>
          <p:nvPr/>
        </p:nvSpPr>
        <p:spPr>
          <a:xfrm>
            <a:off x="1047750" y="1441996"/>
            <a:ext cx="8495288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Every alert needs a consumer, a runbook, and a decision it forces.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00" name="Google Shape;130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76200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1" name="Google Shape;1301;p43"/>
          <p:cNvSpPr/>
          <p:nvPr/>
        </p:nvSpPr>
        <p:spPr>
          <a:xfrm>
            <a:off x="1047750" y="3189833"/>
            <a:ext cx="16192500" cy="1500188"/>
          </a:xfrm>
          <a:prstGeom prst="roundRect">
            <a:avLst>
              <a:gd fmla="val 11429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43"/>
          <p:cNvSpPr/>
          <p:nvPr/>
        </p:nvSpPr>
        <p:spPr>
          <a:xfrm>
            <a:off x="1447800" y="3532733"/>
            <a:ext cx="133350" cy="814388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E9E11E"/>
              </a:gs>
              <a:gs pos="100000">
                <a:srgbClr val="0C8C59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43"/>
          <p:cNvSpPr/>
          <p:nvPr/>
        </p:nvSpPr>
        <p:spPr>
          <a:xfrm>
            <a:off x="1847850" y="3532733"/>
            <a:ext cx="1619510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Page on SLO burn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43"/>
          <p:cNvSpPr/>
          <p:nvPr/>
        </p:nvSpPr>
        <p:spPr>
          <a:xfrm>
            <a:off x="1847850" y="3989933"/>
            <a:ext cx="16195104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Sustained p95 and error-share breaches — symptoms users feel. Both ship in the course alert pack, each with a runbook attached.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43"/>
          <p:cNvSpPr/>
          <p:nvPr/>
        </p:nvSpPr>
        <p:spPr>
          <a:xfrm>
            <a:off x="1047750" y="4956721"/>
            <a:ext cx="16192500" cy="1500188"/>
          </a:xfrm>
          <a:prstGeom prst="roundRect">
            <a:avLst>
              <a:gd fmla="val 11429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43"/>
          <p:cNvSpPr/>
          <p:nvPr/>
        </p:nvSpPr>
        <p:spPr>
          <a:xfrm>
            <a:off x="1447800" y="5299621"/>
            <a:ext cx="133350" cy="814388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E9E11E"/>
              </a:gs>
              <a:gs pos="100000">
                <a:srgbClr val="0C8C59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43"/>
          <p:cNvSpPr/>
          <p:nvPr/>
        </p:nvSpPr>
        <p:spPr>
          <a:xfrm>
            <a:off x="1847850" y="5299621"/>
            <a:ext cx="16094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Page on leading indicators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43"/>
          <p:cNvSpPr/>
          <p:nvPr/>
        </p:nvSpPr>
        <p:spPr>
          <a:xfrm>
            <a:off x="1847850" y="5756821"/>
            <a:ext cx="16094750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Disk approaching read-only, index-queue backlog still growing, convergence stalled, queue paused — trouble you can still outrun.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43"/>
          <p:cNvSpPr/>
          <p:nvPr/>
        </p:nvSpPr>
        <p:spPr>
          <a:xfrm>
            <a:off x="1047750" y="6723608"/>
            <a:ext cx="16192500" cy="1857375"/>
          </a:xfrm>
          <a:prstGeom prst="roundRect">
            <a:avLst>
              <a:gd fmla="val 9231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43"/>
          <p:cNvSpPr/>
          <p:nvPr/>
        </p:nvSpPr>
        <p:spPr>
          <a:xfrm>
            <a:off x="1447800" y="7066508"/>
            <a:ext cx="132457" cy="1171575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E9E11E"/>
              </a:gs>
              <a:gs pos="100000">
                <a:srgbClr val="0C8C59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43"/>
          <p:cNvSpPr/>
          <p:nvPr/>
        </p:nvSpPr>
        <p:spPr>
          <a:xfrm>
            <a:off x="1846957" y="7066508"/>
            <a:ext cx="1649256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Retire the alert debt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43"/>
          <p:cNvSpPr/>
          <p:nvPr/>
        </p:nvSpPr>
        <p:spPr>
          <a:xfrm>
            <a:off x="1846957" y="7523708"/>
            <a:ext cx="15443040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CPU %, pod restarts, per-tenant pages, raw tombstone counts: dashboards, not pages. Now: which 5 of these 15 survive? You decide.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44"/>
          <p:cNvSpPr/>
          <p:nvPr/>
        </p:nvSpPr>
        <p:spPr>
          <a:xfrm>
            <a:off x="1047750" y="723900"/>
            <a:ext cx="12415510" cy="6037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353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4050"/>
              <a:buFont typeface="Plus Jakarta Sans"/>
              <a:buNone/>
            </a:pPr>
            <a:r>
              <a:rPr b="1" i="0" lang="en-US" sz="40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evidence-first workflow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44"/>
          <p:cNvSpPr/>
          <p:nvPr/>
        </p:nvSpPr>
        <p:spPr>
          <a:xfrm>
            <a:off x="1047750" y="1403896"/>
            <a:ext cx="1241551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Eight steps, four movements — walked in order, every time. Lab 4 scores you on the same order.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20" name="Google Shape;132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72390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1" name="Google Shape;1321;p44"/>
          <p:cNvSpPr/>
          <p:nvPr/>
        </p:nvSpPr>
        <p:spPr>
          <a:xfrm>
            <a:off x="1047750" y="2169616"/>
            <a:ext cx="7962900" cy="3591967"/>
          </a:xfrm>
          <a:prstGeom prst="roundRect">
            <a:avLst>
              <a:gd fmla="val 4773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44"/>
          <p:cNvSpPr/>
          <p:nvPr/>
        </p:nvSpPr>
        <p:spPr>
          <a:xfrm>
            <a:off x="1409700" y="2474416"/>
            <a:ext cx="79629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STEPS 1–2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44"/>
          <p:cNvSpPr/>
          <p:nvPr/>
        </p:nvSpPr>
        <p:spPr>
          <a:xfrm>
            <a:off x="1409700" y="2845891"/>
            <a:ext cx="7962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Impact &amp; timeline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44"/>
          <p:cNvSpPr/>
          <p:nvPr/>
        </p:nvSpPr>
        <p:spPr>
          <a:xfrm>
            <a:off x="1409700" y="3303091"/>
            <a:ext cx="7456170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Quantify what is slow, for whom, how bad — then date the start with range queries, not vibes.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44"/>
          <p:cNvSpPr/>
          <p:nvPr/>
        </p:nvSpPr>
        <p:spPr>
          <a:xfrm>
            <a:off x="9277350" y="2169616"/>
            <a:ext cx="7962900" cy="3591967"/>
          </a:xfrm>
          <a:prstGeom prst="roundRect">
            <a:avLst>
              <a:gd fmla="val 4773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44"/>
          <p:cNvSpPr/>
          <p:nvPr/>
        </p:nvSpPr>
        <p:spPr>
          <a:xfrm>
            <a:off x="9639300" y="2474416"/>
            <a:ext cx="79629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STEPS 3–4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44"/>
          <p:cNvSpPr/>
          <p:nvPr/>
        </p:nvSpPr>
        <p:spPr>
          <a:xfrm>
            <a:off x="9639300" y="2845891"/>
            <a:ext cx="7962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Changes &amp; saturation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44"/>
          <p:cNvSpPr/>
          <p:nvPr/>
        </p:nvSpPr>
        <p:spPr>
          <a:xfrm>
            <a:off x="9639300" y="3303091"/>
            <a:ext cx="7456170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List every candidate change — config hash, schema, deploys, workload — then find the resource that is actually scarce.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44"/>
          <p:cNvSpPr/>
          <p:nvPr/>
        </p:nvSpPr>
        <p:spPr>
          <a:xfrm>
            <a:off x="1047750" y="6028283"/>
            <a:ext cx="7962900" cy="3591967"/>
          </a:xfrm>
          <a:prstGeom prst="roundRect">
            <a:avLst>
              <a:gd fmla="val 4773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44"/>
          <p:cNvSpPr/>
          <p:nvPr/>
        </p:nvSpPr>
        <p:spPr>
          <a:xfrm>
            <a:off x="1409700" y="6333083"/>
            <a:ext cx="79629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STEPS 5–6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44"/>
          <p:cNvSpPr/>
          <p:nvPr/>
        </p:nvSpPr>
        <p:spPr>
          <a:xfrm>
            <a:off x="1409700" y="6704558"/>
            <a:ext cx="7962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Isolate &amp; hypothesize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44"/>
          <p:cNvSpPr/>
          <p:nvPr/>
        </p:nvSpPr>
        <p:spPr>
          <a:xfrm>
            <a:off x="1409700" y="7161758"/>
            <a:ext cx="7456170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Split DB time from provider time; find the hot shard. Name ONE mechanism that explains every symptom.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44"/>
          <p:cNvSpPr/>
          <p:nvPr/>
        </p:nvSpPr>
        <p:spPr>
          <a:xfrm>
            <a:off x="9277350" y="6028283"/>
            <a:ext cx="7962900" cy="3591967"/>
          </a:xfrm>
          <a:prstGeom prst="roundRect">
            <a:avLst>
              <a:gd fmla="val 4773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44"/>
          <p:cNvSpPr/>
          <p:nvPr/>
        </p:nvSpPr>
        <p:spPr>
          <a:xfrm>
            <a:off x="9639300" y="6333083"/>
            <a:ext cx="79629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STEPS 7–8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p44"/>
          <p:cNvSpPr/>
          <p:nvPr/>
        </p:nvSpPr>
        <p:spPr>
          <a:xfrm>
            <a:off x="9639300" y="6704558"/>
            <a:ext cx="7962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Mitigate &amp; verify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44"/>
          <p:cNvSpPr/>
          <p:nvPr/>
        </p:nvSpPr>
        <p:spPr>
          <a:xfrm>
            <a:off x="9639300" y="7161758"/>
            <a:ext cx="7456170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Least-destructive action first, blast radius stated — then re-measure the impact metric and record it.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45"/>
          <p:cNvSpPr/>
          <p:nvPr/>
        </p:nvSpPr>
        <p:spPr>
          <a:xfrm>
            <a:off x="1047750" y="723900"/>
            <a:ext cx="7786911" cy="6037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353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4050"/>
              <a:buFont typeface="Plus Jakarta Sans"/>
              <a:buNone/>
            </a:pPr>
            <a:r>
              <a:rPr b="1" i="0" lang="en-US" sz="40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escalation package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45"/>
          <p:cNvSpPr/>
          <p:nvPr/>
        </p:nvSpPr>
        <p:spPr>
          <a:xfrm>
            <a:off x="1047750" y="1403896"/>
            <a:ext cx="7786911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When diagnosis stalls, hand over evidence — not adjectives.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44" name="Google Shape;134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72390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5" name="Google Shape;1345;p45"/>
          <p:cNvSpPr/>
          <p:nvPr/>
        </p:nvSpPr>
        <p:spPr>
          <a:xfrm>
            <a:off x="1047750" y="2169616"/>
            <a:ext cx="7962900" cy="3591967"/>
          </a:xfrm>
          <a:prstGeom prst="roundRect">
            <a:avLst>
              <a:gd fmla="val 4773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45"/>
          <p:cNvSpPr/>
          <p:nvPr/>
        </p:nvSpPr>
        <p:spPr>
          <a:xfrm>
            <a:off x="1409700" y="2474416"/>
            <a:ext cx="7962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Impact, in numbers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45"/>
          <p:cNvSpPr/>
          <p:nvPr/>
        </p:nvSpPr>
        <p:spPr>
          <a:xfrm>
            <a:off x="1409700" y="2950666"/>
            <a:ext cx="7456170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What is slow or failing, for which collections and tenants, since when (UTC) — versus the baseline you recorded.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45"/>
          <p:cNvSpPr/>
          <p:nvPr/>
        </p:nvSpPr>
        <p:spPr>
          <a:xfrm>
            <a:off x="9277350" y="2169616"/>
            <a:ext cx="7962900" cy="3591967"/>
          </a:xfrm>
          <a:prstGeom prst="roundRect">
            <a:avLst>
              <a:gd fmla="val 4773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45"/>
          <p:cNvSpPr/>
          <p:nvPr/>
        </p:nvSpPr>
        <p:spPr>
          <a:xfrm>
            <a:off x="9639300" y="2474416"/>
            <a:ext cx="7962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Exact identities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45"/>
          <p:cNvSpPr/>
          <p:nvPr/>
        </p:nvSpPr>
        <p:spPr>
          <a:xfrm>
            <a:off x="9639300" y="2950666"/>
            <a:ext cx="7456170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Server and client versions, deployment model, collection and tenant names, cluster ID — plus the runtime config hash.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45"/>
          <p:cNvSpPr/>
          <p:nvPr/>
        </p:nvSpPr>
        <p:spPr>
          <a:xfrm>
            <a:off x="1047750" y="6028283"/>
            <a:ext cx="7962900" cy="3591967"/>
          </a:xfrm>
          <a:prstGeom prst="roundRect">
            <a:avLst>
              <a:gd fmla="val 4773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45"/>
          <p:cNvSpPr/>
          <p:nvPr/>
        </p:nvSpPr>
        <p:spPr>
          <a:xfrm>
            <a:off x="1409700" y="6333083"/>
            <a:ext cx="7962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Topology at incident time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45"/>
          <p:cNvSpPr/>
          <p:nvPr/>
        </p:nvSpPr>
        <p:spPr>
          <a:xfrm>
            <a:off x="1409700" y="6809333"/>
            <a:ext cx="7456170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/v1/nodes?output=verbose and /v1/cluster/statistics captured during the event — shard states and queue lengths included.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45"/>
          <p:cNvSpPr/>
          <p:nvPr/>
        </p:nvSpPr>
        <p:spPr>
          <a:xfrm>
            <a:off x="9277350" y="6028283"/>
            <a:ext cx="7962900" cy="3591967"/>
          </a:xfrm>
          <a:prstGeom prst="roundRect">
            <a:avLst>
              <a:gd fmla="val 4773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45"/>
          <p:cNvSpPr/>
          <p:nvPr/>
        </p:nvSpPr>
        <p:spPr>
          <a:xfrm>
            <a:off x="9639300" y="6333083"/>
            <a:ext cx="7962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Repro &amp; sanitized logs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45"/>
          <p:cNvSpPr/>
          <p:nvPr/>
        </p:nvSpPr>
        <p:spPr>
          <a:xfrm>
            <a:off x="9639300" y="6809333"/>
            <a:ext cx="7456170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The minimal failing query with parameters, slow-query log excerpts, error samples — secrets and customer data scrubbed.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E8"/>
        </a:solidFill>
      </p:bgPr>
    </p:bg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46"/>
          <p:cNvSpPr/>
          <p:nvPr/>
        </p:nvSpPr>
        <p:spPr>
          <a:xfrm>
            <a:off x="952500" y="590550"/>
            <a:ext cx="1118890" cy="419100"/>
          </a:xfrm>
          <a:prstGeom prst="roundRect">
            <a:avLst>
              <a:gd fmla="val 50000" name="adj"/>
            </a:avLst>
          </a:prstGeom>
          <a:solidFill>
            <a:srgbClr val="0C8C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46"/>
          <p:cNvSpPr/>
          <p:nvPr/>
        </p:nvSpPr>
        <p:spPr>
          <a:xfrm>
            <a:off x="1143000" y="685800"/>
            <a:ext cx="81409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LAB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46"/>
          <p:cNvSpPr/>
          <p:nvPr/>
        </p:nvSpPr>
        <p:spPr>
          <a:xfrm>
            <a:off x="952500" y="1143000"/>
            <a:ext cx="809779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30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750"/>
              <a:buFont typeface="Plus Jakarta Sans"/>
              <a:buNone/>
            </a:pPr>
            <a:r>
              <a:rPr b="1" i="0" lang="en-US" sz="37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Lab 4: Incident investigation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46"/>
          <p:cNvSpPr/>
          <p:nvPr/>
        </p:nvSpPr>
        <p:spPr>
          <a:xfrm>
            <a:off x="952500" y="1800225"/>
            <a:ext cx="809779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50 minutes · evidence first · the incident record is the deliverable.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66" name="Google Shape;136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30638" y="59055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46"/>
          <p:cNvSpPr/>
          <p:nvPr/>
        </p:nvSpPr>
        <p:spPr>
          <a:xfrm>
            <a:off x="952500" y="2362200"/>
            <a:ext cx="16383000" cy="981075"/>
          </a:xfrm>
          <a:prstGeom prst="roundRect">
            <a:avLst>
              <a:gd fmla="val 15534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46"/>
          <p:cNvSpPr/>
          <p:nvPr/>
        </p:nvSpPr>
        <p:spPr>
          <a:xfrm>
            <a:off x="1257300" y="2533650"/>
            <a:ext cx="173507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5E4"/>
              </a:buClr>
              <a:buSzPts val="1800"/>
              <a:buFont typeface="Inter"/>
              <a:buNone/>
            </a:pPr>
            <a:r>
              <a:rPr lang="en-US" sz="1800">
                <a:solidFill>
                  <a:srgbClr val="B9B5E4"/>
                </a:solidFill>
                <a:latin typeface="Inter"/>
                <a:ea typeface="Inter"/>
                <a:cs typeface="Inter"/>
                <a:sym typeface="Inter"/>
              </a:rPr>
              <a:t>Acme</a:t>
            </a:r>
            <a:r>
              <a:rPr b="0" i="0" lang="en-US" sz="1800" u="none" cap="none" strike="noStrike">
                <a:solidFill>
                  <a:srgbClr val="B9B5E4"/>
                </a:solidFill>
                <a:latin typeface="Inter"/>
                <a:ea typeface="Inter"/>
                <a:cs typeface="Inter"/>
                <a:sym typeface="Inter"/>
              </a:rPr>
              <a:t> Retail (illustrative) · 14:07 · support reports sluggish search for several storefronts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46"/>
          <p:cNvSpPr/>
          <p:nvPr/>
        </p:nvSpPr>
        <p:spPr>
          <a:xfrm>
            <a:off x="1257300" y="2847975"/>
            <a:ext cx="1735074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"Something changed — and at least one change is innocent."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p46"/>
          <p:cNvSpPr/>
          <p:nvPr/>
        </p:nvSpPr>
        <p:spPr>
          <a:xfrm>
            <a:off x="952500" y="3571875"/>
            <a:ext cx="5308550" cy="4928295"/>
          </a:xfrm>
          <a:prstGeom prst="roundRect">
            <a:avLst>
              <a:gd fmla="val 347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46"/>
          <p:cNvSpPr/>
          <p:nvPr/>
        </p:nvSpPr>
        <p:spPr>
          <a:xfrm>
            <a:off x="952500" y="3571875"/>
            <a:ext cx="5308550" cy="95250"/>
          </a:xfrm>
          <a:prstGeom prst="rect">
            <a:avLst/>
          </a:prstGeom>
          <a:solidFill>
            <a:srgbClr val="E9E1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46"/>
          <p:cNvSpPr/>
          <p:nvPr/>
        </p:nvSpPr>
        <p:spPr>
          <a:xfrm>
            <a:off x="1238250" y="3914775"/>
            <a:ext cx="521075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Symptoms you inherit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46"/>
          <p:cNvSpPr/>
          <p:nvPr/>
        </p:nvSpPr>
        <p:spPr>
          <a:xfrm>
            <a:off x="1238250" y="4324350"/>
            <a:ext cx="521075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From the on-call dashboard: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46"/>
          <p:cNvSpPr/>
          <p:nvPr/>
        </p:nvSpPr>
        <p:spPr>
          <a:xfrm>
            <a:off x="1238250" y="4695825"/>
            <a:ext cx="4879162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Elevated query p95 Climbing indexing backlog Several tenants affected make verify: note which checks fail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46"/>
          <p:cNvSpPr/>
          <p:nvPr/>
        </p:nvSpPr>
        <p:spPr>
          <a:xfrm>
            <a:off x="6489650" y="3571875"/>
            <a:ext cx="5308699" cy="4928295"/>
          </a:xfrm>
          <a:prstGeom prst="roundRect">
            <a:avLst>
              <a:gd fmla="val 347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46"/>
          <p:cNvSpPr/>
          <p:nvPr/>
        </p:nvSpPr>
        <p:spPr>
          <a:xfrm>
            <a:off x="6489650" y="3571875"/>
            <a:ext cx="5308699" cy="95250"/>
          </a:xfrm>
          <a:prstGeom prst="rect">
            <a:avLst/>
          </a:prstGeom>
          <a:solidFill>
            <a:srgbClr val="61BD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46"/>
          <p:cNvSpPr/>
          <p:nvPr/>
        </p:nvSpPr>
        <p:spPr>
          <a:xfrm>
            <a:off x="6775400" y="3914775"/>
            <a:ext cx="5210919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Your protocol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46"/>
          <p:cNvSpPr/>
          <p:nvPr/>
        </p:nvSpPr>
        <p:spPr>
          <a:xfrm>
            <a:off x="6775400" y="4324350"/>
            <a:ext cx="521091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The eight steps, in order: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46"/>
          <p:cNvSpPr/>
          <p:nvPr/>
        </p:nvSpPr>
        <p:spPr>
          <a:xfrm>
            <a:off x="6775400" y="4695825"/>
            <a:ext cx="4879315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Impact, then timeline Changes &amp; saturation Isolate the layer; hypothesize Mitigate safely, then verify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46"/>
          <p:cNvSpPr/>
          <p:nvPr/>
        </p:nvSpPr>
        <p:spPr>
          <a:xfrm>
            <a:off x="12026950" y="3571875"/>
            <a:ext cx="5308550" cy="4928295"/>
          </a:xfrm>
          <a:prstGeom prst="roundRect">
            <a:avLst>
              <a:gd fmla="val 347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46"/>
          <p:cNvSpPr/>
          <p:nvPr/>
        </p:nvSpPr>
        <p:spPr>
          <a:xfrm>
            <a:off x="12026950" y="3571875"/>
            <a:ext cx="5308550" cy="95250"/>
          </a:xfrm>
          <a:prstGeom prst="rect">
            <a:avLst/>
          </a:prstGeom>
          <a:solidFill>
            <a:srgbClr val="0E6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46"/>
          <p:cNvSpPr/>
          <p:nvPr/>
        </p:nvSpPr>
        <p:spPr>
          <a:xfrm>
            <a:off x="12312700" y="3914775"/>
            <a:ext cx="521075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Deliverables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46"/>
          <p:cNvSpPr/>
          <p:nvPr/>
        </p:nvSpPr>
        <p:spPr>
          <a:xfrm>
            <a:off x="12312700" y="4324350"/>
            <a:ext cx="521075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Checkpoints at 6 / 14 / 22 / 30 / 35 min: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46"/>
          <p:cNvSpPr/>
          <p:nvPr/>
        </p:nvSpPr>
        <p:spPr>
          <a:xfrm>
            <a:off x="12312700" y="4695825"/>
            <a:ext cx="4879162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Incident record, complete Decoy named and rejected Runbook delta (one check) Verification: 7/7 + metric cited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46"/>
          <p:cNvSpPr/>
          <p:nvPr/>
        </p:nvSpPr>
        <p:spPr>
          <a:xfrm>
            <a:off x="952500" y="8728770"/>
            <a:ext cx="16383000" cy="1043880"/>
          </a:xfrm>
          <a:prstGeom prst="roundRect">
            <a:avLst>
              <a:gd fmla="val 14599" name="adj"/>
            </a:avLst>
          </a:prstGeom>
          <a:solidFill>
            <a:srgbClr val="FBE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46"/>
          <p:cNvSpPr/>
          <p:nvPr/>
        </p:nvSpPr>
        <p:spPr>
          <a:xfrm>
            <a:off x="1257300" y="8919270"/>
            <a:ext cx="270401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9340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Rules of engagement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46"/>
          <p:cNvSpPr/>
          <p:nvPr/>
        </p:nvSpPr>
        <p:spPr>
          <a:xfrm>
            <a:off x="3925044" y="8919270"/>
            <a:ext cx="13498826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4A2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7A4A26"/>
                </a:solidFill>
                <a:latin typeface="Inter"/>
                <a:ea typeface="Inter"/>
                <a:cs typeface="Inter"/>
                <a:sym typeface="Inter"/>
              </a:rPr>
              <a:t>Least-destructive mitigation first — state blast radius before any state change. No restart-everything. Shared cluster: coordinate. The instructor answers precise questions only.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47"/>
          <p:cNvSpPr/>
          <p:nvPr/>
        </p:nvSpPr>
        <p:spPr>
          <a:xfrm>
            <a:off x="952500" y="590550"/>
            <a:ext cx="890112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30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750"/>
              <a:buFont typeface="Plus Jakarta Sans"/>
              <a:buNone/>
            </a:pPr>
            <a:r>
              <a:rPr b="1" i="0" lang="en-US" sz="37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decoy &amp; the discipline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47"/>
          <p:cNvSpPr/>
          <p:nvPr/>
        </p:nvSpPr>
        <p:spPr>
          <a:xfrm>
            <a:off x="952500" y="1209675"/>
            <a:ext cx="890112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Lab 4 debrief — what the evidence settled, and what nearly settled you.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95" name="Google Shape;139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30638" y="59055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47"/>
          <p:cNvSpPr/>
          <p:nvPr/>
        </p:nvSpPr>
        <p:spPr>
          <a:xfrm>
            <a:off x="952500" y="1771650"/>
            <a:ext cx="16383000" cy="1295400"/>
          </a:xfrm>
          <a:prstGeom prst="roundRect">
            <a:avLst>
              <a:gd fmla="val 11765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47"/>
          <p:cNvSpPr/>
          <p:nvPr/>
        </p:nvSpPr>
        <p:spPr>
          <a:xfrm>
            <a:off x="1257300" y="1943100"/>
            <a:ext cx="173507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5E4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B9B5E4"/>
                </a:solidFill>
                <a:latin typeface="Inter"/>
                <a:ea typeface="Inter"/>
                <a:cs typeface="Inter"/>
                <a:sym typeface="Inter"/>
              </a:rPr>
              <a:t>Simultaneous root-cause call — dissent is the interesting data: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47"/>
          <p:cNvSpPr/>
          <p:nvPr/>
        </p:nvSpPr>
        <p:spPr>
          <a:xfrm>
            <a:off x="1257300" y="2257425"/>
            <a:ext cx="1735074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"The change you found first was real. It just couldn't produce these symptoms."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47"/>
          <p:cNvSpPr/>
          <p:nvPr/>
        </p:nvSpPr>
        <p:spPr>
          <a:xfrm>
            <a:off x="1257300" y="2619375"/>
            <a:ext cx="173507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A6D53B"/>
                </a:solidFill>
                <a:latin typeface="Inter"/>
                <a:ea typeface="Inter"/>
                <a:cs typeface="Inter"/>
                <a:sym typeface="Inter"/>
              </a:rPr>
              <a:t>Adjudicate with evidence, not authority — then bank the sentence that rejected the decoy.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47"/>
          <p:cNvSpPr/>
          <p:nvPr/>
        </p:nvSpPr>
        <p:spPr>
          <a:xfrm>
            <a:off x="952500" y="3295650"/>
            <a:ext cx="8058150" cy="5204520"/>
          </a:xfrm>
          <a:prstGeom prst="roundRect">
            <a:avLst>
              <a:gd fmla="val 3294" name="adj"/>
            </a:avLst>
          </a:prstGeom>
          <a:solidFill>
            <a:srgbClr val="FBE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47"/>
          <p:cNvSpPr/>
          <p:nvPr/>
        </p:nvSpPr>
        <p:spPr>
          <a:xfrm>
            <a:off x="1238250" y="3524250"/>
            <a:ext cx="823531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9340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decoy pulled when…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47"/>
          <p:cNvSpPr/>
          <p:nvPr/>
        </p:nvSpPr>
        <p:spPr>
          <a:xfrm>
            <a:off x="1238250" y="3933825"/>
            <a:ext cx="823531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93400F"/>
                </a:solidFill>
                <a:latin typeface="Inter"/>
                <a:ea typeface="Inter"/>
                <a:cs typeface="Inter"/>
                <a:sym typeface="Inter"/>
              </a:rPr>
              <a:t>It was easy to find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3" name="Google Shape;1403;p47"/>
          <p:cNvSpPr/>
          <p:nvPr/>
        </p:nvSpPr>
        <p:spPr>
          <a:xfrm>
            <a:off x="1238250" y="4210050"/>
            <a:ext cx="8235315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7A4A2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7A4A26"/>
                </a:solidFill>
                <a:latin typeface="Inter"/>
                <a:ea typeface="Inter"/>
                <a:cs typeface="Inter"/>
                <a:sym typeface="Inter"/>
              </a:rPr>
              <a:t>a visible change felt like an answer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p47"/>
          <p:cNvSpPr/>
          <p:nvPr/>
        </p:nvSpPr>
        <p:spPr>
          <a:xfrm>
            <a:off x="1238250" y="4583311"/>
            <a:ext cx="823531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93400F"/>
                </a:solidFill>
                <a:latin typeface="Inter"/>
                <a:ea typeface="Inter"/>
                <a:cs typeface="Inter"/>
                <a:sym typeface="Inter"/>
              </a:rPr>
              <a:t>It was recent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p47"/>
          <p:cNvSpPr/>
          <p:nvPr/>
        </p:nvSpPr>
        <p:spPr>
          <a:xfrm>
            <a:off x="1238250" y="4859536"/>
            <a:ext cx="8235315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7A4A2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7A4A26"/>
                </a:solidFill>
                <a:latin typeface="Inter"/>
                <a:ea typeface="Inter"/>
                <a:cs typeface="Inter"/>
                <a:sym typeface="Inter"/>
              </a:rPr>
              <a:t>timeline correlation stood in for mechanism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47"/>
          <p:cNvSpPr/>
          <p:nvPr/>
        </p:nvSpPr>
        <p:spPr>
          <a:xfrm>
            <a:off x="1238250" y="5232797"/>
            <a:ext cx="823531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93400F"/>
                </a:solidFill>
                <a:latin typeface="Inter"/>
                <a:ea typeface="Inter"/>
                <a:cs typeface="Inter"/>
                <a:sym typeface="Inter"/>
              </a:rPr>
              <a:t>It dodged the hard question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7" name="Google Shape;1407;p47"/>
          <p:cNvSpPr/>
          <p:nvPr/>
        </p:nvSpPr>
        <p:spPr>
          <a:xfrm>
            <a:off x="1238250" y="5509022"/>
            <a:ext cx="8235315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7A4A2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7A4A26"/>
                </a:solidFill>
                <a:latin typeface="Inter"/>
                <a:ea typeface="Inter"/>
                <a:cs typeface="Inter"/>
                <a:sym typeface="Inter"/>
              </a:rPr>
              <a:t>could it cause BOTH symptoms? It could not.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47"/>
          <p:cNvSpPr/>
          <p:nvPr/>
        </p:nvSpPr>
        <p:spPr>
          <a:xfrm>
            <a:off x="1238250" y="5882283"/>
            <a:ext cx="823531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93400F"/>
                </a:solidFill>
                <a:latin typeface="Inter"/>
                <a:ea typeface="Inter"/>
                <a:cs typeface="Inter"/>
                <a:sym typeface="Inter"/>
              </a:rPr>
              <a:t>Impact was skipped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47"/>
          <p:cNvSpPr/>
          <p:nvPr/>
        </p:nvSpPr>
        <p:spPr>
          <a:xfrm>
            <a:off x="1238250" y="6158508"/>
            <a:ext cx="8235315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7A4A2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7A4A26"/>
                </a:solidFill>
                <a:latin typeface="Inter"/>
                <a:ea typeface="Inter"/>
                <a:cs typeface="Inter"/>
                <a:sym typeface="Inter"/>
              </a:rPr>
              <a:t>teams mitigated what nobody had measured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47"/>
          <p:cNvSpPr/>
          <p:nvPr/>
        </p:nvSpPr>
        <p:spPr>
          <a:xfrm>
            <a:off x="9277350" y="3295650"/>
            <a:ext cx="8058150" cy="5204520"/>
          </a:xfrm>
          <a:prstGeom prst="roundRect">
            <a:avLst>
              <a:gd fmla="val 3294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47"/>
          <p:cNvSpPr/>
          <p:nvPr/>
        </p:nvSpPr>
        <p:spPr>
          <a:xfrm>
            <a:off x="9563100" y="3524250"/>
            <a:ext cx="823531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2B5E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discipline held when…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47"/>
          <p:cNvSpPr/>
          <p:nvPr/>
        </p:nvSpPr>
        <p:spPr>
          <a:xfrm>
            <a:off x="9563100" y="3933825"/>
            <a:ext cx="823531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Impact came first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47"/>
          <p:cNvSpPr/>
          <p:nvPr/>
        </p:nvSpPr>
        <p:spPr>
          <a:xfrm>
            <a:off x="9563100" y="4210050"/>
            <a:ext cx="8235315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5C7A4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C7A46"/>
                </a:solidFill>
                <a:latin typeface="Inter"/>
                <a:ea typeface="Inter"/>
                <a:cs typeface="Inter"/>
                <a:sym typeface="Inter"/>
              </a:rPr>
              <a:t>who, what, how bad — quantified before explaining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47"/>
          <p:cNvSpPr/>
          <p:nvPr/>
        </p:nvSpPr>
        <p:spPr>
          <a:xfrm>
            <a:off x="9563100" y="4583311"/>
            <a:ext cx="823531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The timeline was anchored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Google Shape;1415;p47"/>
          <p:cNvSpPr/>
          <p:nvPr/>
        </p:nvSpPr>
        <p:spPr>
          <a:xfrm>
            <a:off x="9563100" y="4859536"/>
            <a:ext cx="8235315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5C7A4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C7A46"/>
                </a:solidFill>
                <a:latin typeface="Inter"/>
                <a:ea typeface="Inter"/>
                <a:cs typeface="Inter"/>
                <a:sym typeface="Inter"/>
              </a:rPr>
              <a:t>range queries dated the start; changes tested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p47"/>
          <p:cNvSpPr/>
          <p:nvPr/>
        </p:nvSpPr>
        <p:spPr>
          <a:xfrm>
            <a:off x="9563100" y="5232797"/>
            <a:ext cx="823531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One mechanism fit all signals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7" name="Google Shape;1417;p47"/>
          <p:cNvSpPr/>
          <p:nvPr/>
        </p:nvSpPr>
        <p:spPr>
          <a:xfrm>
            <a:off x="9563100" y="5509022"/>
            <a:ext cx="8235315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5C7A4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C7A46"/>
                </a:solidFill>
                <a:latin typeface="Inter"/>
                <a:ea typeface="Inter"/>
                <a:cs typeface="Inter"/>
                <a:sym typeface="Inter"/>
              </a:rPr>
              <a:t>latency and backlog traced to a single cause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8" name="Google Shape;1418;p47"/>
          <p:cNvSpPr/>
          <p:nvPr/>
        </p:nvSpPr>
        <p:spPr>
          <a:xfrm>
            <a:off x="9563100" y="5882283"/>
            <a:ext cx="823531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Verification closed 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p47"/>
          <p:cNvSpPr/>
          <p:nvPr/>
        </p:nvSpPr>
        <p:spPr>
          <a:xfrm>
            <a:off x="9563100" y="6158508"/>
            <a:ext cx="8235315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5C7A4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C7A46"/>
                </a:solidFill>
                <a:latin typeface="Inter"/>
                <a:ea typeface="Inter"/>
                <a:cs typeface="Inter"/>
                <a:sym typeface="Inter"/>
              </a:rPr>
              <a:t>blast radius stated · impact metric re-measured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p47"/>
          <p:cNvSpPr/>
          <p:nvPr/>
        </p:nvSpPr>
        <p:spPr>
          <a:xfrm>
            <a:off x="952500" y="8728770"/>
            <a:ext cx="16383000" cy="1043880"/>
          </a:xfrm>
          <a:prstGeom prst="roundRect">
            <a:avLst>
              <a:gd fmla="val 14599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47"/>
          <p:cNvSpPr/>
          <p:nvPr/>
        </p:nvSpPr>
        <p:spPr>
          <a:xfrm>
            <a:off x="1257300" y="8919270"/>
            <a:ext cx="251525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0C8C5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durable artifact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p47"/>
          <p:cNvSpPr/>
          <p:nvPr/>
        </p:nvSpPr>
        <p:spPr>
          <a:xfrm>
            <a:off x="3753445" y="8919270"/>
            <a:ext cx="13675572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The sentence that rejected the decoy goes verbatim into your runbook delta — the check that finds this in five minutes next time. Bring that habit to the capstone.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0C49"/>
        </a:solidFill>
      </p:bgPr>
    </p:bg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28" name="Google Shape;1428;p48"/>
          <p:cNvPicPr preferRelativeResize="0"/>
          <p:nvPr/>
        </p:nvPicPr>
        <p:blipFill rotWithShape="1">
          <a:blip r:embed="rId3">
            <a:alphaModFix/>
          </a:blip>
          <a:srcRect b="0" l="87" r="87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9" name="Google Shape;1429;p48"/>
          <p:cNvSpPr/>
          <p:nvPr/>
        </p:nvSpPr>
        <p:spPr>
          <a:xfrm>
            <a:off x="1047750" y="952500"/>
            <a:ext cx="146685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75"/>
              <a:buFont typeface="Inter"/>
              <a:buNone/>
            </a:pPr>
            <a:r>
              <a:rPr b="1" i="0" lang="en-US" sz="1875" u="none" cap="none" strike="noStrike">
                <a:solidFill>
                  <a:srgbClr val="A6D53B"/>
                </a:solidFill>
                <a:latin typeface="Inter"/>
                <a:ea typeface="Inter"/>
                <a:cs typeface="Inter"/>
                <a:sym typeface="Inter"/>
              </a:rPr>
              <a:t>SEGMENT 10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p48"/>
          <p:cNvSpPr/>
          <p:nvPr/>
        </p:nvSpPr>
        <p:spPr>
          <a:xfrm>
            <a:off x="1047750" y="1381125"/>
            <a:ext cx="14668500" cy="8198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Plus Jakarta Sans"/>
              <a:buNone/>
            </a:pPr>
            <a:r>
              <a:rPr b="1" i="0" lang="en-US" sz="57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Boring on purpose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1" name="Google Shape;1431;p48"/>
          <p:cNvSpPr/>
          <p:nvPr/>
        </p:nvSpPr>
        <p:spPr>
          <a:xfrm>
            <a:off x="1047750" y="2353419"/>
            <a:ext cx="13735050" cy="8390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143"/>
              </a:lnSpc>
              <a:spcBef>
                <a:spcPts val="0"/>
              </a:spcBef>
              <a:spcAft>
                <a:spcPts val="0"/>
              </a:spcAft>
              <a:buClr>
                <a:srgbClr val="C9C6E8"/>
              </a:buClr>
              <a:buSzPts val="2175"/>
              <a:buFont typeface="Inter"/>
              <a:buNone/>
            </a:pPr>
            <a:r>
              <a:rPr b="0" i="0" lang="en-US" sz="2175" u="none" cap="none" strike="noStrike">
                <a:solidFill>
                  <a:srgbClr val="C9C6E8"/>
                </a:solidFill>
                <a:latin typeface="Inter"/>
                <a:ea typeface="Inter"/>
                <a:cs typeface="Inter"/>
                <a:sym typeface="Inter"/>
              </a:rPr>
              <a:t>Security, backup and safe change — the segment where excitement means something already went wrong.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32" name="Google Shape;1432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11563" y="952500"/>
            <a:ext cx="928688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3" name="Google Shape;1433;p48"/>
          <p:cNvSpPr/>
          <p:nvPr/>
        </p:nvSpPr>
        <p:spPr>
          <a:xfrm>
            <a:off x="1047750" y="3687812"/>
            <a:ext cx="5168801" cy="5741938"/>
          </a:xfrm>
          <a:prstGeom prst="roundRect">
            <a:avLst>
              <a:gd fmla="val 3686" name="adj"/>
            </a:avLst>
          </a:prstGeom>
          <a:solidFill>
            <a:srgbClr val="FFFFFF">
              <a:alpha val="7059"/>
            </a:srgbClr>
          </a:solidFill>
          <a:ln cap="flat" cmpd="sng" w="9525">
            <a:solidFill>
              <a:srgbClr val="FFFFF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p48"/>
          <p:cNvSpPr/>
          <p:nvPr/>
        </p:nvSpPr>
        <p:spPr>
          <a:xfrm>
            <a:off x="1476375" y="4078337"/>
            <a:ext cx="474270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Access is a decision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48"/>
          <p:cNvSpPr/>
          <p:nvPr/>
        </p:nvSpPr>
        <p:spPr>
          <a:xfrm>
            <a:off x="1476375" y="4611737"/>
            <a:ext cx="4440897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4E2F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E4E2F5"/>
                </a:solidFill>
                <a:latin typeface="Inter"/>
                <a:ea typeface="Inter"/>
                <a:cs typeface="Inter"/>
                <a:sym typeface="Inter"/>
              </a:rPr>
              <a:t>Anonymous off, least-privilege roles, rotated keys — every credential is a choice you can show an auditor.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48"/>
          <p:cNvSpPr/>
          <p:nvPr/>
        </p:nvSpPr>
        <p:spPr>
          <a:xfrm>
            <a:off x="6559451" y="3687812"/>
            <a:ext cx="5168950" cy="5741938"/>
          </a:xfrm>
          <a:prstGeom prst="roundRect">
            <a:avLst>
              <a:gd fmla="val 3685" name="adj"/>
            </a:avLst>
          </a:prstGeom>
          <a:solidFill>
            <a:srgbClr val="FFFFFF">
              <a:alpha val="7059"/>
            </a:srgbClr>
          </a:solidFill>
          <a:ln cap="flat" cmpd="sng" w="9525">
            <a:solidFill>
              <a:srgbClr val="FFFFF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48"/>
          <p:cNvSpPr/>
          <p:nvPr/>
        </p:nvSpPr>
        <p:spPr>
          <a:xfrm>
            <a:off x="6988076" y="4078337"/>
            <a:ext cx="4441051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Recovery is proven, not scheduled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48"/>
          <p:cNvSpPr/>
          <p:nvPr/>
        </p:nvSpPr>
        <p:spPr>
          <a:xfrm>
            <a:off x="6988076" y="4973687"/>
            <a:ext cx="4441051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4E2F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E4E2F5"/>
                </a:solidFill>
                <a:latin typeface="Inter"/>
                <a:ea typeface="Inter"/>
                <a:cs typeface="Inter"/>
                <a:sym typeface="Inter"/>
              </a:rPr>
              <a:t>Backups are scoped, chains stay intact, and restores are rehearsed against RPO and RTO — on a calendar.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p48"/>
          <p:cNvSpPr/>
          <p:nvPr/>
        </p:nvSpPr>
        <p:spPr>
          <a:xfrm>
            <a:off x="12071300" y="3687812"/>
            <a:ext cx="5168950" cy="5741938"/>
          </a:xfrm>
          <a:prstGeom prst="roundRect">
            <a:avLst>
              <a:gd fmla="val 3685" name="adj"/>
            </a:avLst>
          </a:prstGeom>
          <a:solidFill>
            <a:srgbClr val="FFFFFF">
              <a:alpha val="7059"/>
            </a:srgbClr>
          </a:solidFill>
          <a:ln cap="flat" cmpd="sng" w="9525">
            <a:solidFill>
              <a:srgbClr val="FFFFF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48"/>
          <p:cNvSpPr/>
          <p:nvPr/>
        </p:nvSpPr>
        <p:spPr>
          <a:xfrm>
            <a:off x="12499925" y="4078337"/>
            <a:ext cx="474287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Change without drama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48"/>
          <p:cNvSpPr/>
          <p:nvPr/>
        </p:nvSpPr>
        <p:spPr>
          <a:xfrm>
            <a:off x="12499925" y="4611737"/>
            <a:ext cx="4441051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4E2F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E4E2F5"/>
                </a:solidFill>
                <a:latin typeface="Inter"/>
                <a:ea typeface="Inter"/>
                <a:cs typeface="Inter"/>
                <a:sym typeface="Inter"/>
              </a:rPr>
              <a:t>One minor version at a time, canary first, aliases for migrations — rollback criteria written before you start.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49"/>
          <p:cNvSpPr/>
          <p:nvPr/>
        </p:nvSpPr>
        <p:spPr>
          <a:xfrm>
            <a:off x="1047750" y="628650"/>
            <a:ext cx="10315917" cy="5828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667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900"/>
              <a:buFont typeface="Plus Jakarta Sans"/>
              <a:buNone/>
            </a:pPr>
            <a:r>
              <a:rPr b="1" i="0" lang="en-US" sz="39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Production access: the authN/Z ladder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8" name="Google Shape;1448;p49"/>
          <p:cNvSpPr/>
          <p:nvPr/>
        </p:nvSpPr>
        <p:spPr>
          <a:xfrm>
            <a:off x="1047750" y="1287661"/>
            <a:ext cx="10315917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Every rung is an explicit decision — none of this is safe to leave on defaults.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49" name="Google Shape;14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62865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0" name="Google Shape;1450;p49"/>
          <p:cNvSpPr/>
          <p:nvPr/>
        </p:nvSpPr>
        <p:spPr>
          <a:xfrm>
            <a:off x="1047750" y="2852738"/>
            <a:ext cx="16192500" cy="1274415"/>
          </a:xfrm>
          <a:prstGeom prst="roundRect">
            <a:avLst>
              <a:gd fmla="val 13453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49"/>
          <p:cNvSpPr/>
          <p:nvPr/>
        </p:nvSpPr>
        <p:spPr>
          <a:xfrm>
            <a:off x="1390650" y="3119438"/>
            <a:ext cx="1052959" cy="419100"/>
          </a:xfrm>
          <a:prstGeom prst="roundRect">
            <a:avLst>
              <a:gd fmla="val 50000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49"/>
          <p:cNvSpPr/>
          <p:nvPr/>
        </p:nvSpPr>
        <p:spPr>
          <a:xfrm>
            <a:off x="1562100" y="3214688"/>
            <a:ext cx="78625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Rung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49"/>
          <p:cNvSpPr/>
          <p:nvPr/>
        </p:nvSpPr>
        <p:spPr>
          <a:xfrm>
            <a:off x="2691259" y="3119438"/>
            <a:ext cx="1341922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Anonymous access: off, explicitly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49"/>
          <p:cNvSpPr/>
          <p:nvPr/>
        </p:nvSpPr>
        <p:spPr>
          <a:xfrm>
            <a:off x="2691259" y="3529013"/>
            <a:ext cx="13419222" cy="3695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The documented default is ambiguous (C-7) — so set it to false in every environment and prove it with a 401 test.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49"/>
          <p:cNvSpPr/>
          <p:nvPr/>
        </p:nvSpPr>
        <p:spPr>
          <a:xfrm>
            <a:off x="1047750" y="4336703"/>
            <a:ext cx="16192500" cy="1274415"/>
          </a:xfrm>
          <a:prstGeom prst="roundRect">
            <a:avLst>
              <a:gd fmla="val 13453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49"/>
          <p:cNvSpPr/>
          <p:nvPr/>
        </p:nvSpPr>
        <p:spPr>
          <a:xfrm>
            <a:off x="1390650" y="4603403"/>
            <a:ext cx="1094780" cy="419100"/>
          </a:xfrm>
          <a:prstGeom prst="roundRect">
            <a:avLst>
              <a:gd fmla="val 50000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7" name="Google Shape;1457;p49"/>
          <p:cNvSpPr/>
          <p:nvPr/>
        </p:nvSpPr>
        <p:spPr>
          <a:xfrm>
            <a:off x="1562100" y="4698653"/>
            <a:ext cx="82808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Rung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49"/>
          <p:cNvSpPr/>
          <p:nvPr/>
        </p:nvSpPr>
        <p:spPr>
          <a:xfrm>
            <a:off x="2733080" y="4603403"/>
            <a:ext cx="1422517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API keys + dynamic DB users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49"/>
          <p:cNvSpPr/>
          <p:nvPr/>
        </p:nvSpPr>
        <p:spPr>
          <a:xfrm>
            <a:off x="2733080" y="5012978"/>
            <a:ext cx="14225171" cy="3695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DB users (v1.30+) are API-managed: create, activate, deactivate, rotate — keys live in a secret store, never in manifests.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0" name="Google Shape;1460;p49"/>
          <p:cNvSpPr/>
          <p:nvPr/>
        </p:nvSpPr>
        <p:spPr>
          <a:xfrm>
            <a:off x="1047750" y="5820668"/>
            <a:ext cx="16192500" cy="1274415"/>
          </a:xfrm>
          <a:prstGeom prst="roundRect">
            <a:avLst>
              <a:gd fmla="val 13453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49"/>
          <p:cNvSpPr/>
          <p:nvPr/>
        </p:nvSpPr>
        <p:spPr>
          <a:xfrm>
            <a:off x="1390650" y="6087368"/>
            <a:ext cx="1098500" cy="419100"/>
          </a:xfrm>
          <a:prstGeom prst="roundRect">
            <a:avLst>
              <a:gd fmla="val 50000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p49"/>
          <p:cNvSpPr/>
          <p:nvPr/>
        </p:nvSpPr>
        <p:spPr>
          <a:xfrm>
            <a:off x="1562100" y="6182618"/>
            <a:ext cx="831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Rung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p49"/>
          <p:cNvSpPr/>
          <p:nvPr/>
        </p:nvSpPr>
        <p:spPr>
          <a:xfrm>
            <a:off x="2736800" y="6087368"/>
            <a:ext cx="1407815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OIDC + RBAC least privilege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4" name="Google Shape;1464;p49"/>
          <p:cNvSpPr/>
          <p:nvPr/>
        </p:nvSpPr>
        <p:spPr>
          <a:xfrm>
            <a:off x="2736800" y="6496943"/>
            <a:ext cx="14078158" cy="3695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Your IdP owns identity; RBAC (GA since 1.29) scopes each workload to a role you define — no application runs as root.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p49"/>
          <p:cNvSpPr/>
          <p:nvPr/>
        </p:nvSpPr>
        <p:spPr>
          <a:xfrm>
            <a:off x="1047750" y="8313539"/>
            <a:ext cx="7962900" cy="1421011"/>
          </a:xfrm>
          <a:prstGeom prst="roundRect">
            <a:avLst>
              <a:gd fmla="val 10725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49"/>
          <p:cNvSpPr/>
          <p:nvPr/>
        </p:nvSpPr>
        <p:spPr>
          <a:xfrm>
            <a:off x="1352550" y="8523089"/>
            <a:ext cx="808863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2B5E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floor — built-in roles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49"/>
          <p:cNvSpPr/>
          <p:nvPr/>
        </p:nvSpPr>
        <p:spPr>
          <a:xfrm>
            <a:off x="1352550" y="8885039"/>
            <a:ext cx="7573899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3E5A2B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E5A2B"/>
                </a:solidFill>
                <a:latin typeface="Inter"/>
                <a:ea typeface="Inter"/>
                <a:cs typeface="Inter"/>
                <a:sym typeface="Inter"/>
              </a:rPr>
              <a:t>root and viewer only — no built-in admin. Everything else is yours to define.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49"/>
          <p:cNvSpPr/>
          <p:nvPr/>
        </p:nvSpPr>
        <p:spPr>
          <a:xfrm>
            <a:off x="9277350" y="8313539"/>
            <a:ext cx="7962900" cy="1421011"/>
          </a:xfrm>
          <a:prstGeom prst="roundRect">
            <a:avLst>
              <a:gd fmla="val 10725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49"/>
          <p:cNvSpPr/>
          <p:nvPr/>
        </p:nvSpPr>
        <p:spPr>
          <a:xfrm>
            <a:off x="9582150" y="8523089"/>
            <a:ext cx="808863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2B5E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rotation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49"/>
          <p:cNvSpPr/>
          <p:nvPr/>
        </p:nvSpPr>
        <p:spPr>
          <a:xfrm>
            <a:off x="9582150" y="8885039"/>
            <a:ext cx="7573899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3E5A2B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E5A2B"/>
                </a:solidFill>
                <a:latin typeface="Inter"/>
                <a:ea typeface="Inter"/>
                <a:cs typeface="Inter"/>
                <a:sym typeface="Inter"/>
              </a:rPr>
              <a:t>A calendar event, not an aspiration — the rotate-key API makes it routine.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50"/>
          <p:cNvSpPr/>
          <p:nvPr/>
        </p:nvSpPr>
        <p:spPr>
          <a:xfrm>
            <a:off x="1047750" y="723900"/>
            <a:ext cx="9535671" cy="6037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353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4050"/>
              <a:buFont typeface="Plus Jakarta Sans"/>
              <a:buNone/>
            </a:pPr>
            <a:r>
              <a:rPr b="1" i="0" lang="en-US" sz="40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Wire &amp; network posture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7" name="Google Shape;1477;p50"/>
          <p:cNvSpPr/>
          <p:nvPr/>
        </p:nvSpPr>
        <p:spPr>
          <a:xfrm>
            <a:off x="1047750" y="1403896"/>
            <a:ext cx="9535671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TLS, isolation, secrets, audit — the posture questions an auditor asks first.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78" name="Google Shape;147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72390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9" name="Google Shape;1479;p50"/>
          <p:cNvSpPr/>
          <p:nvPr/>
        </p:nvSpPr>
        <p:spPr>
          <a:xfrm>
            <a:off x="1047750" y="2169616"/>
            <a:ext cx="7962900" cy="3591967"/>
          </a:xfrm>
          <a:prstGeom prst="roundRect">
            <a:avLst>
              <a:gd fmla="val 4773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50"/>
          <p:cNvSpPr/>
          <p:nvPr/>
        </p:nvSpPr>
        <p:spPr>
          <a:xfrm>
            <a:off x="1409700" y="2483941"/>
            <a:ext cx="236545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75"/>
              <a:buFont typeface="Plus Jakarta Sans"/>
              <a:buNone/>
            </a:pPr>
            <a:r>
              <a:rPr b="1" i="0" lang="en-US" sz="217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TLS at the proxy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50"/>
          <p:cNvSpPr/>
          <p:nvPr/>
        </p:nvSpPr>
        <p:spPr>
          <a:xfrm>
            <a:off x="6878985" y="2474416"/>
            <a:ext cx="1769715" cy="361950"/>
          </a:xfrm>
          <a:prstGeom prst="roundRect">
            <a:avLst>
              <a:gd fmla="val 50000" name="adj"/>
            </a:avLst>
          </a:prstGeom>
          <a:solidFill>
            <a:srgbClr val="E7E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50"/>
          <p:cNvSpPr/>
          <p:nvPr/>
        </p:nvSpPr>
        <p:spPr>
          <a:xfrm>
            <a:off x="7031385" y="2541091"/>
            <a:ext cx="164188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1C4E93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C4E93"/>
                </a:solidFill>
                <a:latin typeface="Inter"/>
                <a:ea typeface="Inter"/>
                <a:cs typeface="Inter"/>
                <a:sym typeface="Inter"/>
              </a:rPr>
              <a:t>REST + gRPC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3" name="Google Shape;1483;p50"/>
          <p:cNvSpPr/>
          <p:nvPr/>
        </p:nvSpPr>
        <p:spPr>
          <a:xfrm>
            <a:off x="1409700" y="2950666"/>
            <a:ext cx="7456170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No native TLS env vars are documented — terminate at the proxy / ingress (h2c for gRPC); clients connect with http_secure / grpc_secure.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4" name="Google Shape;1484;p50"/>
          <p:cNvSpPr/>
          <p:nvPr/>
        </p:nvSpPr>
        <p:spPr>
          <a:xfrm>
            <a:off x="9277350" y="2169616"/>
            <a:ext cx="7962900" cy="3591967"/>
          </a:xfrm>
          <a:prstGeom prst="roundRect">
            <a:avLst>
              <a:gd fmla="val 4773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50"/>
          <p:cNvSpPr/>
          <p:nvPr/>
        </p:nvSpPr>
        <p:spPr>
          <a:xfrm>
            <a:off x="9639300" y="2483941"/>
            <a:ext cx="263410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75"/>
              <a:buFont typeface="Plus Jakarta Sans"/>
              <a:buNone/>
            </a:pPr>
            <a:r>
              <a:rPr b="1" i="0" lang="en-US" sz="217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Network isolation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6" name="Google Shape;1486;p50"/>
          <p:cNvSpPr/>
          <p:nvPr/>
        </p:nvSpPr>
        <p:spPr>
          <a:xfrm>
            <a:off x="15669220" y="2474416"/>
            <a:ext cx="1209080" cy="361950"/>
          </a:xfrm>
          <a:prstGeom prst="roundRect">
            <a:avLst>
              <a:gd fmla="val 50000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p50"/>
          <p:cNvSpPr/>
          <p:nvPr/>
        </p:nvSpPr>
        <p:spPr>
          <a:xfrm>
            <a:off x="15821620" y="2541091"/>
            <a:ext cx="102518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Day 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p50"/>
          <p:cNvSpPr/>
          <p:nvPr/>
        </p:nvSpPr>
        <p:spPr>
          <a:xfrm>
            <a:off x="9639300" y="2950666"/>
            <a:ext cx="7456170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Cluster off the public internet; REST 8080, gRPC 50051 and inter-node ports restricted to the cluster network.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p50"/>
          <p:cNvSpPr/>
          <p:nvPr/>
        </p:nvSpPr>
        <p:spPr>
          <a:xfrm>
            <a:off x="1047750" y="6028283"/>
            <a:ext cx="7962900" cy="3591967"/>
          </a:xfrm>
          <a:prstGeom prst="roundRect">
            <a:avLst>
              <a:gd fmla="val 4773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50"/>
          <p:cNvSpPr/>
          <p:nvPr/>
        </p:nvSpPr>
        <p:spPr>
          <a:xfrm>
            <a:off x="1409700" y="6342608"/>
            <a:ext cx="2254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75"/>
              <a:buFont typeface="Plus Jakarta Sans"/>
              <a:buNone/>
            </a:pPr>
            <a:r>
              <a:rPr b="1" i="0" lang="en-US" sz="217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Secret rotation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1" name="Google Shape;1491;p50"/>
          <p:cNvSpPr/>
          <p:nvPr/>
        </p:nvSpPr>
        <p:spPr>
          <a:xfrm>
            <a:off x="6758732" y="6333083"/>
            <a:ext cx="1889968" cy="361950"/>
          </a:xfrm>
          <a:prstGeom prst="roundRect">
            <a:avLst>
              <a:gd fmla="val 50000" name="adj"/>
            </a:avLst>
          </a:prstGeom>
          <a:solidFill>
            <a:srgbClr val="FDF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50"/>
          <p:cNvSpPr/>
          <p:nvPr/>
        </p:nvSpPr>
        <p:spPr>
          <a:xfrm>
            <a:off x="6911132" y="6399758"/>
            <a:ext cx="177416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6B5E0E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6B5E0E"/>
                </a:solidFill>
                <a:latin typeface="Inter"/>
                <a:ea typeface="Inter"/>
                <a:cs typeface="Inter"/>
                <a:sym typeface="Inter"/>
              </a:rPr>
              <a:t>On a schedule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3" name="Google Shape;1493;p50"/>
          <p:cNvSpPr/>
          <p:nvPr/>
        </p:nvSpPr>
        <p:spPr>
          <a:xfrm>
            <a:off x="1409700" y="6809333"/>
            <a:ext cx="7456170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Credentials live in a secret manager and rotate on a calendar — the DB-user rotate-key API makes it routine, not an outage.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4" name="Google Shape;1494;p50"/>
          <p:cNvSpPr/>
          <p:nvPr/>
        </p:nvSpPr>
        <p:spPr>
          <a:xfrm>
            <a:off x="9277350" y="6028283"/>
            <a:ext cx="7962900" cy="3591967"/>
          </a:xfrm>
          <a:prstGeom prst="roundRect">
            <a:avLst>
              <a:gd fmla="val 4773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50"/>
          <p:cNvSpPr/>
          <p:nvPr/>
        </p:nvSpPr>
        <p:spPr>
          <a:xfrm>
            <a:off x="9639300" y="6342608"/>
            <a:ext cx="224938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75"/>
              <a:buFont typeface="Plus Jakarta Sans"/>
              <a:buNone/>
            </a:pPr>
            <a:r>
              <a:rPr b="1" i="0" lang="en-US" sz="217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Audit evidence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6" name="Google Shape;1496;p50"/>
          <p:cNvSpPr/>
          <p:nvPr/>
        </p:nvSpPr>
        <p:spPr>
          <a:xfrm>
            <a:off x="15082838" y="6333083"/>
            <a:ext cx="1795463" cy="361950"/>
          </a:xfrm>
          <a:prstGeom prst="roundRect">
            <a:avLst>
              <a:gd fmla="val 50000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p50"/>
          <p:cNvSpPr/>
          <p:nvPr/>
        </p:nvSpPr>
        <p:spPr>
          <a:xfrm>
            <a:off x="15235238" y="6399758"/>
            <a:ext cx="167020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RBAC built-in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8" name="Google Shape;1498;p50"/>
          <p:cNvSpPr/>
          <p:nvPr/>
        </p:nvSpPr>
        <p:spPr>
          <a:xfrm>
            <a:off x="9639300" y="6809333"/>
            <a:ext cx="7456170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Audit logging turns on automatically with RBAC — identity, action, outcome, source IP. Retain it before the auditor asks.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51"/>
          <p:cNvSpPr/>
          <p:nvPr/>
        </p:nvSpPr>
        <p:spPr>
          <a:xfrm>
            <a:off x="952500" y="533400"/>
            <a:ext cx="11962686" cy="5409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557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600"/>
              <a:buFont typeface="Plus Jakarta Sans"/>
              <a:buNone/>
            </a:pPr>
            <a:r>
              <a:rPr b="1" i="0" lang="en-US" sz="36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Backups: the fine print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5" name="Google Shape;1505;p51"/>
          <p:cNvSpPr/>
          <p:nvPr/>
        </p:nvSpPr>
        <p:spPr>
          <a:xfrm>
            <a:off x="952500" y="1131540"/>
            <a:ext cx="1196268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The caveats that decide whether </a:t>
            </a:r>
            <a:r>
              <a:rPr lang="en-US" sz="1875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Acme</a:t>
            </a:r>
            <a:r>
              <a:rPr b="0" i="0" lang="en-US" sz="1875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's RPO 1 h / RTO 4 h (illustrative) survive a real restore.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06" name="Google Shape;1506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61594" y="533400"/>
            <a:ext cx="773906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7" name="Google Shape;1507;p51"/>
          <p:cNvSpPr/>
          <p:nvPr/>
        </p:nvSpPr>
        <p:spPr>
          <a:xfrm>
            <a:off x="952500" y="1674465"/>
            <a:ext cx="2948880" cy="601861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51"/>
          <p:cNvSpPr/>
          <p:nvPr/>
        </p:nvSpPr>
        <p:spPr>
          <a:xfrm>
            <a:off x="1162050" y="1826865"/>
            <a:ext cx="2618247" cy="335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Caveat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9" name="Google Shape;1509;p51"/>
          <p:cNvSpPr/>
          <p:nvPr/>
        </p:nvSpPr>
        <p:spPr>
          <a:xfrm>
            <a:off x="3901380" y="1674465"/>
            <a:ext cx="4587180" cy="601861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51"/>
          <p:cNvSpPr/>
          <p:nvPr/>
        </p:nvSpPr>
        <p:spPr>
          <a:xfrm>
            <a:off x="4110930" y="1826865"/>
            <a:ext cx="4305696" cy="335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Documented behavior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1" name="Google Shape;1511;p51"/>
          <p:cNvSpPr/>
          <p:nvPr/>
        </p:nvSpPr>
        <p:spPr>
          <a:xfrm>
            <a:off x="8488561" y="1674465"/>
            <a:ext cx="1965871" cy="601861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51"/>
          <p:cNvSpPr/>
          <p:nvPr/>
        </p:nvSpPr>
        <p:spPr>
          <a:xfrm>
            <a:off x="8698111" y="1826865"/>
            <a:ext cx="1622971" cy="335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3" name="Google Shape;1513;p51"/>
          <p:cNvSpPr/>
          <p:nvPr/>
        </p:nvSpPr>
        <p:spPr>
          <a:xfrm>
            <a:off x="10454432" y="1674465"/>
            <a:ext cx="2621161" cy="601861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p51"/>
          <p:cNvSpPr/>
          <p:nvPr/>
        </p:nvSpPr>
        <p:spPr>
          <a:xfrm>
            <a:off x="10663982" y="1826865"/>
            <a:ext cx="2280696" cy="335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Risk if ignored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5" name="Google Shape;1515;p51"/>
          <p:cNvSpPr/>
          <p:nvPr/>
        </p:nvSpPr>
        <p:spPr>
          <a:xfrm>
            <a:off x="13075593" y="1674465"/>
            <a:ext cx="4259907" cy="601861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6" name="Google Shape;1516;p51"/>
          <p:cNvSpPr/>
          <p:nvPr/>
        </p:nvSpPr>
        <p:spPr>
          <a:xfrm>
            <a:off x="13285143" y="1826865"/>
            <a:ext cx="3968605" cy="335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Your move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7" name="Google Shape;1517;p51"/>
          <p:cNvSpPr/>
          <p:nvPr/>
        </p:nvSpPr>
        <p:spPr>
          <a:xfrm>
            <a:off x="952500" y="2839194"/>
            <a:ext cx="294888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8" name="Google Shape;1518;p51"/>
          <p:cNvSpPr/>
          <p:nvPr/>
        </p:nvSpPr>
        <p:spPr>
          <a:xfrm>
            <a:off x="1162050" y="2400151"/>
            <a:ext cx="2618247" cy="3533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Name collision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9" name="Google Shape;1519;p51"/>
          <p:cNvSpPr/>
          <p:nvPr/>
        </p:nvSpPr>
        <p:spPr>
          <a:xfrm>
            <a:off x="3901380" y="2839194"/>
            <a:ext cx="458718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0" name="Google Shape;1520;p51"/>
          <p:cNvSpPr/>
          <p:nvPr/>
        </p:nvSpPr>
        <p:spPr>
          <a:xfrm>
            <a:off x="4110930" y="2400151"/>
            <a:ext cx="4305696" cy="3533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Restore fails if collection exists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1" name="Google Shape;1521;p51"/>
          <p:cNvSpPr/>
          <p:nvPr/>
        </p:nvSpPr>
        <p:spPr>
          <a:xfrm>
            <a:off x="8488561" y="2839194"/>
            <a:ext cx="1965871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2" name="Google Shape;1522;p51"/>
          <p:cNvSpPr/>
          <p:nvPr/>
        </p:nvSpPr>
        <p:spPr>
          <a:xfrm>
            <a:off x="8698111" y="2400151"/>
            <a:ext cx="1622971" cy="3533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Any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3" name="Google Shape;1523;p51"/>
          <p:cNvSpPr/>
          <p:nvPr/>
        </p:nvSpPr>
        <p:spPr>
          <a:xfrm>
            <a:off x="10454432" y="2839194"/>
            <a:ext cx="2621161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4" name="Google Shape;1524;p51"/>
          <p:cNvSpPr/>
          <p:nvPr/>
        </p:nvSpPr>
        <p:spPr>
          <a:xfrm>
            <a:off x="10663982" y="2400151"/>
            <a:ext cx="2280696" cy="3533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93400F"/>
                </a:solidFill>
                <a:latin typeface="Inter"/>
                <a:ea typeface="Inter"/>
                <a:cs typeface="Inter"/>
                <a:sym typeface="Inter"/>
              </a:rPr>
              <a:t>Failed 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5" name="Google Shape;1525;p51"/>
          <p:cNvSpPr/>
          <p:nvPr/>
        </p:nvSpPr>
        <p:spPr>
          <a:xfrm>
            <a:off x="13075593" y="2839194"/>
            <a:ext cx="4259907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6" name="Google Shape;1526;p51"/>
          <p:cNvSpPr/>
          <p:nvPr/>
        </p:nvSpPr>
        <p:spPr>
          <a:xfrm>
            <a:off x="13285143" y="2400151"/>
            <a:ext cx="3968605" cy="3533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Delete or rename first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7" name="Google Shape;1527;p51"/>
          <p:cNvSpPr/>
          <p:nvPr/>
        </p:nvSpPr>
        <p:spPr>
          <a:xfrm>
            <a:off x="952500" y="3416350"/>
            <a:ext cx="294888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51"/>
          <p:cNvSpPr/>
          <p:nvPr/>
        </p:nvSpPr>
        <p:spPr>
          <a:xfrm>
            <a:off x="1162050" y="2972544"/>
            <a:ext cx="2618247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Roles + users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51"/>
          <p:cNvSpPr/>
          <p:nvPr/>
        </p:nvSpPr>
        <p:spPr>
          <a:xfrm>
            <a:off x="3901380" y="3416350"/>
            <a:ext cx="458718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51"/>
          <p:cNvSpPr/>
          <p:nvPr/>
        </p:nvSpPr>
        <p:spPr>
          <a:xfrm>
            <a:off x="4110930" y="2972544"/>
            <a:ext cx="4305696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Not restored by default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1" name="Google Shape;1531;p51"/>
          <p:cNvSpPr/>
          <p:nvPr/>
        </p:nvSpPr>
        <p:spPr>
          <a:xfrm>
            <a:off x="8488561" y="3416350"/>
            <a:ext cx="1965871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51"/>
          <p:cNvSpPr/>
          <p:nvPr/>
        </p:nvSpPr>
        <p:spPr>
          <a:xfrm>
            <a:off x="8698111" y="2972544"/>
            <a:ext cx="1622971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Any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p51"/>
          <p:cNvSpPr/>
          <p:nvPr/>
        </p:nvSpPr>
        <p:spPr>
          <a:xfrm>
            <a:off x="10454432" y="3416350"/>
            <a:ext cx="2621161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51"/>
          <p:cNvSpPr/>
          <p:nvPr/>
        </p:nvSpPr>
        <p:spPr>
          <a:xfrm>
            <a:off x="10663982" y="2972544"/>
            <a:ext cx="2280696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93400F"/>
                </a:solidFill>
                <a:latin typeface="Inter"/>
                <a:ea typeface="Inter"/>
                <a:cs typeface="Inter"/>
                <a:sym typeface="Inter"/>
              </a:rPr>
              <a:t>Locked out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5" name="Google Shape;1535;p51"/>
          <p:cNvSpPr/>
          <p:nvPr/>
        </p:nvSpPr>
        <p:spPr>
          <a:xfrm>
            <a:off x="13075593" y="3416350"/>
            <a:ext cx="4259907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51"/>
          <p:cNvSpPr/>
          <p:nvPr/>
        </p:nvSpPr>
        <p:spPr>
          <a:xfrm>
            <a:off x="13285143" y="2972544"/>
            <a:ext cx="3968605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roles/usersOptions: all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51"/>
          <p:cNvSpPr/>
          <p:nvPr/>
        </p:nvSpPr>
        <p:spPr>
          <a:xfrm>
            <a:off x="952500" y="3993505"/>
            <a:ext cx="294888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51"/>
          <p:cNvSpPr/>
          <p:nvPr/>
        </p:nvSpPr>
        <p:spPr>
          <a:xfrm>
            <a:off x="1162050" y="3549700"/>
            <a:ext cx="2618247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Tenant states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9" name="Google Shape;1539;p51"/>
          <p:cNvSpPr/>
          <p:nvPr/>
        </p:nvSpPr>
        <p:spPr>
          <a:xfrm>
            <a:off x="3901380" y="3993505"/>
            <a:ext cx="458718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0" name="Google Shape;1540;p51"/>
          <p:cNvSpPr/>
          <p:nvPr/>
        </p:nvSpPr>
        <p:spPr>
          <a:xfrm>
            <a:off x="4110930" y="3549700"/>
            <a:ext cx="4305696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INACTIVE in, OFFLOADED out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51"/>
          <p:cNvSpPr/>
          <p:nvPr/>
        </p:nvSpPr>
        <p:spPr>
          <a:xfrm>
            <a:off x="8488561" y="3993505"/>
            <a:ext cx="1965871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p51"/>
          <p:cNvSpPr/>
          <p:nvPr/>
        </p:nvSpPr>
        <p:spPr>
          <a:xfrm>
            <a:off x="8698111" y="3549700"/>
            <a:ext cx="1622971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v1.37+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51"/>
          <p:cNvSpPr/>
          <p:nvPr/>
        </p:nvSpPr>
        <p:spPr>
          <a:xfrm>
            <a:off x="10454432" y="3993505"/>
            <a:ext cx="2621161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4" name="Google Shape;1544;p51"/>
          <p:cNvSpPr/>
          <p:nvPr/>
        </p:nvSpPr>
        <p:spPr>
          <a:xfrm>
            <a:off x="10663982" y="3549700"/>
            <a:ext cx="2280696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93400F"/>
                </a:solidFill>
                <a:latin typeface="Inter"/>
                <a:ea typeface="Inter"/>
                <a:cs typeface="Inter"/>
                <a:sym typeface="Inter"/>
              </a:rPr>
              <a:t>Silent gaps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51"/>
          <p:cNvSpPr/>
          <p:nvPr/>
        </p:nvSpPr>
        <p:spPr>
          <a:xfrm>
            <a:off x="13075593" y="3993505"/>
            <a:ext cx="4259907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6" name="Google Shape;1546;p51"/>
          <p:cNvSpPr/>
          <p:nvPr/>
        </p:nvSpPr>
        <p:spPr>
          <a:xfrm>
            <a:off x="13285143" y="3549700"/>
            <a:ext cx="3968605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No activation needed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51"/>
          <p:cNvSpPr/>
          <p:nvPr/>
        </p:nvSpPr>
        <p:spPr>
          <a:xfrm>
            <a:off x="952500" y="4570661"/>
            <a:ext cx="294888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8" name="Google Shape;1548;p51"/>
          <p:cNvSpPr/>
          <p:nvPr/>
        </p:nvSpPr>
        <p:spPr>
          <a:xfrm>
            <a:off x="1162050" y="4126855"/>
            <a:ext cx="2618247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Incremental chains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51"/>
          <p:cNvSpPr/>
          <p:nvPr/>
        </p:nvSpPr>
        <p:spPr>
          <a:xfrm>
            <a:off x="3901380" y="4570661"/>
            <a:ext cx="458718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0" name="Google Shape;1550;p51"/>
          <p:cNvSpPr/>
          <p:nvPr/>
        </p:nvSpPr>
        <p:spPr>
          <a:xfrm>
            <a:off x="4110930" y="4126855"/>
            <a:ext cx="4305696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Keep base + chain available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51"/>
          <p:cNvSpPr/>
          <p:nvPr/>
        </p:nvSpPr>
        <p:spPr>
          <a:xfrm>
            <a:off x="8488561" y="4570661"/>
            <a:ext cx="1965871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2" name="Google Shape;1552;p51"/>
          <p:cNvSpPr/>
          <p:nvPr/>
        </p:nvSpPr>
        <p:spPr>
          <a:xfrm>
            <a:off x="8698111" y="4126855"/>
            <a:ext cx="1622971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v1.37+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p51"/>
          <p:cNvSpPr/>
          <p:nvPr/>
        </p:nvSpPr>
        <p:spPr>
          <a:xfrm>
            <a:off x="10454432" y="4570661"/>
            <a:ext cx="2621161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51"/>
          <p:cNvSpPr/>
          <p:nvPr/>
        </p:nvSpPr>
        <p:spPr>
          <a:xfrm>
            <a:off x="10663982" y="4126855"/>
            <a:ext cx="2280696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93400F"/>
                </a:solidFill>
                <a:latin typeface="Inter"/>
                <a:ea typeface="Inter"/>
                <a:cs typeface="Inter"/>
                <a:sym typeface="Inter"/>
              </a:rPr>
              <a:t>Broken chain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5" name="Google Shape;1555;p51"/>
          <p:cNvSpPr/>
          <p:nvPr/>
        </p:nvSpPr>
        <p:spPr>
          <a:xfrm>
            <a:off x="13075593" y="4570661"/>
            <a:ext cx="4259907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51"/>
          <p:cNvSpPr/>
          <p:nvPr/>
        </p:nvSpPr>
        <p:spPr>
          <a:xfrm>
            <a:off x="13285143" y="4126855"/>
            <a:ext cx="3968605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Protect base retention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7" name="Google Shape;1557;p51"/>
          <p:cNvSpPr/>
          <p:nvPr/>
        </p:nvSpPr>
        <p:spPr>
          <a:xfrm>
            <a:off x="952500" y="4794498"/>
            <a:ext cx="16874490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8B87B3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8B87B3"/>
                </a:solidFill>
                <a:latin typeface="Inter"/>
                <a:ea typeface="Inter"/>
                <a:cs typeface="Inter"/>
                <a:sym typeface="Inter"/>
              </a:rPr>
              <a:t>No point-in-time recovery — discrete snapshots only · filesystem backend is single-node, non-production · C-5 settled: HOT+COLD included since 1.37, FROZEN skipped — restore-test regardless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8" name="Google Shape;1558;p51"/>
          <p:cNvSpPr/>
          <p:nvPr/>
        </p:nvSpPr>
        <p:spPr>
          <a:xfrm>
            <a:off x="952500" y="5644009"/>
            <a:ext cx="8058150" cy="4166741"/>
          </a:xfrm>
          <a:prstGeom prst="roundRect">
            <a:avLst>
              <a:gd fmla="val 4115" name="adj"/>
            </a:avLst>
          </a:prstGeom>
          <a:solidFill>
            <a:srgbClr val="FBE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51"/>
          <p:cNvSpPr/>
          <p:nvPr/>
        </p:nvSpPr>
        <p:spPr>
          <a:xfrm>
            <a:off x="1238250" y="5872609"/>
            <a:ext cx="823531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9340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Risk register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51"/>
          <p:cNvSpPr/>
          <p:nvPr/>
        </p:nvSpPr>
        <p:spPr>
          <a:xfrm>
            <a:off x="1238250" y="6282184"/>
            <a:ext cx="771125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7A4A2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7A4A26"/>
                </a:solidFill>
                <a:latin typeface="Inter"/>
                <a:ea typeface="Inter"/>
                <a:cs typeface="Inter"/>
                <a:sym typeface="Inter"/>
              </a:rPr>
              <a:t>Broken incremental chain — everything after the break is unrestorable Cross-cluster restore needs identical node count and names Status SUCCESS proves the write path — scheduled is not restorable WCD: daily backups managed, restore goes through support — the drill is still yours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51"/>
          <p:cNvSpPr/>
          <p:nvPr/>
        </p:nvSpPr>
        <p:spPr>
          <a:xfrm>
            <a:off x="9277350" y="5644009"/>
            <a:ext cx="8058150" cy="4166741"/>
          </a:xfrm>
          <a:prstGeom prst="roundRect">
            <a:avLst>
              <a:gd fmla="val 4115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51"/>
          <p:cNvSpPr/>
          <p:nvPr/>
        </p:nvSpPr>
        <p:spPr>
          <a:xfrm>
            <a:off x="9563100" y="5872609"/>
            <a:ext cx="823531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2B5E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Decisions you own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p51"/>
          <p:cNvSpPr/>
          <p:nvPr/>
        </p:nvSpPr>
        <p:spPr>
          <a:xfrm>
            <a:off x="9563100" y="6282184"/>
            <a:ext cx="771125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3E5A2B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E5A2B"/>
                </a:solidFill>
                <a:latin typeface="Inter"/>
                <a:ea typeface="Inter"/>
                <a:cs typeface="Inter"/>
                <a:sym typeface="Inter"/>
              </a:rPr>
              <a:t>Remote backend: S3 / GCS / Azure — never filesystem in production Schedule mapped to your written RPO, chain length + base retention include / exclude scope per collection (wildcards, case-sensitive) Restore-drill cadence, timed end-to-end against RTO Backup permissions in RBAC roles — verify before the drill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p52"/>
          <p:cNvSpPr/>
          <p:nvPr/>
        </p:nvSpPr>
        <p:spPr>
          <a:xfrm>
            <a:off x="952500" y="590550"/>
            <a:ext cx="10125521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30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750"/>
              <a:buFont typeface="Plus Jakarta Sans"/>
              <a:buNone/>
            </a:pPr>
            <a:r>
              <a:rPr b="1" i="0" lang="en-US" sz="37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Backup, or hypothesis?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0" name="Google Shape;1570;p52"/>
          <p:cNvSpPr/>
          <p:nvPr/>
        </p:nvSpPr>
        <p:spPr>
          <a:xfrm>
            <a:off x="952500" y="1209675"/>
            <a:ext cx="1012552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A backup you haven't restored is a hypothesis — the restore drill is the only proof.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71" name="Google Shape;157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30638" y="59055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2" name="Google Shape;1572;p52"/>
          <p:cNvSpPr/>
          <p:nvPr/>
        </p:nvSpPr>
        <p:spPr>
          <a:xfrm>
            <a:off x="952500" y="1771650"/>
            <a:ext cx="16383000" cy="981075"/>
          </a:xfrm>
          <a:prstGeom prst="roundRect">
            <a:avLst>
              <a:gd fmla="val 15534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52"/>
          <p:cNvSpPr/>
          <p:nvPr/>
        </p:nvSpPr>
        <p:spPr>
          <a:xfrm>
            <a:off x="1257300" y="1943100"/>
            <a:ext cx="173507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5E4"/>
              </a:buClr>
              <a:buSzPts val="1800"/>
              <a:buFont typeface="Inter"/>
              <a:buNone/>
            </a:pPr>
            <a:r>
              <a:rPr lang="en-US" sz="1800">
                <a:solidFill>
                  <a:srgbClr val="B9B5E4"/>
                </a:solidFill>
                <a:latin typeface="Inter"/>
                <a:ea typeface="Inter"/>
                <a:cs typeface="Inter"/>
                <a:sym typeface="Inter"/>
              </a:rPr>
              <a:t>Acme</a:t>
            </a:r>
            <a:r>
              <a:rPr b="0" i="0" lang="en-US" sz="1800" u="none" cap="none" strike="noStrike">
                <a:solidFill>
                  <a:srgbClr val="B9B5E4"/>
                </a:solidFill>
                <a:latin typeface="Inter"/>
                <a:ea typeface="Inter"/>
                <a:cs typeface="Inter"/>
                <a:sym typeface="Inter"/>
              </a:rPr>
              <a:t> targets (illustrative): RPO 1 h · RTO 4 h — two claims that sound identical, and are not: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4" name="Google Shape;1574;p52"/>
          <p:cNvSpPr/>
          <p:nvPr/>
        </p:nvSpPr>
        <p:spPr>
          <a:xfrm>
            <a:off x="1257300" y="2257425"/>
            <a:ext cx="1735074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"When did we last prove we can come back?"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5" name="Google Shape;1575;p52"/>
          <p:cNvSpPr/>
          <p:nvPr/>
        </p:nvSpPr>
        <p:spPr>
          <a:xfrm>
            <a:off x="952500" y="2981325"/>
            <a:ext cx="8058150" cy="5518845"/>
          </a:xfrm>
          <a:prstGeom prst="roundRect">
            <a:avLst>
              <a:gd fmla="val 3107" name="adj"/>
            </a:avLst>
          </a:prstGeom>
          <a:solidFill>
            <a:srgbClr val="FDF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52"/>
          <p:cNvSpPr/>
          <p:nvPr/>
        </p:nvSpPr>
        <p:spPr>
          <a:xfrm>
            <a:off x="1238250" y="3209925"/>
            <a:ext cx="823531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E0E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6B5E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scheduled backup proves…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p52"/>
          <p:cNvSpPr/>
          <p:nvPr/>
        </p:nvSpPr>
        <p:spPr>
          <a:xfrm>
            <a:off x="1238250" y="3619500"/>
            <a:ext cx="823531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E0E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6B5E0E"/>
                </a:solidFill>
                <a:latin typeface="Inter"/>
                <a:ea typeface="Inter"/>
                <a:cs typeface="Inter"/>
                <a:sym typeface="Inter"/>
              </a:rPr>
              <a:t>The API call succeeded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p52"/>
          <p:cNvSpPr/>
          <p:nvPr/>
        </p:nvSpPr>
        <p:spPr>
          <a:xfrm>
            <a:off x="1238250" y="3895725"/>
            <a:ext cx="8235315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8A804A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8A804A"/>
                </a:solidFill>
                <a:latin typeface="Inter"/>
                <a:ea typeface="Inter"/>
                <a:cs typeface="Inter"/>
                <a:sym typeface="Inter"/>
              </a:rPr>
              <a:t>status SUCCESS covers the write path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9" name="Google Shape;1579;p52"/>
          <p:cNvSpPr/>
          <p:nvPr/>
        </p:nvSpPr>
        <p:spPr>
          <a:xfrm>
            <a:off x="1238250" y="4268986"/>
            <a:ext cx="823531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E0E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6B5E0E"/>
                </a:solidFill>
                <a:latin typeface="Inter"/>
                <a:ea typeface="Inter"/>
                <a:cs typeface="Inter"/>
                <a:sym typeface="Inter"/>
              </a:rPr>
              <a:t>Files reached the backend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0" name="Google Shape;1580;p52"/>
          <p:cNvSpPr/>
          <p:nvPr/>
        </p:nvSpPr>
        <p:spPr>
          <a:xfrm>
            <a:off x="1238250" y="4545211"/>
            <a:ext cx="8235315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8A804A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8A804A"/>
                </a:solidFill>
                <a:latin typeface="Inter"/>
                <a:ea typeface="Inter"/>
                <a:cs typeface="Inter"/>
                <a:sym typeface="Inter"/>
              </a:rPr>
              <a:t>objects exist in S3 / GCS / Azure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1" name="Google Shape;1581;p52"/>
          <p:cNvSpPr/>
          <p:nvPr/>
        </p:nvSpPr>
        <p:spPr>
          <a:xfrm>
            <a:off x="1238250" y="4918472"/>
            <a:ext cx="823531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E0E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6B5E0E"/>
                </a:solidFill>
                <a:latin typeface="Inter"/>
                <a:ea typeface="Inter"/>
                <a:cs typeface="Inter"/>
                <a:sym typeface="Inter"/>
              </a:rPr>
              <a:t>The calendar fired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2" name="Google Shape;1582;p52"/>
          <p:cNvSpPr/>
          <p:nvPr/>
        </p:nvSpPr>
        <p:spPr>
          <a:xfrm>
            <a:off x="1238250" y="5194697"/>
            <a:ext cx="8235315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8A804A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8A804A"/>
                </a:solidFill>
                <a:latin typeface="Inter"/>
                <a:ea typeface="Inter"/>
                <a:cs typeface="Inter"/>
                <a:sym typeface="Inter"/>
              </a:rPr>
              <a:t>cron ran; nobody watched it land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52"/>
          <p:cNvSpPr/>
          <p:nvPr/>
        </p:nvSpPr>
        <p:spPr>
          <a:xfrm>
            <a:off x="1238250" y="5567958"/>
            <a:ext cx="823531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E0E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6B5E0E"/>
                </a:solidFill>
                <a:latin typeface="Inter"/>
                <a:ea typeface="Inter"/>
                <a:cs typeface="Inter"/>
                <a:sym typeface="Inter"/>
              </a:rPr>
              <a:t>Nothing about recovery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4" name="Google Shape;1584;p52"/>
          <p:cNvSpPr/>
          <p:nvPr/>
        </p:nvSpPr>
        <p:spPr>
          <a:xfrm>
            <a:off x="1238250" y="5844183"/>
            <a:ext cx="8235315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8A804A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8A804A"/>
                </a:solidFill>
                <a:latin typeface="Inter"/>
                <a:ea typeface="Inter"/>
                <a:cs typeface="Inter"/>
                <a:sym typeface="Inter"/>
              </a:rPr>
              <a:t>RPO and RTO are still unproven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p52"/>
          <p:cNvSpPr/>
          <p:nvPr/>
        </p:nvSpPr>
        <p:spPr>
          <a:xfrm>
            <a:off x="9277350" y="2981325"/>
            <a:ext cx="8058150" cy="5518845"/>
          </a:xfrm>
          <a:prstGeom prst="roundRect">
            <a:avLst>
              <a:gd fmla="val 3107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52"/>
          <p:cNvSpPr/>
          <p:nvPr/>
        </p:nvSpPr>
        <p:spPr>
          <a:xfrm>
            <a:off x="9563100" y="3209925"/>
            <a:ext cx="823531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2B5E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restore drill proves…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7" name="Google Shape;1587;p52"/>
          <p:cNvSpPr/>
          <p:nvPr/>
        </p:nvSpPr>
        <p:spPr>
          <a:xfrm>
            <a:off x="9563100" y="3619500"/>
            <a:ext cx="823531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The chain resolves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8" name="Google Shape;1588;p52"/>
          <p:cNvSpPr/>
          <p:nvPr/>
        </p:nvSpPr>
        <p:spPr>
          <a:xfrm>
            <a:off x="9563100" y="3895725"/>
            <a:ext cx="8235315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5C7A4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C7A46"/>
                </a:solidFill>
                <a:latin typeface="Inter"/>
                <a:ea typeface="Inter"/>
                <a:cs typeface="Inter"/>
                <a:sym typeface="Inter"/>
              </a:rPr>
              <a:t>base + increments all present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52"/>
          <p:cNvSpPr/>
          <p:nvPr/>
        </p:nvSpPr>
        <p:spPr>
          <a:xfrm>
            <a:off x="9563100" y="4268986"/>
            <a:ext cx="823531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Access comes back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0" name="Google Shape;1590;p52"/>
          <p:cNvSpPr/>
          <p:nvPr/>
        </p:nvSpPr>
        <p:spPr>
          <a:xfrm>
            <a:off x="9563100" y="4545211"/>
            <a:ext cx="8235315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5C7A4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C7A46"/>
                </a:solidFill>
                <a:latin typeface="Inter"/>
                <a:ea typeface="Inter"/>
                <a:cs typeface="Inter"/>
                <a:sym typeface="Inter"/>
              </a:rPr>
              <a:t>rolesOptions / usersOptions handled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1" name="Google Shape;1591;p52"/>
          <p:cNvSpPr/>
          <p:nvPr/>
        </p:nvSpPr>
        <p:spPr>
          <a:xfrm>
            <a:off x="9563100" y="4918472"/>
            <a:ext cx="823531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RTO is a number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2" name="Google Shape;1592;p52"/>
          <p:cNvSpPr/>
          <p:nvPr/>
        </p:nvSpPr>
        <p:spPr>
          <a:xfrm>
            <a:off x="9563100" y="5194697"/>
            <a:ext cx="8235315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5C7A4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C7A46"/>
                </a:solidFill>
                <a:latin typeface="Inter"/>
                <a:ea typeface="Inter"/>
                <a:cs typeface="Inter"/>
                <a:sym typeface="Inter"/>
              </a:rPr>
              <a:t>timed end-to-end vs the 4 h target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p52"/>
          <p:cNvSpPr/>
          <p:nvPr/>
        </p:nvSpPr>
        <p:spPr>
          <a:xfrm>
            <a:off x="9563100" y="5567958"/>
            <a:ext cx="823531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Data is complete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52"/>
          <p:cNvSpPr/>
          <p:nvPr/>
        </p:nvSpPr>
        <p:spPr>
          <a:xfrm>
            <a:off x="9563100" y="5844183"/>
            <a:ext cx="8235315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5C7A4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C7A46"/>
                </a:solidFill>
                <a:latin typeface="Inter"/>
                <a:ea typeface="Inter"/>
                <a:cs typeface="Inter"/>
                <a:sym typeface="Inter"/>
              </a:rPr>
              <a:t>counts + smoke queries pass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5" name="Google Shape;1595;p52"/>
          <p:cNvSpPr/>
          <p:nvPr/>
        </p:nvSpPr>
        <p:spPr>
          <a:xfrm>
            <a:off x="952500" y="8728770"/>
            <a:ext cx="16383000" cy="1043880"/>
          </a:xfrm>
          <a:prstGeom prst="roundRect">
            <a:avLst>
              <a:gd fmla="val 14599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p52"/>
          <p:cNvSpPr/>
          <p:nvPr/>
        </p:nvSpPr>
        <p:spPr>
          <a:xfrm>
            <a:off x="1257300" y="8919270"/>
            <a:ext cx="315765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0C8C5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Taught twice on purpose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7" name="Google Shape;1597;p52"/>
          <p:cNvSpPr/>
          <p:nvPr/>
        </p:nvSpPr>
        <p:spPr>
          <a:xfrm>
            <a:off x="4337447" y="8919270"/>
            <a:ext cx="13074051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Replication is availability; backup is recovery. HA is not DR — a bad delete replicates as enthusiastically as a write, and Lab 3's self-healing was not a backup.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53"/>
          <p:cNvSpPr/>
          <p:nvPr/>
        </p:nvSpPr>
        <p:spPr>
          <a:xfrm>
            <a:off x="1047750" y="666750"/>
            <a:ext cx="11713518" cy="5828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667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900"/>
              <a:buFont typeface="Plus Jakarta Sans"/>
              <a:buNone/>
            </a:pPr>
            <a:r>
              <a:rPr b="1" i="0" lang="en-US" sz="39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Upgrades: one minor at a time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4" name="Google Shape;1604;p53"/>
          <p:cNvSpPr/>
          <p:nvPr/>
        </p:nvSpPr>
        <p:spPr>
          <a:xfrm>
            <a:off x="1047750" y="1325761"/>
            <a:ext cx="11713518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Never skip a minor; land on the latest patch of each hop — with proof of health in between.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05" name="Google Shape;160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66675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6" name="Google Shape;1606;p53"/>
          <p:cNvSpPr/>
          <p:nvPr/>
        </p:nvSpPr>
        <p:spPr>
          <a:xfrm>
            <a:off x="1047750" y="2983111"/>
            <a:ext cx="16192500" cy="1274415"/>
          </a:xfrm>
          <a:prstGeom prst="roundRect">
            <a:avLst>
              <a:gd fmla="val 13453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53"/>
          <p:cNvSpPr/>
          <p:nvPr/>
        </p:nvSpPr>
        <p:spPr>
          <a:xfrm>
            <a:off x="1390650" y="3249811"/>
            <a:ext cx="1581150" cy="419100"/>
          </a:xfrm>
          <a:prstGeom prst="roundRect">
            <a:avLst>
              <a:gd fmla="val 50000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p53"/>
          <p:cNvSpPr/>
          <p:nvPr/>
        </p:nvSpPr>
        <p:spPr>
          <a:xfrm>
            <a:off x="1524000" y="3345061"/>
            <a:ext cx="1314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p53"/>
          <p:cNvSpPr/>
          <p:nvPr/>
        </p:nvSpPr>
        <p:spPr>
          <a:xfrm>
            <a:off x="3219450" y="3249811"/>
            <a:ext cx="1351843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Patch-hop the minors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0" name="Google Shape;1610;p53"/>
          <p:cNvSpPr/>
          <p:nvPr/>
        </p:nvSpPr>
        <p:spPr>
          <a:xfrm>
            <a:off x="3219450" y="3659386"/>
            <a:ext cx="13518431" cy="3695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Backup, then 1.36.x → 1.37.latest → 1.38.latest → 1.39.x (illustrative </a:t>
            </a:r>
            <a:r>
              <a:rPr lang="en-US" sz="1800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Acme</a:t>
            </a: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 path) — one minor per hop, latest patch each time.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1" name="Google Shape;1611;p53"/>
          <p:cNvSpPr/>
          <p:nvPr/>
        </p:nvSpPr>
        <p:spPr>
          <a:xfrm>
            <a:off x="1047750" y="4467076"/>
            <a:ext cx="16192500" cy="1274415"/>
          </a:xfrm>
          <a:prstGeom prst="roundRect">
            <a:avLst>
              <a:gd fmla="val 13453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53"/>
          <p:cNvSpPr/>
          <p:nvPr/>
        </p:nvSpPr>
        <p:spPr>
          <a:xfrm>
            <a:off x="1390650" y="4733776"/>
            <a:ext cx="1581150" cy="419100"/>
          </a:xfrm>
          <a:prstGeom prst="roundRect">
            <a:avLst>
              <a:gd fmla="val 50000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53"/>
          <p:cNvSpPr/>
          <p:nvPr/>
        </p:nvSpPr>
        <p:spPr>
          <a:xfrm>
            <a:off x="1524000" y="4829026"/>
            <a:ext cx="1314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4" name="Google Shape;1614;p53"/>
          <p:cNvSpPr/>
          <p:nvPr/>
        </p:nvSpPr>
        <p:spPr>
          <a:xfrm>
            <a:off x="3219450" y="4733776"/>
            <a:ext cx="1370309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Health gates between hops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5" name="Google Shape;1615;p53"/>
          <p:cNvSpPr/>
          <p:nvPr/>
        </p:nvSpPr>
        <p:spPr>
          <a:xfrm>
            <a:off x="3219450" y="5143351"/>
            <a:ext cx="13703097" cy="3695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/v1/cluster/statistics synchronized: true · nodes HEALTHY · readiness 200 · queues drained — no gate, no next hop.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p53"/>
          <p:cNvSpPr/>
          <p:nvPr/>
        </p:nvSpPr>
        <p:spPr>
          <a:xfrm>
            <a:off x="1047750" y="5951041"/>
            <a:ext cx="16192500" cy="1274415"/>
          </a:xfrm>
          <a:prstGeom prst="roundRect">
            <a:avLst>
              <a:gd fmla="val 13453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p53"/>
          <p:cNvSpPr/>
          <p:nvPr/>
        </p:nvSpPr>
        <p:spPr>
          <a:xfrm>
            <a:off x="1390650" y="6217741"/>
            <a:ext cx="1581150" cy="419100"/>
          </a:xfrm>
          <a:prstGeom prst="roundRect">
            <a:avLst>
              <a:gd fmla="val 50000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53"/>
          <p:cNvSpPr/>
          <p:nvPr/>
        </p:nvSpPr>
        <p:spPr>
          <a:xfrm>
            <a:off x="1524000" y="6312991"/>
            <a:ext cx="1314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Canary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9" name="Google Shape;1619;p53"/>
          <p:cNvSpPr/>
          <p:nvPr/>
        </p:nvSpPr>
        <p:spPr>
          <a:xfrm>
            <a:off x="3219450" y="6217741"/>
            <a:ext cx="1347079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Canary before the fleet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53"/>
          <p:cNvSpPr/>
          <p:nvPr/>
        </p:nvSpPr>
        <p:spPr>
          <a:xfrm>
            <a:off x="3219450" y="6627316"/>
            <a:ext cx="13470791" cy="3695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One node or collection takes real traffic first — promotion criteria written down: p95, error rate, recall spot-check.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53"/>
          <p:cNvSpPr/>
          <p:nvPr/>
        </p:nvSpPr>
        <p:spPr>
          <a:xfrm>
            <a:off x="1047750" y="7435007"/>
            <a:ext cx="16192500" cy="1274415"/>
          </a:xfrm>
          <a:prstGeom prst="roundRect">
            <a:avLst>
              <a:gd fmla="val 13453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2" name="Google Shape;1622;p53"/>
          <p:cNvSpPr/>
          <p:nvPr/>
        </p:nvSpPr>
        <p:spPr>
          <a:xfrm>
            <a:off x="1390650" y="7701707"/>
            <a:ext cx="1581150" cy="419100"/>
          </a:xfrm>
          <a:prstGeom prst="roundRect">
            <a:avLst>
              <a:gd fmla="val 50000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53"/>
          <p:cNvSpPr/>
          <p:nvPr/>
        </p:nvSpPr>
        <p:spPr>
          <a:xfrm>
            <a:off x="1524000" y="7796957"/>
            <a:ext cx="1314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Rollback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53"/>
          <p:cNvSpPr/>
          <p:nvPr/>
        </p:nvSpPr>
        <p:spPr>
          <a:xfrm>
            <a:off x="3219450" y="7701707"/>
            <a:ext cx="1384290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Rollback criteria before you start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p53"/>
          <p:cNvSpPr/>
          <p:nvPr/>
        </p:nvSpPr>
        <p:spPr>
          <a:xfrm>
            <a:off x="3219450" y="8111282"/>
            <a:ext cx="13842906" cy="3695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Triggers are numbers, not feelings. The way back is the pre-hop backup — downgrade paths are limited (see notes).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p54"/>
          <p:cNvSpPr/>
          <p:nvPr/>
        </p:nvSpPr>
        <p:spPr>
          <a:xfrm>
            <a:off x="952500" y="609600"/>
            <a:ext cx="1242336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30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750"/>
              <a:buFont typeface="Plus Jakarta Sans"/>
              <a:buNone/>
            </a:pPr>
            <a:r>
              <a:rPr b="1" i="0" lang="en-US" sz="37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Zero-downtime change with aliases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p54"/>
          <p:cNvSpPr/>
          <p:nvPr/>
        </p:nvSpPr>
        <p:spPr>
          <a:xfrm>
            <a:off x="952500" y="1228725"/>
            <a:ext cx="1242336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Alias repoint is atomic (GA, v1.32+) — the sanctioned answer to every immutable-at-creation choice.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33" name="Google Shape;163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30638" y="60960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4" name="Google Shape;1634;p54"/>
          <p:cNvSpPr/>
          <p:nvPr/>
        </p:nvSpPr>
        <p:spPr>
          <a:xfrm>
            <a:off x="952500" y="1809750"/>
            <a:ext cx="16383000" cy="739080"/>
          </a:xfrm>
          <a:prstGeom prst="roundRect">
            <a:avLst>
              <a:gd fmla="val 20620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p54"/>
          <p:cNvSpPr/>
          <p:nvPr/>
        </p:nvSpPr>
        <p:spPr>
          <a:xfrm>
            <a:off x="1257300" y="2000250"/>
            <a:ext cx="229899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Application code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54"/>
          <p:cNvSpPr/>
          <p:nvPr/>
        </p:nvSpPr>
        <p:spPr>
          <a:xfrm>
            <a:off x="3556843" y="2019300"/>
            <a:ext cx="14204052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C9C6E8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C9C6E8"/>
                </a:solidFill>
                <a:latin typeface="Inter"/>
                <a:ea typeface="Inter"/>
                <a:cs typeface="Inter"/>
                <a:sym typeface="Inter"/>
              </a:rPr>
              <a:t>queries alias </a:t>
            </a:r>
            <a:r>
              <a:rPr b="0" i="0" lang="en-US" sz="1800" u="none" cap="none" strike="noStrike">
                <a:solidFill>
                  <a:srgbClr val="A6D53B"/>
                </a:solidFill>
                <a:latin typeface="Courier New"/>
                <a:ea typeface="Courier New"/>
                <a:cs typeface="Courier New"/>
                <a:sym typeface="Courier New"/>
              </a:rPr>
              <a:t>"products" </a:t>
            </a:r>
            <a:r>
              <a:rPr b="0" i="0" lang="en-US" sz="1800" u="none" cap="none" strike="noStrike">
                <a:solidFill>
                  <a:srgbClr val="C9C6E8"/>
                </a:solidFill>
                <a:latin typeface="Inter"/>
                <a:ea typeface="Inter"/>
                <a:cs typeface="Inter"/>
                <a:sym typeface="Inter"/>
              </a:rPr>
              <a:t>· Alias → collection-v1 today, repointable — update is atomic: instant switch, no client change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p54"/>
          <p:cNvSpPr/>
          <p:nvPr/>
        </p:nvSpPr>
        <p:spPr>
          <a:xfrm>
            <a:off x="952500" y="2796480"/>
            <a:ext cx="5308550" cy="5334149"/>
          </a:xfrm>
          <a:prstGeom prst="roundRect">
            <a:avLst>
              <a:gd fmla="val 3230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54"/>
          <p:cNvSpPr/>
          <p:nvPr/>
        </p:nvSpPr>
        <p:spPr>
          <a:xfrm>
            <a:off x="952500" y="2796480"/>
            <a:ext cx="5308550" cy="95250"/>
          </a:xfrm>
          <a:prstGeom prst="rect">
            <a:avLst/>
          </a:prstGeom>
          <a:solidFill>
            <a:srgbClr val="E9E1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54"/>
          <p:cNvSpPr/>
          <p:nvPr/>
        </p:nvSpPr>
        <p:spPr>
          <a:xfrm>
            <a:off x="1257300" y="3158430"/>
            <a:ext cx="516884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 · Build collection-v2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0" name="Google Shape;1640;p54"/>
          <p:cNvSpPr/>
          <p:nvPr/>
        </p:nvSpPr>
        <p:spPr>
          <a:xfrm>
            <a:off x="1257300" y="3596580"/>
            <a:ext cx="4839919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New collection with the new reality: index family, vectorizer, shard count — everything immutable on v1.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1" name="Google Shape;1641;p54"/>
          <p:cNvSpPr/>
          <p:nvPr/>
        </p:nvSpPr>
        <p:spPr>
          <a:xfrm>
            <a:off x="6489650" y="2796480"/>
            <a:ext cx="5308699" cy="5334149"/>
          </a:xfrm>
          <a:prstGeom prst="roundRect">
            <a:avLst>
              <a:gd fmla="val 3230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2" name="Google Shape;1642;p54"/>
          <p:cNvSpPr/>
          <p:nvPr/>
        </p:nvSpPr>
        <p:spPr>
          <a:xfrm>
            <a:off x="6489650" y="2796480"/>
            <a:ext cx="5308699" cy="95250"/>
          </a:xfrm>
          <a:prstGeom prst="rect">
            <a:avLst/>
          </a:prstGeom>
          <a:solidFill>
            <a:srgbClr val="61BD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3" name="Google Shape;1643;p54"/>
          <p:cNvSpPr/>
          <p:nvPr/>
        </p:nvSpPr>
        <p:spPr>
          <a:xfrm>
            <a:off x="6794450" y="3158430"/>
            <a:ext cx="516900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 · Backfill + verify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4" name="Google Shape;1644;p54"/>
          <p:cNvSpPr/>
          <p:nvPr/>
        </p:nvSpPr>
        <p:spPr>
          <a:xfrm>
            <a:off x="6794450" y="3596580"/>
            <a:ext cx="4840072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Re-ingest or dual-write; compare counts, recall@k and p95 against v1 before any traffic moves.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5" name="Google Shape;1645;p54"/>
          <p:cNvSpPr/>
          <p:nvPr/>
        </p:nvSpPr>
        <p:spPr>
          <a:xfrm>
            <a:off x="12026950" y="2796480"/>
            <a:ext cx="5308550" cy="5334149"/>
          </a:xfrm>
          <a:prstGeom prst="roundRect">
            <a:avLst>
              <a:gd fmla="val 3230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6" name="Google Shape;1646;p54"/>
          <p:cNvSpPr/>
          <p:nvPr/>
        </p:nvSpPr>
        <p:spPr>
          <a:xfrm>
            <a:off x="12026950" y="2796480"/>
            <a:ext cx="5308550" cy="95250"/>
          </a:xfrm>
          <a:prstGeom prst="rect">
            <a:avLst/>
          </a:prstGeom>
          <a:solidFill>
            <a:srgbClr val="0E6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7" name="Google Shape;1647;p54"/>
          <p:cNvSpPr/>
          <p:nvPr/>
        </p:nvSpPr>
        <p:spPr>
          <a:xfrm>
            <a:off x="12331750" y="3158430"/>
            <a:ext cx="516884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 · Flip; keep v1 warm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8" name="Google Shape;1648;p54"/>
          <p:cNvSpPr/>
          <p:nvPr/>
        </p:nvSpPr>
        <p:spPr>
          <a:xfrm>
            <a:off x="12331750" y="3596580"/>
            <a:ext cx="4839919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Repoint the alias — atomic, seconds. Retain collection-v1 until the rollback window closes.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9" name="Google Shape;1649;p54"/>
          <p:cNvSpPr/>
          <p:nvPr/>
        </p:nvSpPr>
        <p:spPr>
          <a:xfrm>
            <a:off x="952500" y="8378279"/>
            <a:ext cx="16383000" cy="1375321"/>
          </a:xfrm>
          <a:prstGeom prst="roundRect">
            <a:avLst>
              <a:gd fmla="val 11081" name="adj"/>
            </a:avLst>
          </a:prstGeom>
          <a:solidFill>
            <a:srgbClr val="FDF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54"/>
          <p:cNvSpPr/>
          <p:nvPr/>
        </p:nvSpPr>
        <p:spPr>
          <a:xfrm>
            <a:off x="1257300" y="8568779"/>
            <a:ext cx="11659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E0E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6B5E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Fine print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1" name="Google Shape;1651;p54"/>
          <p:cNvSpPr/>
          <p:nvPr/>
        </p:nvSpPr>
        <p:spPr>
          <a:xfrm>
            <a:off x="2556570" y="8568779"/>
            <a:ext cx="14908354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643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E6430"/>
                </a:solidFill>
                <a:latin typeface="Inter"/>
                <a:ea typeface="Inter"/>
                <a:cs typeface="Inter"/>
                <a:sym typeface="Inter"/>
              </a:rPr>
              <a:t>Aliases cover data operations and queries only — not collection-config changes. Deleting a collection leaves dangling aliases — cleanup is a planned step; dual-run costs transitional memory + disk. Rollback = repoint the alias back — seconds, no data loss, while collection-v1 still exists.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55"/>
          <p:cNvSpPr/>
          <p:nvPr/>
        </p:nvSpPr>
        <p:spPr>
          <a:xfrm>
            <a:off x="1047750" y="685800"/>
            <a:ext cx="9782220" cy="5828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667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900"/>
              <a:buFont typeface="Plus Jakarta Sans"/>
              <a:buNone/>
            </a:pPr>
            <a:r>
              <a:rPr b="1" i="0" lang="en-US" sz="39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Ownership by deployment model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8" name="Google Shape;1658;p55"/>
          <p:cNvSpPr/>
          <p:nvPr/>
        </p:nvSpPr>
        <p:spPr>
          <a:xfrm>
            <a:off x="1047750" y="1344811"/>
            <a:ext cx="978222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The Segment-2 matrix, revisited — security, backup and upgrade rows only.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59" name="Google Shape;165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68580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0" name="Google Shape;1660;p55"/>
          <p:cNvSpPr/>
          <p:nvPr/>
        </p:nvSpPr>
        <p:spPr>
          <a:xfrm>
            <a:off x="1047750" y="2072432"/>
            <a:ext cx="3238500" cy="1090017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p55"/>
          <p:cNvSpPr/>
          <p:nvPr/>
        </p:nvSpPr>
        <p:spPr>
          <a:xfrm>
            <a:off x="1257300" y="2224832"/>
            <a:ext cx="2916555" cy="823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Concern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55"/>
          <p:cNvSpPr/>
          <p:nvPr/>
        </p:nvSpPr>
        <p:spPr>
          <a:xfrm>
            <a:off x="4286250" y="2072432"/>
            <a:ext cx="6477000" cy="1090017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3" name="Google Shape;1663;p55"/>
          <p:cNvSpPr/>
          <p:nvPr/>
        </p:nvSpPr>
        <p:spPr>
          <a:xfrm>
            <a:off x="4495800" y="2224832"/>
            <a:ext cx="6252210" cy="823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WCD Shared · Dedicated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4" name="Google Shape;1664;p55"/>
          <p:cNvSpPr/>
          <p:nvPr/>
        </p:nvSpPr>
        <p:spPr>
          <a:xfrm>
            <a:off x="10763250" y="2072432"/>
            <a:ext cx="6477000" cy="1090017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5" name="Google Shape;1665;p55"/>
          <p:cNvSpPr/>
          <p:nvPr/>
        </p:nvSpPr>
        <p:spPr>
          <a:xfrm>
            <a:off x="10972800" y="2224832"/>
            <a:ext cx="6252210" cy="823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BYOC / self-managed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6" name="Google Shape;1666;p55"/>
          <p:cNvSpPr/>
          <p:nvPr/>
        </p:nvSpPr>
        <p:spPr>
          <a:xfrm>
            <a:off x="1047750" y="4769197"/>
            <a:ext cx="32385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7" name="Google Shape;1667;p55"/>
          <p:cNvSpPr/>
          <p:nvPr/>
        </p:nvSpPr>
        <p:spPr>
          <a:xfrm>
            <a:off x="1257300" y="3286274"/>
            <a:ext cx="2916555" cy="13971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Security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8" name="Google Shape;1668;p55"/>
          <p:cNvSpPr/>
          <p:nvPr/>
        </p:nvSpPr>
        <p:spPr>
          <a:xfrm>
            <a:off x="4286250" y="4769197"/>
            <a:ext cx="64770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55"/>
          <p:cNvSpPr/>
          <p:nvPr/>
        </p:nvSpPr>
        <p:spPr>
          <a:xfrm>
            <a:off x="4495800" y="3286274"/>
            <a:ext cx="6252210" cy="13971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Keys pre-set, anonymous off, RBAC + DB users on. Role design and rotation stay yours.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0" name="Google Shape;1670;p55"/>
          <p:cNvSpPr/>
          <p:nvPr/>
        </p:nvSpPr>
        <p:spPr>
          <a:xfrm>
            <a:off x="10763250" y="4769197"/>
            <a:ext cx="64770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p55"/>
          <p:cNvSpPr/>
          <p:nvPr/>
        </p:nvSpPr>
        <p:spPr>
          <a:xfrm>
            <a:off x="10972800" y="3286274"/>
            <a:ext cx="6252210" cy="13971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All of it: auth config, TLS at the proxy, network isolation, audit-log retention.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2" name="Google Shape;1672;p55"/>
          <p:cNvSpPr/>
          <p:nvPr/>
        </p:nvSpPr>
        <p:spPr>
          <a:xfrm>
            <a:off x="1047750" y="6394103"/>
            <a:ext cx="32385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55"/>
          <p:cNvSpPr/>
          <p:nvPr/>
        </p:nvSpPr>
        <p:spPr>
          <a:xfrm>
            <a:off x="1257300" y="4902547"/>
            <a:ext cx="2916555" cy="1405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Backups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4" name="Google Shape;1674;p55"/>
          <p:cNvSpPr/>
          <p:nvPr/>
        </p:nvSpPr>
        <p:spPr>
          <a:xfrm>
            <a:off x="4286250" y="6394103"/>
            <a:ext cx="64770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5" name="Google Shape;1675;p55"/>
          <p:cNvSpPr/>
          <p:nvPr/>
        </p:nvSpPr>
        <p:spPr>
          <a:xfrm>
            <a:off x="4495800" y="4902547"/>
            <a:ext cx="6252210" cy="1405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Daily automated + pre-update backups; restores go through support.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6" name="Google Shape;1676;p55"/>
          <p:cNvSpPr/>
          <p:nvPr/>
        </p:nvSpPr>
        <p:spPr>
          <a:xfrm>
            <a:off x="10763250" y="6394103"/>
            <a:ext cx="64770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7" name="Google Shape;1677;p55"/>
          <p:cNvSpPr/>
          <p:nvPr/>
        </p:nvSpPr>
        <p:spPr>
          <a:xfrm>
            <a:off x="10972800" y="4902547"/>
            <a:ext cx="6252210" cy="1405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Backend choice, schedule vs RPO, chain integrity — and the restore drills.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8" name="Google Shape;1678;p55"/>
          <p:cNvSpPr/>
          <p:nvPr/>
        </p:nvSpPr>
        <p:spPr>
          <a:xfrm>
            <a:off x="1047750" y="8019008"/>
            <a:ext cx="32385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9" name="Google Shape;1679;p55"/>
          <p:cNvSpPr/>
          <p:nvPr/>
        </p:nvSpPr>
        <p:spPr>
          <a:xfrm>
            <a:off x="1257300" y="6527453"/>
            <a:ext cx="2916555" cy="1405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Upgrades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0" name="Google Shape;1680;p55"/>
          <p:cNvSpPr/>
          <p:nvPr/>
        </p:nvSpPr>
        <p:spPr>
          <a:xfrm>
            <a:off x="4286250" y="8019008"/>
            <a:ext cx="64770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p55"/>
          <p:cNvSpPr/>
          <p:nvPr/>
        </p:nvSpPr>
        <p:spPr>
          <a:xfrm>
            <a:off x="4495800" y="6527453"/>
            <a:ext cx="6252210" cy="1405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Platform hops run by Weaviate; client compatibility and re-tests are yours.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2" name="Google Shape;1682;p55"/>
          <p:cNvSpPr/>
          <p:nvPr/>
        </p:nvSpPr>
        <p:spPr>
          <a:xfrm>
            <a:off x="10763250" y="8019008"/>
            <a:ext cx="64770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55"/>
          <p:cNvSpPr/>
          <p:nvPr/>
        </p:nvSpPr>
        <p:spPr>
          <a:xfrm>
            <a:off x="10972800" y="6527453"/>
            <a:ext cx="6252210" cy="1405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One minor at a time, health gates, canary, rollback criteria — all yours.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4" name="Google Shape;1684;p55"/>
          <p:cNvSpPr/>
          <p:nvPr/>
        </p:nvSpPr>
        <p:spPr>
          <a:xfrm>
            <a:off x="1047750" y="8028533"/>
            <a:ext cx="3238500" cy="1625054"/>
          </a:xfrm>
          <a:prstGeom prst="rect">
            <a:avLst/>
          </a:prstGeom>
          <a:solidFill>
            <a:srgbClr val="F0F7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55"/>
          <p:cNvSpPr/>
          <p:nvPr/>
        </p:nvSpPr>
        <p:spPr>
          <a:xfrm>
            <a:off x="1047750" y="9644063"/>
            <a:ext cx="32385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55"/>
          <p:cNvSpPr/>
          <p:nvPr/>
        </p:nvSpPr>
        <p:spPr>
          <a:xfrm>
            <a:off x="1257300" y="8152358"/>
            <a:ext cx="2916555" cy="14059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Never outsourced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7" name="Google Shape;1687;p55"/>
          <p:cNvSpPr/>
          <p:nvPr/>
        </p:nvSpPr>
        <p:spPr>
          <a:xfrm>
            <a:off x="4286250" y="8028533"/>
            <a:ext cx="6477000" cy="1625054"/>
          </a:xfrm>
          <a:prstGeom prst="rect">
            <a:avLst/>
          </a:prstGeom>
          <a:solidFill>
            <a:srgbClr val="F0F7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8" name="Google Shape;1688;p55"/>
          <p:cNvSpPr/>
          <p:nvPr/>
        </p:nvSpPr>
        <p:spPr>
          <a:xfrm>
            <a:off x="4286250" y="9644063"/>
            <a:ext cx="64770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9" name="Google Shape;1689;p55"/>
          <p:cNvSpPr/>
          <p:nvPr/>
        </p:nvSpPr>
        <p:spPr>
          <a:xfrm>
            <a:off x="4495800" y="8152358"/>
            <a:ext cx="6252210" cy="14059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Topology + consistency choices, RBAC design, restore testing, your SLOs.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0" name="Google Shape;1690;p55"/>
          <p:cNvSpPr/>
          <p:nvPr/>
        </p:nvSpPr>
        <p:spPr>
          <a:xfrm>
            <a:off x="10763250" y="8028533"/>
            <a:ext cx="6477000" cy="1625054"/>
          </a:xfrm>
          <a:prstGeom prst="rect">
            <a:avLst/>
          </a:prstGeom>
          <a:solidFill>
            <a:srgbClr val="F0F7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55"/>
          <p:cNvSpPr/>
          <p:nvPr/>
        </p:nvSpPr>
        <p:spPr>
          <a:xfrm>
            <a:off x="10763250" y="9644063"/>
            <a:ext cx="64770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55"/>
          <p:cNvSpPr/>
          <p:nvPr/>
        </p:nvSpPr>
        <p:spPr>
          <a:xfrm>
            <a:off x="10972800" y="8152358"/>
            <a:ext cx="6252210" cy="14059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The same list — plus the entire platform underneath it.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E8"/>
        </a:solidFill>
      </p:bgPr>
    </p:bg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56"/>
          <p:cNvSpPr/>
          <p:nvPr/>
        </p:nvSpPr>
        <p:spPr>
          <a:xfrm>
            <a:off x="952500" y="552450"/>
            <a:ext cx="1797844" cy="419100"/>
          </a:xfrm>
          <a:prstGeom prst="roundRect">
            <a:avLst>
              <a:gd fmla="val 50000" name="adj"/>
            </a:avLst>
          </a:prstGeom>
          <a:solidFill>
            <a:srgbClr val="0C8C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9" name="Google Shape;1699;p56"/>
          <p:cNvSpPr/>
          <p:nvPr/>
        </p:nvSpPr>
        <p:spPr>
          <a:xfrm>
            <a:off x="1143000" y="647700"/>
            <a:ext cx="149304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CAPSTONE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0" name="Google Shape;1700;p56"/>
          <p:cNvSpPr/>
          <p:nvPr/>
        </p:nvSpPr>
        <p:spPr>
          <a:xfrm>
            <a:off x="952500" y="1085850"/>
            <a:ext cx="9359682" cy="5409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557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600"/>
              <a:buFont typeface="Plus Jakarta Sans"/>
              <a:buNone/>
            </a:pPr>
            <a:r>
              <a:rPr b="1" i="0" lang="en-US" sz="36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Capstone: the </a:t>
            </a:r>
            <a:r>
              <a:rPr b="1" lang="en-US" sz="3600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Acme</a:t>
            </a:r>
            <a:r>
              <a:rPr b="1" i="0" lang="en-US" sz="36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change brief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1" name="Google Shape;1701;p56"/>
          <p:cNvSpPr/>
          <p:nvPr/>
        </p:nvSpPr>
        <p:spPr>
          <a:xfrm>
            <a:off x="952500" y="1703040"/>
            <a:ext cx="935968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875"/>
              <a:buFont typeface="Inter"/>
              <a:buNone/>
            </a:pPr>
            <a:r>
              <a:rPr lang="en-US" sz="1875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Acme</a:t>
            </a:r>
            <a:r>
              <a:rPr b="0" i="0" lang="en-US" sz="1875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 is illustrative — reuse your Lab 1–4 evidence; no new cluster work.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02" name="Google Shape;1702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61594" y="552450"/>
            <a:ext cx="773906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3" name="Google Shape;1703;p56"/>
          <p:cNvSpPr/>
          <p:nvPr/>
        </p:nvSpPr>
        <p:spPr>
          <a:xfrm>
            <a:off x="952500" y="2245965"/>
            <a:ext cx="16383000" cy="981075"/>
          </a:xfrm>
          <a:prstGeom prst="roundRect">
            <a:avLst>
              <a:gd fmla="val 15534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4" name="Google Shape;1704;p56"/>
          <p:cNvSpPr/>
          <p:nvPr/>
        </p:nvSpPr>
        <p:spPr>
          <a:xfrm>
            <a:off x="1257300" y="2417415"/>
            <a:ext cx="173507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5E4"/>
              </a:buClr>
              <a:buSzPts val="1800"/>
              <a:buFont typeface="Inter"/>
              <a:buNone/>
            </a:pPr>
            <a:r>
              <a:rPr lang="en-US" sz="1800">
                <a:solidFill>
                  <a:srgbClr val="B9B5E4"/>
                </a:solidFill>
                <a:latin typeface="Inter"/>
                <a:ea typeface="Inter"/>
                <a:cs typeface="Inter"/>
                <a:sym typeface="Inter"/>
              </a:rPr>
              <a:t>Acme</a:t>
            </a:r>
            <a:r>
              <a:rPr b="0" i="0" lang="en-US" sz="1800" u="none" cap="none" strike="noStrike">
                <a:solidFill>
                  <a:srgbClr val="B9B5E4"/>
                </a:solidFill>
                <a:latin typeface="Inter"/>
                <a:ea typeface="Inter"/>
                <a:cs typeface="Inter"/>
                <a:sym typeface="Inter"/>
              </a:rPr>
              <a:t> Retail (illustrative) · on 1.36.x today · p95 ≤ 120 ms · 99.9% · RPO 1 h / RTO 4 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5" name="Google Shape;1705;p56"/>
          <p:cNvSpPr/>
          <p:nvPr/>
        </p:nvSpPr>
        <p:spPr>
          <a:xfrm>
            <a:off x="1257300" y="2731740"/>
            <a:ext cx="1735074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"Upgrade to 1.39.x and migrate support docs to HFresh — in one window."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p56"/>
          <p:cNvSpPr/>
          <p:nvPr/>
        </p:nvSpPr>
        <p:spPr>
          <a:xfrm>
            <a:off x="952500" y="3436590"/>
            <a:ext cx="8086725" cy="3082230"/>
          </a:xfrm>
          <a:prstGeom prst="roundRect">
            <a:avLst>
              <a:gd fmla="val 556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56"/>
          <p:cNvSpPr/>
          <p:nvPr/>
        </p:nvSpPr>
        <p:spPr>
          <a:xfrm>
            <a:off x="1238250" y="3665190"/>
            <a:ext cx="826674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Deliverable — one page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p56"/>
          <p:cNvSpPr/>
          <p:nvPr/>
        </p:nvSpPr>
        <p:spPr>
          <a:xfrm>
            <a:off x="1238250" y="4055715"/>
            <a:ext cx="826674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Six sections, hard-capped at one page.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9" name="Google Shape;1709;p56"/>
          <p:cNvSpPr/>
          <p:nvPr/>
        </p:nvSpPr>
        <p:spPr>
          <a:xfrm>
            <a:off x="1238250" y="4408140"/>
            <a:ext cx="7740682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Decision — GO / NO-GO / CONDITIONS · Plan, evidence-cited (Labs 1–4) · Top-3 risks with rollback triggers · Exec summary ≤ 150 words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0" name="Google Shape;1710;p56"/>
          <p:cNvSpPr/>
          <p:nvPr/>
        </p:nvSpPr>
        <p:spPr>
          <a:xfrm>
            <a:off x="9248775" y="3436590"/>
            <a:ext cx="8086725" cy="3082230"/>
          </a:xfrm>
          <a:prstGeom prst="roundRect">
            <a:avLst>
              <a:gd fmla="val 556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56"/>
          <p:cNvSpPr/>
          <p:nvPr/>
        </p:nvSpPr>
        <p:spPr>
          <a:xfrm>
            <a:off x="9534525" y="3665190"/>
            <a:ext cx="826674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strong shape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2" name="Google Shape;1712;p56"/>
          <p:cNvSpPr/>
          <p:nvPr/>
        </p:nvSpPr>
        <p:spPr>
          <a:xfrm>
            <a:off x="9534525" y="4055715"/>
            <a:ext cx="826674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What Exemplary tends to look like.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3" name="Google Shape;1713;p56"/>
          <p:cNvSpPr/>
          <p:nvPr/>
        </p:nvSpPr>
        <p:spPr>
          <a:xfrm>
            <a:off x="9534525" y="4408140"/>
            <a:ext cx="7740682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Upgrade first: 1.36 → 1.37 → 1.38 → 1.39.x · HFresh behind an alias — never in-place · searchProbe set explicitly · Evidence-gated: "proceed if X, else Y"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p56"/>
          <p:cNvSpPr/>
          <p:nvPr/>
        </p:nvSpPr>
        <p:spPr>
          <a:xfrm>
            <a:off x="952500" y="6728371"/>
            <a:ext cx="8086725" cy="3082379"/>
          </a:xfrm>
          <a:prstGeom prst="roundRect">
            <a:avLst>
              <a:gd fmla="val 556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p56"/>
          <p:cNvSpPr/>
          <p:nvPr/>
        </p:nvSpPr>
        <p:spPr>
          <a:xfrm>
            <a:off x="1238250" y="6956971"/>
            <a:ext cx="826674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Pacing — 16 minutes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6" name="Google Shape;1716;p56"/>
          <p:cNvSpPr/>
          <p:nvPr/>
        </p:nvSpPr>
        <p:spPr>
          <a:xfrm>
            <a:off x="1238250" y="7347496"/>
            <a:ext cx="826674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16 min team work + 5 min share-out.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7" name="Google Shape;1717;p56"/>
          <p:cNvSpPr/>
          <p:nvPr/>
        </p:nvSpPr>
        <p:spPr>
          <a:xfrm>
            <a:off x="1238250" y="7699921"/>
            <a:ext cx="7740682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min 4 — decision + sequence outline · min 8 — evidence table cited · min 11 — risk register + triggers · min 16 — exec summary done, then share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8" name="Google Shape;1718;p56"/>
          <p:cNvSpPr/>
          <p:nvPr/>
        </p:nvSpPr>
        <p:spPr>
          <a:xfrm>
            <a:off x="9248775" y="6728371"/>
            <a:ext cx="8086725" cy="3082379"/>
          </a:xfrm>
          <a:prstGeom prst="roundRect">
            <a:avLst>
              <a:gd fmla="val 556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9" name="Google Shape;1719;p56"/>
          <p:cNvSpPr/>
          <p:nvPr/>
        </p:nvSpPr>
        <p:spPr>
          <a:xfrm>
            <a:off x="9534525" y="6956971"/>
            <a:ext cx="826674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How it is scored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56"/>
          <p:cNvSpPr/>
          <p:nvPr/>
        </p:nvSpPr>
        <p:spPr>
          <a:xfrm>
            <a:off x="9534525" y="7347496"/>
            <a:ext cx="7740682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Four dimensions — decision quality, evidence use, risk + rollback, exec clarity. Deferring HFresh can score Exemplary: the evidence discipline is scored, not the conclusion.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p57"/>
          <p:cNvSpPr/>
          <p:nvPr/>
        </p:nvSpPr>
        <p:spPr>
          <a:xfrm>
            <a:off x="1047750" y="723900"/>
            <a:ext cx="12798921" cy="6037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353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4050"/>
              <a:buFont typeface="Plus Jakarta Sans"/>
              <a:buNone/>
            </a:pPr>
            <a:r>
              <a:rPr b="1" i="0" lang="en-US" sz="40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good looks like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7" name="Google Shape;1727;p57"/>
          <p:cNvSpPr/>
          <p:nvPr/>
        </p:nvSpPr>
        <p:spPr>
          <a:xfrm>
            <a:off x="1047750" y="1403896"/>
            <a:ext cx="12798921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The capstone rubric in three words — deliberately no projected numbers: evidence beats promises.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28" name="Google Shape;1728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72390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9" name="Google Shape;1729;p57"/>
          <p:cNvSpPr/>
          <p:nvPr/>
        </p:nvSpPr>
        <p:spPr>
          <a:xfrm>
            <a:off x="1047750" y="2169616"/>
            <a:ext cx="5206901" cy="5911453"/>
          </a:xfrm>
          <a:prstGeom prst="roundRect">
            <a:avLst>
              <a:gd fmla="val 3293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57"/>
          <p:cNvSpPr/>
          <p:nvPr/>
        </p:nvSpPr>
        <p:spPr>
          <a:xfrm>
            <a:off x="1047750" y="2169616"/>
            <a:ext cx="5206901" cy="95250"/>
          </a:xfrm>
          <a:prstGeom prst="rect">
            <a:avLst/>
          </a:prstGeom>
          <a:solidFill>
            <a:srgbClr val="E9E1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p57"/>
          <p:cNvSpPr/>
          <p:nvPr/>
        </p:nvSpPr>
        <p:spPr>
          <a:xfrm>
            <a:off x="1428750" y="2607766"/>
            <a:ext cx="4889391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000"/>
              <a:buFont typeface="Plus Jakarta Sans"/>
              <a:buNone/>
            </a:pPr>
            <a:r>
              <a:rPr b="1" i="0" lang="en-US" sz="30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Proof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2" name="Google Shape;1732;p57"/>
          <p:cNvSpPr/>
          <p:nvPr/>
        </p:nvSpPr>
        <p:spPr>
          <a:xfrm>
            <a:off x="1428750" y="3245941"/>
            <a:ext cx="48893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Evidence over opinion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3" name="Google Shape;1733;p57"/>
          <p:cNvSpPr/>
          <p:nvPr/>
        </p:nvSpPr>
        <p:spPr>
          <a:xfrm>
            <a:off x="1428750" y="3693616"/>
            <a:ext cx="4578248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Every load-bearing number traces to a measurement — lab, docs, or labeled assumption.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4" name="Google Shape;1734;p57"/>
          <p:cNvSpPr/>
          <p:nvPr/>
        </p:nvSpPr>
        <p:spPr>
          <a:xfrm>
            <a:off x="6540401" y="2169616"/>
            <a:ext cx="5207050" cy="5911453"/>
          </a:xfrm>
          <a:prstGeom prst="roundRect">
            <a:avLst>
              <a:gd fmla="val 3293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5" name="Google Shape;1735;p57"/>
          <p:cNvSpPr/>
          <p:nvPr/>
        </p:nvSpPr>
        <p:spPr>
          <a:xfrm>
            <a:off x="6540401" y="2169616"/>
            <a:ext cx="5207050" cy="95250"/>
          </a:xfrm>
          <a:prstGeom prst="rect">
            <a:avLst/>
          </a:prstGeom>
          <a:solidFill>
            <a:srgbClr val="61BD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p57"/>
          <p:cNvSpPr/>
          <p:nvPr/>
        </p:nvSpPr>
        <p:spPr>
          <a:xfrm>
            <a:off x="6921401" y="2607766"/>
            <a:ext cx="488955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000"/>
              <a:buFont typeface="Plus Jakarta Sans"/>
              <a:buNone/>
            </a:pPr>
            <a:r>
              <a:rPr b="1" i="0" lang="en-US" sz="30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 B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7" name="Google Shape;1737;p57"/>
          <p:cNvSpPr/>
          <p:nvPr/>
        </p:nvSpPr>
        <p:spPr>
          <a:xfrm>
            <a:off x="6921401" y="3245941"/>
            <a:ext cx="488955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Rollback before go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8" name="Google Shape;1738;p57"/>
          <p:cNvSpPr/>
          <p:nvPr/>
        </p:nvSpPr>
        <p:spPr>
          <a:xfrm>
            <a:off x="6921401" y="3693616"/>
            <a:ext cx="4578401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Written rollback triggers, rehearsed before shipping — the point of no return is chosen.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9" name="Google Shape;1739;p57"/>
          <p:cNvSpPr/>
          <p:nvPr/>
        </p:nvSpPr>
        <p:spPr>
          <a:xfrm>
            <a:off x="12033200" y="2169616"/>
            <a:ext cx="5207050" cy="5911453"/>
          </a:xfrm>
          <a:prstGeom prst="roundRect">
            <a:avLst>
              <a:gd fmla="val 3293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0" name="Google Shape;1740;p57"/>
          <p:cNvSpPr/>
          <p:nvPr/>
        </p:nvSpPr>
        <p:spPr>
          <a:xfrm>
            <a:off x="12033200" y="2169616"/>
            <a:ext cx="5207050" cy="95250"/>
          </a:xfrm>
          <a:prstGeom prst="rect">
            <a:avLst/>
          </a:prstGeom>
          <a:solidFill>
            <a:srgbClr val="0E6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57"/>
          <p:cNvSpPr/>
          <p:nvPr/>
        </p:nvSpPr>
        <p:spPr>
          <a:xfrm>
            <a:off x="12414200" y="2607766"/>
            <a:ext cx="488955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000"/>
              <a:buFont typeface="Plus Jakarta Sans"/>
              <a:buNone/>
            </a:pPr>
            <a:r>
              <a:rPr b="1" i="0" lang="en-US" sz="30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Clarity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2" name="Google Shape;1742;p57"/>
          <p:cNvSpPr/>
          <p:nvPr/>
        </p:nvSpPr>
        <p:spPr>
          <a:xfrm>
            <a:off x="12414200" y="3245941"/>
            <a:ext cx="488955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Say it in 150 words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3" name="Google Shape;1743;p57"/>
          <p:cNvSpPr/>
          <p:nvPr/>
        </p:nvSpPr>
        <p:spPr>
          <a:xfrm>
            <a:off x="12414200" y="3693616"/>
            <a:ext cx="457840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An executive reads your summary and knows the decision, cost, and top risk.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4" name="Google Shape;1744;p57"/>
          <p:cNvSpPr/>
          <p:nvPr/>
        </p:nvSpPr>
        <p:spPr>
          <a:xfrm>
            <a:off x="1047750" y="8500170"/>
            <a:ext cx="16192500" cy="1120080"/>
          </a:xfrm>
          <a:prstGeom prst="roundRect">
            <a:avLst>
              <a:gd fmla="val 13606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5" name="Google Shape;1745;p57"/>
          <p:cNvSpPr/>
          <p:nvPr/>
        </p:nvSpPr>
        <p:spPr>
          <a:xfrm>
            <a:off x="1371600" y="8728770"/>
            <a:ext cx="306843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2B5E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Where these come from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6" name="Google Shape;1746;p57"/>
          <p:cNvSpPr/>
          <p:nvPr/>
        </p:nvSpPr>
        <p:spPr>
          <a:xfrm>
            <a:off x="4370636" y="8728770"/>
            <a:ext cx="12922137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E5A2B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E5A2B"/>
                </a:solidFill>
                <a:latin typeface="Inter"/>
                <a:ea typeface="Inter"/>
                <a:cs typeface="Inter"/>
                <a:sym typeface="Inter"/>
              </a:rPr>
              <a:t>The capstone scoring anchors — four dimensions, four levels each; mastery is Solid or better on all four, whatever your conclusion.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58"/>
          <p:cNvSpPr/>
          <p:nvPr/>
        </p:nvSpPr>
        <p:spPr>
          <a:xfrm>
            <a:off x="1047750" y="685800"/>
            <a:ext cx="13121759" cy="5828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667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900"/>
              <a:buFont typeface="Plus Jakarta Sans"/>
              <a:buNone/>
            </a:pPr>
            <a:r>
              <a:rPr b="1" i="0" lang="en-US" sz="39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Scorecard + your 30 / 60 / 90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3" name="Google Shape;1753;p58"/>
          <p:cNvSpPr/>
          <p:nvPr/>
        </p:nvSpPr>
        <p:spPr>
          <a:xfrm>
            <a:off x="1047750" y="1344811"/>
            <a:ext cx="13121759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Score your own environment — 40 checks, 8 dimensions, evidence or it is a zero. Then work the plan.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54" name="Google Shape;175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5387" y="685800"/>
            <a:ext cx="80486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5" name="Google Shape;1755;p58"/>
          <p:cNvSpPr/>
          <p:nvPr/>
        </p:nvSpPr>
        <p:spPr>
          <a:xfrm>
            <a:off x="1047750" y="2072432"/>
            <a:ext cx="3862387" cy="7585918"/>
          </a:xfrm>
          <a:prstGeom prst="roundRect">
            <a:avLst>
              <a:gd fmla="val 4439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58"/>
          <p:cNvSpPr/>
          <p:nvPr/>
        </p:nvSpPr>
        <p:spPr>
          <a:xfrm>
            <a:off x="1047750" y="2072432"/>
            <a:ext cx="3862387" cy="95250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7" name="Google Shape;1757;p58"/>
          <p:cNvSpPr/>
          <p:nvPr/>
        </p:nvSpPr>
        <p:spPr>
          <a:xfrm>
            <a:off x="1371600" y="2453432"/>
            <a:ext cx="353615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TODAY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8" name="Google Shape;1758;p58"/>
          <p:cNvSpPr/>
          <p:nvPr/>
        </p:nvSpPr>
        <p:spPr>
          <a:xfrm>
            <a:off x="1371600" y="2863007"/>
            <a:ext cx="353615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Score it honestly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9" name="Google Shape;1759;p58"/>
          <p:cNvSpPr/>
          <p:nvPr/>
        </p:nvSpPr>
        <p:spPr>
          <a:xfrm>
            <a:off x="1371600" y="3329732"/>
            <a:ext cx="3311128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Not a certification — a gap-finder. Every 0 or 1 gets a named owner and a target date before you leave the room.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0" name="Google Shape;1760;p58"/>
          <p:cNvSpPr/>
          <p:nvPr/>
        </p:nvSpPr>
        <p:spPr>
          <a:xfrm>
            <a:off x="5157788" y="2072432"/>
            <a:ext cx="3862387" cy="7585918"/>
          </a:xfrm>
          <a:prstGeom prst="roundRect">
            <a:avLst>
              <a:gd fmla="val 4439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58"/>
          <p:cNvSpPr/>
          <p:nvPr/>
        </p:nvSpPr>
        <p:spPr>
          <a:xfrm>
            <a:off x="5157788" y="2072432"/>
            <a:ext cx="3862387" cy="95250"/>
          </a:xfrm>
          <a:prstGeom prst="rect">
            <a:avLst/>
          </a:prstGeom>
          <a:solidFill>
            <a:srgbClr val="E9E1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58"/>
          <p:cNvSpPr/>
          <p:nvPr/>
        </p:nvSpPr>
        <p:spPr>
          <a:xfrm>
            <a:off x="5481638" y="2453432"/>
            <a:ext cx="353615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DAY 30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3" name="Google Shape;1763;p58"/>
          <p:cNvSpPr/>
          <p:nvPr/>
        </p:nvSpPr>
        <p:spPr>
          <a:xfrm>
            <a:off x="5481638" y="2863007"/>
            <a:ext cx="353615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Close the red boxes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4" name="Google Shape;1764;p58"/>
          <p:cNvSpPr/>
          <p:nvPr/>
        </p:nvSpPr>
        <p:spPr>
          <a:xfrm>
            <a:off x="5481638" y="3329732"/>
            <a:ext cx="3311128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Anonymous access explicitly off · backups on a remote backend · first timed restore drill — most rooms mark that one red today.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5" name="Google Shape;1765;p58"/>
          <p:cNvSpPr/>
          <p:nvPr/>
        </p:nvSpPr>
        <p:spPr>
          <a:xfrm>
            <a:off x="9267825" y="2072432"/>
            <a:ext cx="3862387" cy="7585918"/>
          </a:xfrm>
          <a:prstGeom prst="roundRect">
            <a:avLst>
              <a:gd fmla="val 4439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6" name="Google Shape;1766;p58"/>
          <p:cNvSpPr/>
          <p:nvPr/>
        </p:nvSpPr>
        <p:spPr>
          <a:xfrm>
            <a:off x="9267825" y="2072432"/>
            <a:ext cx="3862387" cy="95250"/>
          </a:xfrm>
          <a:prstGeom prst="rect">
            <a:avLst/>
          </a:prstGeom>
          <a:solidFill>
            <a:srgbClr val="61BD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7" name="Google Shape;1767;p58"/>
          <p:cNvSpPr/>
          <p:nvPr/>
        </p:nvSpPr>
        <p:spPr>
          <a:xfrm>
            <a:off x="9591675" y="2453432"/>
            <a:ext cx="353615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DAY 60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8" name="Google Shape;1768;p58"/>
          <p:cNvSpPr/>
          <p:nvPr/>
        </p:nvSpPr>
        <p:spPr>
          <a:xfrm>
            <a:off x="9591675" y="2863007"/>
            <a:ext cx="353615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Prove it under failure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9" name="Google Shape;1769;p58"/>
          <p:cNvSpPr/>
          <p:nvPr/>
        </p:nvSpPr>
        <p:spPr>
          <a:xfrm>
            <a:off x="9591675" y="3329732"/>
            <a:ext cx="3311128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Game day with predictions written first · symptom-based alert shortlist deployed · next upgrade rehearsed on staging.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0" name="Google Shape;1770;p58"/>
          <p:cNvSpPr/>
          <p:nvPr/>
        </p:nvSpPr>
        <p:spPr>
          <a:xfrm>
            <a:off x="13377863" y="2072432"/>
            <a:ext cx="3862387" cy="7585918"/>
          </a:xfrm>
          <a:prstGeom prst="roundRect">
            <a:avLst>
              <a:gd fmla="val 4439" name="adj"/>
            </a:avLst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1" name="Google Shape;1771;p58"/>
          <p:cNvSpPr/>
          <p:nvPr/>
        </p:nvSpPr>
        <p:spPr>
          <a:xfrm>
            <a:off x="13377863" y="2072432"/>
            <a:ext cx="3862387" cy="95250"/>
          </a:xfrm>
          <a:prstGeom prst="rect">
            <a:avLst/>
          </a:prstGeom>
          <a:solidFill>
            <a:srgbClr val="0E6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2" name="Google Shape;1772;p58"/>
          <p:cNvSpPr/>
          <p:nvPr/>
        </p:nvSpPr>
        <p:spPr>
          <a:xfrm>
            <a:off x="13701713" y="2453432"/>
            <a:ext cx="353615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DAY 90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3" name="Google Shape;1773;p58"/>
          <p:cNvSpPr/>
          <p:nvPr/>
        </p:nvSpPr>
        <p:spPr>
          <a:xfrm>
            <a:off x="13701713" y="2863007"/>
            <a:ext cx="353615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Make it a cadence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4" name="Google Shape;1774;p58"/>
          <p:cNvSpPr/>
          <p:nvPr/>
        </p:nvSpPr>
        <p:spPr>
          <a:xfrm>
            <a:off x="13701713" y="3329732"/>
            <a:ext cx="3311128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Re-score and compare · drills on the calendar · at least two people can run an upgrade, a restore, and an incident.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0C49"/>
        </a:solidFill>
      </p:bgPr>
    </p:bg>
    <p:spTree>
      <p:nvGrpSpPr>
        <p:cNvPr id="1779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80" name="Google Shape;1780;p59"/>
          <p:cNvPicPr preferRelativeResize="0"/>
          <p:nvPr/>
        </p:nvPicPr>
        <p:blipFill rotWithShape="1">
          <a:blip r:embed="rId3">
            <a:alphaModFix/>
          </a:blip>
          <a:srcRect b="0" l="87" r="87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81" name="Google Shape;1781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952500"/>
            <a:ext cx="2029718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2" name="Google Shape;1782;p59"/>
          <p:cNvSpPr/>
          <p:nvPr/>
        </p:nvSpPr>
        <p:spPr>
          <a:xfrm>
            <a:off x="1047750" y="4131469"/>
            <a:ext cx="1781175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894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Plus Jakarta Sans"/>
              <a:buNone/>
            </a:pPr>
            <a:r>
              <a:rPr b="1" i="0" lang="en-US" sz="90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p59"/>
          <p:cNvSpPr/>
          <p:nvPr/>
        </p:nvSpPr>
        <p:spPr>
          <a:xfrm>
            <a:off x="1047750" y="5598319"/>
            <a:ext cx="1009650" cy="1009650"/>
          </a:xfrm>
          <a:prstGeom prst="ellipse">
            <a:avLst/>
          </a:prstGeom>
          <a:noFill/>
          <a:ln cap="flat" cmpd="sng" w="28575">
            <a:solidFill>
              <a:srgbClr val="A6D5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4" name="Google Shape;1784;p59"/>
          <p:cNvSpPr/>
          <p:nvPr/>
        </p:nvSpPr>
        <p:spPr>
          <a:xfrm>
            <a:off x="2305050" y="5912644"/>
            <a:ext cx="524644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us Jakarta Sa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Mila Vernazza · </a:t>
            </a:r>
            <a:r>
              <a:rPr b="1" i="0" lang="en-US" sz="240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mila@weaviate.io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5" name="Google Shape;1785;p59"/>
          <p:cNvSpPr/>
          <p:nvPr/>
        </p:nvSpPr>
        <p:spPr>
          <a:xfrm>
            <a:off x="1047750" y="8948738"/>
            <a:ext cx="1362075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C9C6E8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C9C6E8"/>
                </a:solidFill>
                <a:latin typeface="Inter"/>
                <a:ea typeface="Inter"/>
                <a:cs typeface="Inter"/>
                <a:sym typeface="Inter"/>
              </a:rPr>
              <a:t>Two minutes for the survey before you go</a:t>
            </a:r>
            <a:r>
              <a:rPr lang="en-US" sz="2025">
                <a:solidFill>
                  <a:srgbClr val="C9C6E8"/>
                </a:solidFill>
                <a:latin typeface="Inter"/>
                <a:ea typeface="Inter"/>
                <a:cs typeface="Inter"/>
                <a:sym typeface="Inter"/>
              </a:rPr>
              <a:t>,</a:t>
            </a:r>
            <a:r>
              <a:rPr b="0" i="0" lang="en-US" sz="2025" u="none" cap="none" strike="noStrike">
                <a:solidFill>
                  <a:srgbClr val="C9C6E8"/>
                </a:solidFill>
                <a:latin typeface="Inter"/>
                <a:ea typeface="Inter"/>
                <a:cs typeface="Inter"/>
                <a:sym typeface="Inter"/>
              </a:rPr>
              <a:t> the 30-day follow-up will check in on your action plan.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6" name="Google Shape;1786;p59" title="IMG_0074 2.JPG"/>
          <p:cNvPicPr preferRelativeResize="0"/>
          <p:nvPr/>
        </p:nvPicPr>
        <p:blipFill rotWithShape="1">
          <a:blip r:embed="rId5">
            <a:alphaModFix/>
          </a:blip>
          <a:srcRect b="12495" l="0" r="0" t="12503"/>
          <a:stretch/>
        </p:blipFill>
        <p:spPr>
          <a:xfrm>
            <a:off x="1066725" y="5617300"/>
            <a:ext cx="971700" cy="9717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B"/>
        </a:solidFill>
      </p:bgPr>
    </p:bg>
    <p:spTree>
      <p:nvGrpSpPr>
        <p:cNvPr id="179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p60"/>
          <p:cNvSpPr/>
          <p:nvPr/>
        </p:nvSpPr>
        <p:spPr>
          <a:xfrm>
            <a:off x="857250" y="476250"/>
            <a:ext cx="1995934" cy="381000"/>
          </a:xfrm>
          <a:prstGeom prst="roundRect">
            <a:avLst>
              <a:gd fmla="val 50000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60"/>
          <p:cNvSpPr/>
          <p:nvPr/>
        </p:nvSpPr>
        <p:spPr>
          <a:xfrm>
            <a:off x="1028700" y="552450"/>
            <a:ext cx="172923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APPENDIX A1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4" name="Google Shape;1794;p60"/>
          <p:cNvSpPr/>
          <p:nvPr/>
        </p:nvSpPr>
        <p:spPr>
          <a:xfrm>
            <a:off x="857250" y="933450"/>
            <a:ext cx="9223474" cy="4990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300"/>
              <a:buFont typeface="Plus Jakarta Sans"/>
              <a:buNone/>
            </a:pPr>
            <a:r>
              <a:rPr b="1" i="0" lang="en-US" sz="33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Appendix — HNSW &amp; HFresh parameters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5" name="Google Shape;1795;p60"/>
          <p:cNvSpPr/>
          <p:nvPr/>
        </p:nvSpPr>
        <p:spPr>
          <a:xfrm>
            <a:off x="857250" y="1470571"/>
            <a:ext cx="9223474" cy="3466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Appendix · reference, not taught. Defaults at v1.39.x — verify on your version.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96" name="Google Shape;1796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87800" y="476250"/>
            <a:ext cx="7429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7" name="Google Shape;1797;p60"/>
          <p:cNvSpPr/>
          <p:nvPr/>
        </p:nvSpPr>
        <p:spPr>
          <a:xfrm>
            <a:off x="857250" y="1950541"/>
            <a:ext cx="16573500" cy="7128867"/>
          </a:xfrm>
          <a:prstGeom prst="roundRect">
            <a:avLst>
              <a:gd fmla="val 187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60"/>
          <p:cNvSpPr/>
          <p:nvPr/>
        </p:nvSpPr>
        <p:spPr>
          <a:xfrm>
            <a:off x="857250" y="1950541"/>
            <a:ext cx="5490567" cy="534293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Google Shape;1799;p60"/>
          <p:cNvSpPr/>
          <p:nvPr/>
        </p:nvSpPr>
        <p:spPr>
          <a:xfrm>
            <a:off x="1028700" y="2045791"/>
            <a:ext cx="5312384" cy="381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0" name="Google Shape;1800;p60"/>
          <p:cNvSpPr/>
          <p:nvPr/>
        </p:nvSpPr>
        <p:spPr>
          <a:xfrm>
            <a:off x="6347817" y="1950541"/>
            <a:ext cx="2046238" cy="534293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1" name="Google Shape;1801;p60"/>
          <p:cNvSpPr/>
          <p:nvPr/>
        </p:nvSpPr>
        <p:spPr>
          <a:xfrm>
            <a:off x="6519267" y="2045791"/>
            <a:ext cx="1779538" cy="381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Index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2" name="Google Shape;1802;p60"/>
          <p:cNvSpPr/>
          <p:nvPr/>
        </p:nvSpPr>
        <p:spPr>
          <a:xfrm>
            <a:off x="8394055" y="1950541"/>
            <a:ext cx="2695873" cy="534293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3" name="Google Shape;1803;p60"/>
          <p:cNvSpPr/>
          <p:nvPr/>
        </p:nvSpPr>
        <p:spPr>
          <a:xfrm>
            <a:off x="8565505" y="2045791"/>
            <a:ext cx="2433849" cy="381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Default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4" name="Google Shape;1804;p60"/>
          <p:cNvSpPr/>
          <p:nvPr/>
        </p:nvSpPr>
        <p:spPr>
          <a:xfrm>
            <a:off x="11089928" y="1950541"/>
            <a:ext cx="1709589" cy="534293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5" name="Google Shape;1805;p60"/>
          <p:cNvSpPr/>
          <p:nvPr/>
        </p:nvSpPr>
        <p:spPr>
          <a:xfrm>
            <a:off x="11261378" y="2045791"/>
            <a:ext cx="1442889" cy="381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Mutable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6" name="Google Shape;1806;p60"/>
          <p:cNvSpPr/>
          <p:nvPr/>
        </p:nvSpPr>
        <p:spPr>
          <a:xfrm>
            <a:off x="12799516" y="1950541"/>
            <a:ext cx="4631234" cy="534293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7" name="Google Shape;1807;p60"/>
          <p:cNvSpPr/>
          <p:nvPr/>
        </p:nvSpPr>
        <p:spPr>
          <a:xfrm>
            <a:off x="12970966" y="2045791"/>
            <a:ext cx="4427271" cy="381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8" name="Google Shape;1808;p60"/>
          <p:cNvSpPr/>
          <p:nvPr/>
        </p:nvSpPr>
        <p:spPr>
          <a:xfrm>
            <a:off x="857250" y="2977307"/>
            <a:ext cx="5490567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9" name="Google Shape;1809;p60"/>
          <p:cNvSpPr/>
          <p:nvPr/>
        </p:nvSpPr>
        <p:spPr>
          <a:xfrm>
            <a:off x="1028700" y="2551509"/>
            <a:ext cx="5312384" cy="3972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Courier New"/>
                <a:ea typeface="Courier New"/>
                <a:cs typeface="Courier New"/>
                <a:sym typeface="Courier New"/>
              </a:rPr>
              <a:t>ef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0" name="Google Shape;1810;p60"/>
          <p:cNvSpPr/>
          <p:nvPr/>
        </p:nvSpPr>
        <p:spPr>
          <a:xfrm>
            <a:off x="6347817" y="2977307"/>
            <a:ext cx="2046238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p60"/>
          <p:cNvSpPr/>
          <p:nvPr/>
        </p:nvSpPr>
        <p:spPr>
          <a:xfrm>
            <a:off x="6519267" y="2551509"/>
            <a:ext cx="1779538" cy="3972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HNSW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2" name="Google Shape;1812;p60"/>
          <p:cNvSpPr/>
          <p:nvPr/>
        </p:nvSpPr>
        <p:spPr>
          <a:xfrm>
            <a:off x="8394055" y="2977307"/>
            <a:ext cx="2695873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3" name="Google Shape;1813;p60"/>
          <p:cNvSpPr/>
          <p:nvPr/>
        </p:nvSpPr>
        <p:spPr>
          <a:xfrm>
            <a:off x="8565505" y="2551509"/>
            <a:ext cx="2433849" cy="3972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-1 (dynamic)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4" name="Google Shape;1814;p60"/>
          <p:cNvSpPr/>
          <p:nvPr/>
        </p:nvSpPr>
        <p:spPr>
          <a:xfrm>
            <a:off x="11089928" y="2977307"/>
            <a:ext cx="1709589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5" name="Google Shape;1815;p60"/>
          <p:cNvSpPr/>
          <p:nvPr/>
        </p:nvSpPr>
        <p:spPr>
          <a:xfrm>
            <a:off x="11261378" y="2551509"/>
            <a:ext cx="1442889" cy="3972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6" name="Google Shape;1816;p60"/>
          <p:cNvSpPr/>
          <p:nvPr/>
        </p:nvSpPr>
        <p:spPr>
          <a:xfrm>
            <a:off x="12799516" y="2977307"/>
            <a:ext cx="4631234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7" name="Google Shape;1817;p60"/>
          <p:cNvSpPr/>
          <p:nvPr/>
        </p:nvSpPr>
        <p:spPr>
          <a:xfrm>
            <a:off x="12970966" y="2551509"/>
            <a:ext cx="4427271" cy="3972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sized from query limit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8" name="Google Shape;1818;p60"/>
          <p:cNvSpPr/>
          <p:nvPr/>
        </p:nvSpPr>
        <p:spPr>
          <a:xfrm>
            <a:off x="857250" y="3484513"/>
            <a:ext cx="5490567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9" name="Google Shape;1819;p60"/>
          <p:cNvSpPr/>
          <p:nvPr/>
        </p:nvSpPr>
        <p:spPr>
          <a:xfrm>
            <a:off x="1028700" y="3053507"/>
            <a:ext cx="5312384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Courier New"/>
                <a:ea typeface="Courier New"/>
                <a:cs typeface="Courier New"/>
                <a:sym typeface="Courier New"/>
              </a:rPr>
              <a:t>dynamicEfMin / Max / Factor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0" name="Google Shape;1820;p60"/>
          <p:cNvSpPr/>
          <p:nvPr/>
        </p:nvSpPr>
        <p:spPr>
          <a:xfrm>
            <a:off x="6347817" y="3484513"/>
            <a:ext cx="2046238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1" name="Google Shape;1821;p60"/>
          <p:cNvSpPr/>
          <p:nvPr/>
        </p:nvSpPr>
        <p:spPr>
          <a:xfrm>
            <a:off x="6519267" y="3053507"/>
            <a:ext cx="1779538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HNSW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60"/>
          <p:cNvSpPr/>
          <p:nvPr/>
        </p:nvSpPr>
        <p:spPr>
          <a:xfrm>
            <a:off x="8394055" y="3484513"/>
            <a:ext cx="2695873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3" name="Google Shape;1823;p60"/>
          <p:cNvSpPr/>
          <p:nvPr/>
        </p:nvSpPr>
        <p:spPr>
          <a:xfrm>
            <a:off x="8565505" y="3053507"/>
            <a:ext cx="2433849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100 / 500 / 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4" name="Google Shape;1824;p60"/>
          <p:cNvSpPr/>
          <p:nvPr/>
        </p:nvSpPr>
        <p:spPr>
          <a:xfrm>
            <a:off x="11089928" y="3484513"/>
            <a:ext cx="1709589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5" name="Google Shape;1825;p60"/>
          <p:cNvSpPr/>
          <p:nvPr/>
        </p:nvSpPr>
        <p:spPr>
          <a:xfrm>
            <a:off x="11261378" y="3053507"/>
            <a:ext cx="1442889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6" name="Google Shape;1826;p60"/>
          <p:cNvSpPr/>
          <p:nvPr/>
        </p:nvSpPr>
        <p:spPr>
          <a:xfrm>
            <a:off x="12799516" y="3484513"/>
            <a:ext cx="4631234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60"/>
          <p:cNvSpPr/>
          <p:nvPr/>
        </p:nvSpPr>
        <p:spPr>
          <a:xfrm>
            <a:off x="12970966" y="3053507"/>
            <a:ext cx="4427271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bounds for dynamic ef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8" name="Google Shape;1828;p60"/>
          <p:cNvSpPr/>
          <p:nvPr/>
        </p:nvSpPr>
        <p:spPr>
          <a:xfrm>
            <a:off x="857250" y="3991719"/>
            <a:ext cx="5490567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60"/>
          <p:cNvSpPr/>
          <p:nvPr/>
        </p:nvSpPr>
        <p:spPr>
          <a:xfrm>
            <a:off x="1028700" y="3560713"/>
            <a:ext cx="5312384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Courier New"/>
                <a:ea typeface="Courier New"/>
                <a:cs typeface="Courier New"/>
                <a:sym typeface="Courier New"/>
              </a:rPr>
              <a:t>efConstruction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0" name="Google Shape;1830;p60"/>
          <p:cNvSpPr/>
          <p:nvPr/>
        </p:nvSpPr>
        <p:spPr>
          <a:xfrm>
            <a:off x="6347817" y="3991719"/>
            <a:ext cx="2046238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60"/>
          <p:cNvSpPr/>
          <p:nvPr/>
        </p:nvSpPr>
        <p:spPr>
          <a:xfrm>
            <a:off x="6519267" y="3560713"/>
            <a:ext cx="1779538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HNSW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2" name="Google Shape;1832;p60"/>
          <p:cNvSpPr/>
          <p:nvPr/>
        </p:nvSpPr>
        <p:spPr>
          <a:xfrm>
            <a:off x="8394055" y="3991719"/>
            <a:ext cx="2695873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Google Shape;1833;p60"/>
          <p:cNvSpPr/>
          <p:nvPr/>
        </p:nvSpPr>
        <p:spPr>
          <a:xfrm>
            <a:off x="8565505" y="3560713"/>
            <a:ext cx="2433849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128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4" name="Google Shape;1834;p60"/>
          <p:cNvSpPr/>
          <p:nvPr/>
        </p:nvSpPr>
        <p:spPr>
          <a:xfrm>
            <a:off x="11089928" y="3991719"/>
            <a:ext cx="1709589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5" name="Google Shape;1835;p60"/>
          <p:cNvSpPr/>
          <p:nvPr/>
        </p:nvSpPr>
        <p:spPr>
          <a:xfrm>
            <a:off x="11261378" y="3560713"/>
            <a:ext cx="1442889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93400F"/>
                </a:solidFill>
                <a:latin typeface="Inter"/>
                <a:ea typeface="Inter"/>
                <a:cs typeface="Inter"/>
                <a:sym typeface="Inter"/>
              </a:rPr>
              <a:t>No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6" name="Google Shape;1836;p60"/>
          <p:cNvSpPr/>
          <p:nvPr/>
        </p:nvSpPr>
        <p:spPr>
          <a:xfrm>
            <a:off x="12799516" y="3991719"/>
            <a:ext cx="4631234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7" name="Google Shape;1837;p60"/>
          <p:cNvSpPr/>
          <p:nvPr/>
        </p:nvSpPr>
        <p:spPr>
          <a:xfrm>
            <a:off x="12970966" y="3560713"/>
            <a:ext cx="4427271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build quality — decide early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8" name="Google Shape;1838;p60"/>
          <p:cNvSpPr/>
          <p:nvPr/>
        </p:nvSpPr>
        <p:spPr>
          <a:xfrm>
            <a:off x="857250" y="4498925"/>
            <a:ext cx="5490567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9" name="Google Shape;1839;p60"/>
          <p:cNvSpPr/>
          <p:nvPr/>
        </p:nvSpPr>
        <p:spPr>
          <a:xfrm>
            <a:off x="1028700" y="4067919"/>
            <a:ext cx="5312384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Courier New"/>
                <a:ea typeface="Courier New"/>
                <a:cs typeface="Courier New"/>
                <a:sym typeface="Courier New"/>
              </a:rPr>
              <a:t>maxConnections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0" name="Google Shape;1840;p60"/>
          <p:cNvSpPr/>
          <p:nvPr/>
        </p:nvSpPr>
        <p:spPr>
          <a:xfrm>
            <a:off x="6347817" y="4498925"/>
            <a:ext cx="2046238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1" name="Google Shape;1841;p60"/>
          <p:cNvSpPr/>
          <p:nvPr/>
        </p:nvSpPr>
        <p:spPr>
          <a:xfrm>
            <a:off x="6519267" y="4067919"/>
            <a:ext cx="1779538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HNSW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2" name="Google Shape;1842;p60"/>
          <p:cNvSpPr/>
          <p:nvPr/>
        </p:nvSpPr>
        <p:spPr>
          <a:xfrm>
            <a:off x="8394055" y="4498925"/>
            <a:ext cx="2695873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3" name="Google Shape;1843;p60"/>
          <p:cNvSpPr/>
          <p:nvPr/>
        </p:nvSpPr>
        <p:spPr>
          <a:xfrm>
            <a:off x="8565505" y="4067919"/>
            <a:ext cx="2433849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32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4" name="Google Shape;1844;p60"/>
          <p:cNvSpPr/>
          <p:nvPr/>
        </p:nvSpPr>
        <p:spPr>
          <a:xfrm>
            <a:off x="11089928" y="4498925"/>
            <a:ext cx="1709589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5" name="Google Shape;1845;p60"/>
          <p:cNvSpPr/>
          <p:nvPr/>
        </p:nvSpPr>
        <p:spPr>
          <a:xfrm>
            <a:off x="11261378" y="4067919"/>
            <a:ext cx="1442889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93400F"/>
                </a:solidFill>
                <a:latin typeface="Inter"/>
                <a:ea typeface="Inter"/>
                <a:cs typeface="Inter"/>
                <a:sym typeface="Inter"/>
              </a:rPr>
              <a:t>No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6" name="Google Shape;1846;p60"/>
          <p:cNvSpPr/>
          <p:nvPr/>
        </p:nvSpPr>
        <p:spPr>
          <a:xfrm>
            <a:off x="12799516" y="4498925"/>
            <a:ext cx="4631234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7" name="Google Shape;1847;p60"/>
          <p:cNvSpPr/>
          <p:nvPr/>
        </p:nvSpPr>
        <p:spPr>
          <a:xfrm>
            <a:off x="12970966" y="4067919"/>
            <a:ext cx="4427271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edges cost 8–10 B each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8" name="Google Shape;1848;p60"/>
          <p:cNvSpPr/>
          <p:nvPr/>
        </p:nvSpPr>
        <p:spPr>
          <a:xfrm>
            <a:off x="857250" y="5006132"/>
            <a:ext cx="5490567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9" name="Google Shape;1849;p60"/>
          <p:cNvSpPr/>
          <p:nvPr/>
        </p:nvSpPr>
        <p:spPr>
          <a:xfrm>
            <a:off x="1028700" y="4575125"/>
            <a:ext cx="5312384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Courier New"/>
                <a:ea typeface="Courier New"/>
                <a:cs typeface="Courier New"/>
                <a:sym typeface="Courier New"/>
              </a:rPr>
              <a:t>distance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0" name="Google Shape;1850;p60"/>
          <p:cNvSpPr/>
          <p:nvPr/>
        </p:nvSpPr>
        <p:spPr>
          <a:xfrm>
            <a:off x="6347817" y="5006132"/>
            <a:ext cx="2046238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1" name="Google Shape;1851;p60"/>
          <p:cNvSpPr/>
          <p:nvPr/>
        </p:nvSpPr>
        <p:spPr>
          <a:xfrm>
            <a:off x="6519267" y="4575125"/>
            <a:ext cx="1779538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both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p60"/>
          <p:cNvSpPr/>
          <p:nvPr/>
        </p:nvSpPr>
        <p:spPr>
          <a:xfrm>
            <a:off x="8394055" y="5006132"/>
            <a:ext cx="2695873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3" name="Google Shape;1853;p60"/>
          <p:cNvSpPr/>
          <p:nvPr/>
        </p:nvSpPr>
        <p:spPr>
          <a:xfrm>
            <a:off x="8565505" y="4575125"/>
            <a:ext cx="2433849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cosine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4" name="Google Shape;1854;p60"/>
          <p:cNvSpPr/>
          <p:nvPr/>
        </p:nvSpPr>
        <p:spPr>
          <a:xfrm>
            <a:off x="11089928" y="5006132"/>
            <a:ext cx="1709589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5" name="Google Shape;1855;p60"/>
          <p:cNvSpPr/>
          <p:nvPr/>
        </p:nvSpPr>
        <p:spPr>
          <a:xfrm>
            <a:off x="11261378" y="4575125"/>
            <a:ext cx="1442889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93400F"/>
                </a:solidFill>
                <a:latin typeface="Inter"/>
                <a:ea typeface="Inter"/>
                <a:cs typeface="Inter"/>
                <a:sym typeface="Inter"/>
              </a:rPr>
              <a:t>No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6" name="Google Shape;1856;p60"/>
          <p:cNvSpPr/>
          <p:nvPr/>
        </p:nvSpPr>
        <p:spPr>
          <a:xfrm>
            <a:off x="12799516" y="5006132"/>
            <a:ext cx="4631234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7" name="Google Shape;1857;p60"/>
          <p:cNvSpPr/>
          <p:nvPr/>
        </p:nvSpPr>
        <p:spPr>
          <a:xfrm>
            <a:off x="12970966" y="4575125"/>
            <a:ext cx="4427271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HFresh: cosine, l2 only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8" name="Google Shape;1858;p60"/>
          <p:cNvSpPr/>
          <p:nvPr/>
        </p:nvSpPr>
        <p:spPr>
          <a:xfrm>
            <a:off x="857250" y="5513338"/>
            <a:ext cx="5490567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9" name="Google Shape;1859;p60"/>
          <p:cNvSpPr/>
          <p:nvPr/>
        </p:nvSpPr>
        <p:spPr>
          <a:xfrm>
            <a:off x="1028700" y="5082332"/>
            <a:ext cx="5312384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Courier New"/>
                <a:ea typeface="Courier New"/>
                <a:cs typeface="Courier New"/>
                <a:sym typeface="Courier New"/>
              </a:rPr>
              <a:t>vectorCacheMaxObjects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0" name="Google Shape;1860;p60"/>
          <p:cNvSpPr/>
          <p:nvPr/>
        </p:nvSpPr>
        <p:spPr>
          <a:xfrm>
            <a:off x="6347817" y="5513338"/>
            <a:ext cx="2046238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60"/>
          <p:cNvSpPr/>
          <p:nvPr/>
        </p:nvSpPr>
        <p:spPr>
          <a:xfrm>
            <a:off x="6519267" y="5082332"/>
            <a:ext cx="1779538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HNSW, flat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60"/>
          <p:cNvSpPr/>
          <p:nvPr/>
        </p:nvSpPr>
        <p:spPr>
          <a:xfrm>
            <a:off x="8394055" y="5513338"/>
            <a:ext cx="2695873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60"/>
          <p:cNvSpPr/>
          <p:nvPr/>
        </p:nvSpPr>
        <p:spPr>
          <a:xfrm>
            <a:off x="8565505" y="5082332"/>
            <a:ext cx="2433849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1e12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4" name="Google Shape;1864;p60"/>
          <p:cNvSpPr/>
          <p:nvPr/>
        </p:nvSpPr>
        <p:spPr>
          <a:xfrm>
            <a:off x="11089928" y="5513338"/>
            <a:ext cx="1709589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60"/>
          <p:cNvSpPr/>
          <p:nvPr/>
        </p:nvSpPr>
        <p:spPr>
          <a:xfrm>
            <a:off x="11261378" y="5082332"/>
            <a:ext cx="1442889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6" name="Google Shape;1866;p60"/>
          <p:cNvSpPr/>
          <p:nvPr/>
        </p:nvSpPr>
        <p:spPr>
          <a:xfrm>
            <a:off x="12799516" y="5513338"/>
            <a:ext cx="4631234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Google Shape;1867;p60"/>
          <p:cNvSpPr/>
          <p:nvPr/>
        </p:nvSpPr>
        <p:spPr>
          <a:xfrm>
            <a:off x="12970966" y="5082332"/>
            <a:ext cx="4427271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hold all vectors on import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8" name="Google Shape;1868;p60"/>
          <p:cNvSpPr/>
          <p:nvPr/>
        </p:nvSpPr>
        <p:spPr>
          <a:xfrm>
            <a:off x="857250" y="6020544"/>
            <a:ext cx="5490567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9" name="Google Shape;1869;p60"/>
          <p:cNvSpPr/>
          <p:nvPr/>
        </p:nvSpPr>
        <p:spPr>
          <a:xfrm>
            <a:off x="1028700" y="5589538"/>
            <a:ext cx="5312384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Courier New"/>
                <a:ea typeface="Courier New"/>
                <a:cs typeface="Courier New"/>
                <a:sym typeface="Courier New"/>
              </a:rPr>
              <a:t>flatSearchCutoff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0" name="Google Shape;1870;p60"/>
          <p:cNvSpPr/>
          <p:nvPr/>
        </p:nvSpPr>
        <p:spPr>
          <a:xfrm>
            <a:off x="6347817" y="6020544"/>
            <a:ext cx="2046238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1" name="Google Shape;1871;p60"/>
          <p:cNvSpPr/>
          <p:nvPr/>
        </p:nvSpPr>
        <p:spPr>
          <a:xfrm>
            <a:off x="6519267" y="5589538"/>
            <a:ext cx="1779538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HNSW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2" name="Google Shape;1872;p60"/>
          <p:cNvSpPr/>
          <p:nvPr/>
        </p:nvSpPr>
        <p:spPr>
          <a:xfrm>
            <a:off x="8394055" y="6020544"/>
            <a:ext cx="2695873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3" name="Google Shape;1873;p60"/>
          <p:cNvSpPr/>
          <p:nvPr/>
        </p:nvSpPr>
        <p:spPr>
          <a:xfrm>
            <a:off x="8565505" y="5589538"/>
            <a:ext cx="2433849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40000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4" name="Google Shape;1874;p60"/>
          <p:cNvSpPr/>
          <p:nvPr/>
        </p:nvSpPr>
        <p:spPr>
          <a:xfrm>
            <a:off x="11089928" y="6020544"/>
            <a:ext cx="1709589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5" name="Google Shape;1875;p60"/>
          <p:cNvSpPr/>
          <p:nvPr/>
        </p:nvSpPr>
        <p:spPr>
          <a:xfrm>
            <a:off x="11261378" y="5589538"/>
            <a:ext cx="1442889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6" name="Google Shape;1876;p60"/>
          <p:cNvSpPr/>
          <p:nvPr/>
        </p:nvSpPr>
        <p:spPr>
          <a:xfrm>
            <a:off x="12799516" y="6020544"/>
            <a:ext cx="4631234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7" name="Google Shape;1877;p60"/>
          <p:cNvSpPr/>
          <p:nvPr/>
        </p:nvSpPr>
        <p:spPr>
          <a:xfrm>
            <a:off x="12970966" y="5589538"/>
            <a:ext cx="4427271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brute-force fallback point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8" name="Google Shape;1878;p60"/>
          <p:cNvSpPr/>
          <p:nvPr/>
        </p:nvSpPr>
        <p:spPr>
          <a:xfrm>
            <a:off x="857250" y="6527750"/>
            <a:ext cx="5490567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9" name="Google Shape;1879;p60"/>
          <p:cNvSpPr/>
          <p:nvPr/>
        </p:nvSpPr>
        <p:spPr>
          <a:xfrm>
            <a:off x="1028700" y="6096744"/>
            <a:ext cx="5312384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Courier New"/>
                <a:ea typeface="Courier New"/>
                <a:cs typeface="Courier New"/>
                <a:sym typeface="Courier New"/>
              </a:rPr>
              <a:t>filterStrategy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0" name="Google Shape;1880;p60"/>
          <p:cNvSpPr/>
          <p:nvPr/>
        </p:nvSpPr>
        <p:spPr>
          <a:xfrm>
            <a:off x="6347817" y="6527750"/>
            <a:ext cx="2046238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1" name="Google Shape;1881;p60"/>
          <p:cNvSpPr/>
          <p:nvPr/>
        </p:nvSpPr>
        <p:spPr>
          <a:xfrm>
            <a:off x="6519267" y="6096744"/>
            <a:ext cx="1779538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HNSW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2" name="Google Shape;1882;p60"/>
          <p:cNvSpPr/>
          <p:nvPr/>
        </p:nvSpPr>
        <p:spPr>
          <a:xfrm>
            <a:off x="8394055" y="6527750"/>
            <a:ext cx="2695873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3" name="Google Shape;1883;p60"/>
          <p:cNvSpPr/>
          <p:nvPr/>
        </p:nvSpPr>
        <p:spPr>
          <a:xfrm>
            <a:off x="8565505" y="6096744"/>
            <a:ext cx="2433849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acorn (≥1.34)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4" name="Google Shape;1884;p60"/>
          <p:cNvSpPr/>
          <p:nvPr/>
        </p:nvSpPr>
        <p:spPr>
          <a:xfrm>
            <a:off x="11089928" y="6527750"/>
            <a:ext cx="1709589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5" name="Google Shape;1885;p60"/>
          <p:cNvSpPr/>
          <p:nvPr/>
        </p:nvSpPr>
        <p:spPr>
          <a:xfrm>
            <a:off x="11261378" y="6096744"/>
            <a:ext cx="1442889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6" name="Google Shape;1886;p60"/>
          <p:cNvSpPr/>
          <p:nvPr/>
        </p:nvSpPr>
        <p:spPr>
          <a:xfrm>
            <a:off x="12799516" y="6527750"/>
            <a:ext cx="4631234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7" name="Google Shape;1887;p60"/>
          <p:cNvSpPr/>
          <p:nvPr/>
        </p:nvSpPr>
        <p:spPr>
          <a:xfrm>
            <a:off x="12970966" y="6096744"/>
            <a:ext cx="4427271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sweeping still available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8" name="Google Shape;1888;p60"/>
          <p:cNvSpPr/>
          <p:nvPr/>
        </p:nvSpPr>
        <p:spPr>
          <a:xfrm>
            <a:off x="857250" y="7034957"/>
            <a:ext cx="5490567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9" name="Google Shape;1889;p60"/>
          <p:cNvSpPr/>
          <p:nvPr/>
        </p:nvSpPr>
        <p:spPr>
          <a:xfrm>
            <a:off x="1028700" y="6603950"/>
            <a:ext cx="5312384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Courier New"/>
                <a:ea typeface="Courier New"/>
                <a:cs typeface="Courier New"/>
                <a:sym typeface="Courier New"/>
              </a:rPr>
              <a:t>cleanupIntervalSeconds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0" name="Google Shape;1890;p60"/>
          <p:cNvSpPr/>
          <p:nvPr/>
        </p:nvSpPr>
        <p:spPr>
          <a:xfrm>
            <a:off x="6347817" y="7034957"/>
            <a:ext cx="2046238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1" name="Google Shape;1891;p60"/>
          <p:cNvSpPr/>
          <p:nvPr/>
        </p:nvSpPr>
        <p:spPr>
          <a:xfrm>
            <a:off x="6519267" y="6603950"/>
            <a:ext cx="1779538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HNSW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2" name="Google Shape;1892;p60"/>
          <p:cNvSpPr/>
          <p:nvPr/>
        </p:nvSpPr>
        <p:spPr>
          <a:xfrm>
            <a:off x="8394055" y="7034957"/>
            <a:ext cx="2695873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3" name="Google Shape;1893;p60"/>
          <p:cNvSpPr/>
          <p:nvPr/>
        </p:nvSpPr>
        <p:spPr>
          <a:xfrm>
            <a:off x="8565505" y="6603950"/>
            <a:ext cx="2433849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300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4" name="Google Shape;1894;p60"/>
          <p:cNvSpPr/>
          <p:nvPr/>
        </p:nvSpPr>
        <p:spPr>
          <a:xfrm>
            <a:off x="11089928" y="7034957"/>
            <a:ext cx="1709589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60"/>
          <p:cNvSpPr/>
          <p:nvPr/>
        </p:nvSpPr>
        <p:spPr>
          <a:xfrm>
            <a:off x="11261378" y="6603950"/>
            <a:ext cx="1442889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6" name="Google Shape;1896;p60"/>
          <p:cNvSpPr/>
          <p:nvPr/>
        </p:nvSpPr>
        <p:spPr>
          <a:xfrm>
            <a:off x="12799516" y="7034957"/>
            <a:ext cx="4631234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60"/>
          <p:cNvSpPr/>
          <p:nvPr/>
        </p:nvSpPr>
        <p:spPr>
          <a:xfrm>
            <a:off x="12970966" y="6603950"/>
            <a:ext cx="4427271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tombstone cleanup cadence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8" name="Google Shape;1898;p60"/>
          <p:cNvSpPr/>
          <p:nvPr/>
        </p:nvSpPr>
        <p:spPr>
          <a:xfrm>
            <a:off x="857250" y="7542163"/>
            <a:ext cx="5490567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60"/>
          <p:cNvSpPr/>
          <p:nvPr/>
        </p:nvSpPr>
        <p:spPr>
          <a:xfrm>
            <a:off x="1028700" y="7111157"/>
            <a:ext cx="5312384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Courier New"/>
                <a:ea typeface="Courier New"/>
                <a:cs typeface="Courier New"/>
                <a:sym typeface="Courier New"/>
              </a:rPr>
              <a:t>maxPostingSizeKB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0" name="Google Shape;1900;p60"/>
          <p:cNvSpPr/>
          <p:nvPr/>
        </p:nvSpPr>
        <p:spPr>
          <a:xfrm>
            <a:off x="6347817" y="7542163"/>
            <a:ext cx="2046238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Google Shape;1901;p60"/>
          <p:cNvSpPr/>
          <p:nvPr/>
        </p:nvSpPr>
        <p:spPr>
          <a:xfrm>
            <a:off x="6519267" y="7111157"/>
            <a:ext cx="1779538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HFresh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2" name="Google Shape;1902;p60"/>
          <p:cNvSpPr/>
          <p:nvPr/>
        </p:nvSpPr>
        <p:spPr>
          <a:xfrm>
            <a:off x="8394055" y="7542163"/>
            <a:ext cx="2695873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3" name="Google Shape;1903;p60"/>
          <p:cNvSpPr/>
          <p:nvPr/>
        </p:nvSpPr>
        <p:spPr>
          <a:xfrm>
            <a:off x="8565505" y="7111157"/>
            <a:ext cx="2433849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48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60"/>
          <p:cNvSpPr/>
          <p:nvPr/>
        </p:nvSpPr>
        <p:spPr>
          <a:xfrm>
            <a:off x="11089928" y="7542163"/>
            <a:ext cx="1709589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5" name="Google Shape;1905;p60"/>
          <p:cNvSpPr/>
          <p:nvPr/>
        </p:nvSpPr>
        <p:spPr>
          <a:xfrm>
            <a:off x="11261378" y="7111157"/>
            <a:ext cx="1442889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6" name="Google Shape;1906;p60"/>
          <p:cNvSpPr/>
          <p:nvPr/>
        </p:nvSpPr>
        <p:spPr>
          <a:xfrm>
            <a:off x="12799516" y="7542163"/>
            <a:ext cx="4631234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7" name="Google Shape;1907;p60"/>
          <p:cNvSpPr/>
          <p:nvPr/>
        </p:nvSpPr>
        <p:spPr>
          <a:xfrm>
            <a:off x="12970966" y="7111157"/>
            <a:ext cx="4427271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range 8–1024 KB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8" name="Google Shape;1908;p60"/>
          <p:cNvSpPr/>
          <p:nvPr/>
        </p:nvSpPr>
        <p:spPr>
          <a:xfrm>
            <a:off x="857250" y="8049369"/>
            <a:ext cx="5490567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9" name="Google Shape;1909;p60"/>
          <p:cNvSpPr/>
          <p:nvPr/>
        </p:nvSpPr>
        <p:spPr>
          <a:xfrm>
            <a:off x="1028700" y="7618363"/>
            <a:ext cx="5312384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Courier New"/>
                <a:ea typeface="Courier New"/>
                <a:cs typeface="Courier New"/>
                <a:sym typeface="Courier New"/>
              </a:rPr>
              <a:t>replicas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0" name="Google Shape;1910;p60"/>
          <p:cNvSpPr/>
          <p:nvPr/>
        </p:nvSpPr>
        <p:spPr>
          <a:xfrm>
            <a:off x="6347817" y="8049369"/>
            <a:ext cx="2046238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1" name="Google Shape;1911;p60"/>
          <p:cNvSpPr/>
          <p:nvPr/>
        </p:nvSpPr>
        <p:spPr>
          <a:xfrm>
            <a:off x="6519267" y="7618363"/>
            <a:ext cx="1779538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HFresh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2" name="Google Shape;1912;p60"/>
          <p:cNvSpPr/>
          <p:nvPr/>
        </p:nvSpPr>
        <p:spPr>
          <a:xfrm>
            <a:off x="8394055" y="8049369"/>
            <a:ext cx="2695873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3" name="Google Shape;1913;p60"/>
          <p:cNvSpPr/>
          <p:nvPr/>
        </p:nvSpPr>
        <p:spPr>
          <a:xfrm>
            <a:off x="8565505" y="7618363"/>
            <a:ext cx="2433849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4" name="Google Shape;1914;p60"/>
          <p:cNvSpPr/>
          <p:nvPr/>
        </p:nvSpPr>
        <p:spPr>
          <a:xfrm>
            <a:off x="11089928" y="8049369"/>
            <a:ext cx="1709589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60"/>
          <p:cNvSpPr/>
          <p:nvPr/>
        </p:nvSpPr>
        <p:spPr>
          <a:xfrm>
            <a:off x="11261378" y="7618363"/>
            <a:ext cx="1442889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93400F"/>
                </a:solidFill>
                <a:latin typeface="Inter"/>
                <a:ea typeface="Inter"/>
                <a:cs typeface="Inter"/>
                <a:sym typeface="Inter"/>
              </a:rPr>
              <a:t>No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6" name="Google Shape;1916;p60"/>
          <p:cNvSpPr/>
          <p:nvPr/>
        </p:nvSpPr>
        <p:spPr>
          <a:xfrm>
            <a:off x="12799516" y="8049369"/>
            <a:ext cx="4631234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7" name="Google Shape;1917;p60"/>
          <p:cNvSpPr/>
          <p:nvPr/>
        </p:nvSpPr>
        <p:spPr>
          <a:xfrm>
            <a:off x="12970966" y="7618363"/>
            <a:ext cx="4427271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posting lists per vector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8" name="Google Shape;1918;p60"/>
          <p:cNvSpPr/>
          <p:nvPr/>
        </p:nvSpPr>
        <p:spPr>
          <a:xfrm>
            <a:off x="857250" y="8556575"/>
            <a:ext cx="5490567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9" name="Google Shape;1919;p60"/>
          <p:cNvSpPr/>
          <p:nvPr/>
        </p:nvSpPr>
        <p:spPr>
          <a:xfrm>
            <a:off x="1028700" y="8125569"/>
            <a:ext cx="5312384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Courier New"/>
                <a:ea typeface="Courier New"/>
                <a:cs typeface="Courier New"/>
                <a:sym typeface="Courier New"/>
              </a:rPr>
              <a:t>searchProbe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0" name="Google Shape;1920;p60"/>
          <p:cNvSpPr/>
          <p:nvPr/>
        </p:nvSpPr>
        <p:spPr>
          <a:xfrm>
            <a:off x="6347817" y="8556575"/>
            <a:ext cx="2046238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1" name="Google Shape;1921;p60"/>
          <p:cNvSpPr/>
          <p:nvPr/>
        </p:nvSpPr>
        <p:spPr>
          <a:xfrm>
            <a:off x="6519267" y="8125569"/>
            <a:ext cx="1779538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HFresh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2" name="Google Shape;1922;p60"/>
          <p:cNvSpPr/>
          <p:nvPr/>
        </p:nvSpPr>
        <p:spPr>
          <a:xfrm>
            <a:off x="8394055" y="8556575"/>
            <a:ext cx="2695873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3" name="Google Shape;1923;p60"/>
          <p:cNvSpPr/>
          <p:nvPr/>
        </p:nvSpPr>
        <p:spPr>
          <a:xfrm>
            <a:off x="8565505" y="8125569"/>
            <a:ext cx="2433849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93400F"/>
                </a:solidFill>
                <a:latin typeface="Inter"/>
                <a:ea typeface="Inter"/>
                <a:cs typeface="Inter"/>
                <a:sym typeface="Inter"/>
              </a:rPr>
              <a:t>256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4" name="Google Shape;1924;p60"/>
          <p:cNvSpPr/>
          <p:nvPr/>
        </p:nvSpPr>
        <p:spPr>
          <a:xfrm>
            <a:off x="11089928" y="8556575"/>
            <a:ext cx="1709589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5" name="Google Shape;1925;p60"/>
          <p:cNvSpPr/>
          <p:nvPr/>
        </p:nvSpPr>
        <p:spPr>
          <a:xfrm>
            <a:off x="11261378" y="8125569"/>
            <a:ext cx="1442889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6" name="Google Shape;1926;p60"/>
          <p:cNvSpPr/>
          <p:nvPr/>
        </p:nvSpPr>
        <p:spPr>
          <a:xfrm>
            <a:off x="12799516" y="8556575"/>
            <a:ext cx="4631234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7" name="Google Shape;1927;p60"/>
          <p:cNvSpPr/>
          <p:nvPr/>
        </p:nvSpPr>
        <p:spPr>
          <a:xfrm>
            <a:off x="12970966" y="8125569"/>
            <a:ext cx="4427271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labs set it explicitly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8" name="Google Shape;1928;p60"/>
          <p:cNvSpPr/>
          <p:nvPr/>
        </p:nvSpPr>
        <p:spPr>
          <a:xfrm>
            <a:off x="857250" y="9065121"/>
            <a:ext cx="5490567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9" name="Google Shape;1929;p60"/>
          <p:cNvSpPr/>
          <p:nvPr/>
        </p:nvSpPr>
        <p:spPr>
          <a:xfrm>
            <a:off x="1028700" y="8632775"/>
            <a:ext cx="5312384" cy="4037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Courier New"/>
                <a:ea typeface="Courier New"/>
                <a:cs typeface="Courier New"/>
                <a:sym typeface="Courier New"/>
              </a:rPr>
              <a:t>rq.rescoreLimit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0" name="Google Shape;1930;p60"/>
          <p:cNvSpPr/>
          <p:nvPr/>
        </p:nvSpPr>
        <p:spPr>
          <a:xfrm>
            <a:off x="6347817" y="9065121"/>
            <a:ext cx="2046238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1" name="Google Shape;1931;p60"/>
          <p:cNvSpPr/>
          <p:nvPr/>
        </p:nvSpPr>
        <p:spPr>
          <a:xfrm>
            <a:off x="6519267" y="8632775"/>
            <a:ext cx="1779538" cy="4037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HFresh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2" name="Google Shape;1932;p60"/>
          <p:cNvSpPr/>
          <p:nvPr/>
        </p:nvSpPr>
        <p:spPr>
          <a:xfrm>
            <a:off x="8394055" y="9065121"/>
            <a:ext cx="2695873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3" name="Google Shape;1933;p60"/>
          <p:cNvSpPr/>
          <p:nvPr/>
        </p:nvSpPr>
        <p:spPr>
          <a:xfrm>
            <a:off x="8565505" y="8632775"/>
            <a:ext cx="2433849" cy="4037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350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4" name="Google Shape;1934;p60"/>
          <p:cNvSpPr/>
          <p:nvPr/>
        </p:nvSpPr>
        <p:spPr>
          <a:xfrm>
            <a:off x="11089928" y="9065121"/>
            <a:ext cx="1709589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5" name="Google Shape;1935;p60"/>
          <p:cNvSpPr/>
          <p:nvPr/>
        </p:nvSpPr>
        <p:spPr>
          <a:xfrm>
            <a:off x="11261378" y="8632775"/>
            <a:ext cx="1442889" cy="4037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6" name="Google Shape;1936;p60"/>
          <p:cNvSpPr/>
          <p:nvPr/>
        </p:nvSpPr>
        <p:spPr>
          <a:xfrm>
            <a:off x="12799516" y="9065121"/>
            <a:ext cx="4631234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7" name="Google Shape;1937;p60"/>
          <p:cNvSpPr/>
          <p:nvPr/>
        </p:nvSpPr>
        <p:spPr>
          <a:xfrm>
            <a:off x="12970966" y="8632775"/>
            <a:ext cx="4427271" cy="4037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RQ mandatory on HFresh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8" name="Google Shape;1938;p60"/>
          <p:cNvSpPr/>
          <p:nvPr/>
        </p:nvSpPr>
        <p:spPr>
          <a:xfrm>
            <a:off x="857250" y="9250859"/>
            <a:ext cx="17070705" cy="6551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8B87B3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8B87B3"/>
                </a:solidFill>
                <a:latin typeface="Inter"/>
                <a:ea typeface="Inter"/>
                <a:cs typeface="Inter"/>
                <a:sym typeface="Inter"/>
              </a:rPr>
              <a:t>Defaults per docs.weaviate.io config refs, checked 2026-07-13. Immutable after creation: efConstruction · maxConnections · distance. HNSW snapshots default-on since 1.36 (interval 21600 s).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B"/>
        </a:solidFill>
      </p:bgPr>
    </p:bg>
    <p:spTree>
      <p:nvGrpSpPr>
        <p:cNvPr id="1943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p61"/>
          <p:cNvSpPr/>
          <p:nvPr/>
        </p:nvSpPr>
        <p:spPr>
          <a:xfrm>
            <a:off x="857250" y="476250"/>
            <a:ext cx="2040434" cy="381000"/>
          </a:xfrm>
          <a:prstGeom prst="roundRect">
            <a:avLst>
              <a:gd fmla="val 50000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5" name="Google Shape;1945;p61"/>
          <p:cNvSpPr/>
          <p:nvPr/>
        </p:nvSpPr>
        <p:spPr>
          <a:xfrm>
            <a:off x="1028700" y="552450"/>
            <a:ext cx="177373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APPENDIX A2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6" name="Google Shape;1946;p61"/>
          <p:cNvSpPr/>
          <p:nvPr/>
        </p:nvSpPr>
        <p:spPr>
          <a:xfrm>
            <a:off x="857250" y="933450"/>
            <a:ext cx="10006831" cy="4990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300"/>
              <a:buFont typeface="Plus Jakarta Sans"/>
              <a:buNone/>
            </a:pPr>
            <a:r>
              <a:rPr b="1" i="0" lang="en-US" sz="33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Appendix — quantization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7" name="Google Shape;1947;p61"/>
          <p:cNvSpPr/>
          <p:nvPr/>
        </p:nvSpPr>
        <p:spPr>
          <a:xfrm>
            <a:off x="857250" y="1470571"/>
            <a:ext cx="10006831" cy="3466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Appendix · reference, not taught. Scheme reference — nothing quantizes by default.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48" name="Google Shape;194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87800" y="476250"/>
            <a:ext cx="7429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9" name="Google Shape;1949;p61"/>
          <p:cNvSpPr/>
          <p:nvPr/>
        </p:nvSpPr>
        <p:spPr>
          <a:xfrm>
            <a:off x="857250" y="1950541"/>
            <a:ext cx="16573500" cy="3264694"/>
          </a:xfrm>
          <a:prstGeom prst="roundRect">
            <a:avLst>
              <a:gd fmla="val 408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0" name="Google Shape;1950;p61"/>
          <p:cNvSpPr/>
          <p:nvPr/>
        </p:nvSpPr>
        <p:spPr>
          <a:xfrm>
            <a:off x="857250" y="1950541"/>
            <a:ext cx="2124075" cy="487561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1" name="Google Shape;1951;p61"/>
          <p:cNvSpPr/>
          <p:nvPr/>
        </p:nvSpPr>
        <p:spPr>
          <a:xfrm>
            <a:off x="1028700" y="2045791"/>
            <a:ext cx="1857375" cy="335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Scheme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2" name="Google Shape;1952;p61"/>
          <p:cNvSpPr/>
          <p:nvPr/>
        </p:nvSpPr>
        <p:spPr>
          <a:xfrm>
            <a:off x="2981325" y="1950541"/>
            <a:ext cx="2709118" cy="487561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3" name="Google Shape;1953;p61"/>
          <p:cNvSpPr/>
          <p:nvPr/>
        </p:nvSpPr>
        <p:spPr>
          <a:xfrm>
            <a:off x="3152775" y="2045791"/>
            <a:ext cx="2447492" cy="335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Added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4" name="Google Shape;1954;p61"/>
          <p:cNvSpPr/>
          <p:nvPr/>
        </p:nvSpPr>
        <p:spPr>
          <a:xfrm>
            <a:off x="5690443" y="1950541"/>
            <a:ext cx="3540919" cy="487561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5" name="Google Shape;1955;p61"/>
          <p:cNvSpPr/>
          <p:nvPr/>
        </p:nvSpPr>
        <p:spPr>
          <a:xfrm>
            <a:off x="5861893" y="2045791"/>
            <a:ext cx="3304246" cy="335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Training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6" name="Google Shape;1956;p61"/>
          <p:cNvSpPr/>
          <p:nvPr/>
        </p:nvSpPr>
        <p:spPr>
          <a:xfrm>
            <a:off x="9231362" y="1950541"/>
            <a:ext cx="3904208" cy="487561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7" name="Google Shape;1957;p61"/>
          <p:cNvSpPr/>
          <p:nvPr/>
        </p:nvSpPr>
        <p:spPr>
          <a:xfrm>
            <a:off x="9402812" y="2045791"/>
            <a:ext cx="3678434" cy="335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Ratio / recall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8" name="Google Shape;1958;p61"/>
          <p:cNvSpPr/>
          <p:nvPr/>
        </p:nvSpPr>
        <p:spPr>
          <a:xfrm>
            <a:off x="13135570" y="1950541"/>
            <a:ext cx="4295180" cy="487561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9" name="Google Shape;1959;p61"/>
          <p:cNvSpPr/>
          <p:nvPr/>
        </p:nvSpPr>
        <p:spPr>
          <a:xfrm>
            <a:off x="13307020" y="2045791"/>
            <a:ext cx="4081135" cy="335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Enable / disable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0" name="Google Shape;1960;p61"/>
          <p:cNvSpPr/>
          <p:nvPr/>
        </p:nvSpPr>
        <p:spPr>
          <a:xfrm>
            <a:off x="857250" y="2886670"/>
            <a:ext cx="2124075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1" name="Google Shape;1961;p61"/>
          <p:cNvSpPr/>
          <p:nvPr/>
        </p:nvSpPr>
        <p:spPr>
          <a:xfrm>
            <a:off x="1028700" y="2504777"/>
            <a:ext cx="1857375" cy="3533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RQ-8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2" name="Google Shape;1962;p61"/>
          <p:cNvSpPr/>
          <p:nvPr/>
        </p:nvSpPr>
        <p:spPr>
          <a:xfrm>
            <a:off x="2981325" y="2886670"/>
            <a:ext cx="2709118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3" name="Google Shape;1963;p61"/>
          <p:cNvSpPr/>
          <p:nvPr/>
        </p:nvSpPr>
        <p:spPr>
          <a:xfrm>
            <a:off x="3152775" y="2504777"/>
            <a:ext cx="2447492" cy="3533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v1.32 · flat 1.35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4" name="Google Shape;1964;p61"/>
          <p:cNvSpPr/>
          <p:nvPr/>
        </p:nvSpPr>
        <p:spPr>
          <a:xfrm>
            <a:off x="5690443" y="2886670"/>
            <a:ext cx="3540919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5" name="Google Shape;1965;p61"/>
          <p:cNvSpPr/>
          <p:nvPr/>
        </p:nvSpPr>
        <p:spPr>
          <a:xfrm>
            <a:off x="5861893" y="2504777"/>
            <a:ext cx="3304246" cy="3533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none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6" name="Google Shape;1966;p61"/>
          <p:cNvSpPr/>
          <p:nvPr/>
        </p:nvSpPr>
        <p:spPr>
          <a:xfrm>
            <a:off x="9231362" y="2886670"/>
            <a:ext cx="3904208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7" name="Google Shape;1967;p61"/>
          <p:cNvSpPr/>
          <p:nvPr/>
        </p:nvSpPr>
        <p:spPr>
          <a:xfrm>
            <a:off x="9402812" y="2504777"/>
            <a:ext cx="3678434" cy="3533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~4x · 98–99% recall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8" name="Google Shape;1968;p61"/>
          <p:cNvSpPr/>
          <p:nvPr/>
        </p:nvSpPr>
        <p:spPr>
          <a:xfrm>
            <a:off x="13135570" y="2886670"/>
            <a:ext cx="429518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9" name="Google Shape;1969;p61"/>
          <p:cNvSpPr/>
          <p:nvPr/>
        </p:nvSpPr>
        <p:spPr>
          <a:xfrm>
            <a:off x="13307020" y="2504777"/>
            <a:ext cx="4081135" cy="3533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later OK · never off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0" name="Google Shape;1970;p61"/>
          <p:cNvSpPr/>
          <p:nvPr/>
        </p:nvSpPr>
        <p:spPr>
          <a:xfrm>
            <a:off x="857250" y="3349526"/>
            <a:ext cx="2124075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1" name="Google Shape;1971;p61"/>
          <p:cNvSpPr/>
          <p:nvPr/>
        </p:nvSpPr>
        <p:spPr>
          <a:xfrm>
            <a:off x="1028700" y="2962870"/>
            <a:ext cx="1857375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RQ-1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2" name="Google Shape;1972;p61"/>
          <p:cNvSpPr/>
          <p:nvPr/>
        </p:nvSpPr>
        <p:spPr>
          <a:xfrm>
            <a:off x="2981325" y="3349526"/>
            <a:ext cx="2709118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3" name="Google Shape;1973;p61"/>
          <p:cNvSpPr/>
          <p:nvPr/>
        </p:nvSpPr>
        <p:spPr>
          <a:xfrm>
            <a:off x="3152775" y="2962870"/>
            <a:ext cx="2447492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v1.33 · flat 1.35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4" name="Google Shape;1974;p61"/>
          <p:cNvSpPr/>
          <p:nvPr/>
        </p:nvSpPr>
        <p:spPr>
          <a:xfrm>
            <a:off x="5690443" y="3349526"/>
            <a:ext cx="3540919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5" name="Google Shape;1975;p61"/>
          <p:cNvSpPr/>
          <p:nvPr/>
        </p:nvSpPr>
        <p:spPr>
          <a:xfrm>
            <a:off x="5861893" y="2962870"/>
            <a:ext cx="3304246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none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6" name="Google Shape;1976;p61"/>
          <p:cNvSpPr/>
          <p:nvPr/>
        </p:nvSpPr>
        <p:spPr>
          <a:xfrm>
            <a:off x="9231362" y="3349526"/>
            <a:ext cx="3904208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7" name="Google Shape;1977;p61"/>
          <p:cNvSpPr/>
          <p:nvPr/>
        </p:nvSpPr>
        <p:spPr>
          <a:xfrm>
            <a:off x="9402812" y="2962870"/>
            <a:ext cx="3678434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~32x · moderate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8" name="Google Shape;1978;p61"/>
          <p:cNvSpPr/>
          <p:nvPr/>
        </p:nvSpPr>
        <p:spPr>
          <a:xfrm>
            <a:off x="13135570" y="3349526"/>
            <a:ext cx="429518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9" name="Google Shape;1979;p61"/>
          <p:cNvSpPr/>
          <p:nvPr/>
        </p:nvSpPr>
        <p:spPr>
          <a:xfrm>
            <a:off x="13307020" y="2962870"/>
            <a:ext cx="4081135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later OK · never off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0" name="Google Shape;1980;p61"/>
          <p:cNvSpPr/>
          <p:nvPr/>
        </p:nvSpPr>
        <p:spPr>
          <a:xfrm>
            <a:off x="857250" y="3812381"/>
            <a:ext cx="2124075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1" name="Google Shape;1981;p61"/>
          <p:cNvSpPr/>
          <p:nvPr/>
        </p:nvSpPr>
        <p:spPr>
          <a:xfrm>
            <a:off x="1028700" y="3425726"/>
            <a:ext cx="1857375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PQ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2" name="Google Shape;1982;p61"/>
          <p:cNvSpPr/>
          <p:nvPr/>
        </p:nvSpPr>
        <p:spPr>
          <a:xfrm>
            <a:off x="2981325" y="3812381"/>
            <a:ext cx="2709118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3" name="Google Shape;1983;p61"/>
          <p:cNvSpPr/>
          <p:nvPr/>
        </p:nvSpPr>
        <p:spPr>
          <a:xfrm>
            <a:off x="3152775" y="3425726"/>
            <a:ext cx="2447492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long-standing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4" name="Google Shape;1984;p61"/>
          <p:cNvSpPr/>
          <p:nvPr/>
        </p:nvSpPr>
        <p:spPr>
          <a:xfrm>
            <a:off x="5690443" y="3812381"/>
            <a:ext cx="3540919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5" name="Google Shape;1985;p61"/>
          <p:cNvSpPr/>
          <p:nvPr/>
        </p:nvSpPr>
        <p:spPr>
          <a:xfrm>
            <a:off x="5861893" y="3425726"/>
            <a:ext cx="3304246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10k–100k objs/shard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6" name="Google Shape;1986;p61"/>
          <p:cNvSpPr/>
          <p:nvPr/>
        </p:nvSpPr>
        <p:spPr>
          <a:xfrm>
            <a:off x="9231362" y="3812381"/>
            <a:ext cx="3904208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7" name="Google Shape;1987;p61"/>
          <p:cNvSpPr/>
          <p:nvPr/>
        </p:nvSpPr>
        <p:spPr>
          <a:xfrm>
            <a:off x="9402812" y="3425726"/>
            <a:ext cx="3678434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768-dim ≈ 24x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8" name="Google Shape;1988;p61"/>
          <p:cNvSpPr/>
          <p:nvPr/>
        </p:nvSpPr>
        <p:spPr>
          <a:xfrm>
            <a:off x="13135570" y="3812381"/>
            <a:ext cx="429518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9" name="Google Shape;1989;p61"/>
          <p:cNvSpPr/>
          <p:nvPr/>
        </p:nvSpPr>
        <p:spPr>
          <a:xfrm>
            <a:off x="13307020" y="3425726"/>
            <a:ext cx="4081135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after load · never off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0" name="Google Shape;1990;p61"/>
          <p:cNvSpPr/>
          <p:nvPr/>
        </p:nvSpPr>
        <p:spPr>
          <a:xfrm>
            <a:off x="857250" y="4275237"/>
            <a:ext cx="2124075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1" name="Google Shape;1991;p61"/>
          <p:cNvSpPr/>
          <p:nvPr/>
        </p:nvSpPr>
        <p:spPr>
          <a:xfrm>
            <a:off x="1028700" y="3888581"/>
            <a:ext cx="1857375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BQ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2" name="Google Shape;1992;p61"/>
          <p:cNvSpPr/>
          <p:nvPr/>
        </p:nvSpPr>
        <p:spPr>
          <a:xfrm>
            <a:off x="2981325" y="4275237"/>
            <a:ext cx="2709118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3" name="Google Shape;1993;p61"/>
          <p:cNvSpPr/>
          <p:nvPr/>
        </p:nvSpPr>
        <p:spPr>
          <a:xfrm>
            <a:off x="3152775" y="3888581"/>
            <a:ext cx="2447492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long-standing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4" name="Google Shape;1994;p61"/>
          <p:cNvSpPr/>
          <p:nvPr/>
        </p:nvSpPr>
        <p:spPr>
          <a:xfrm>
            <a:off x="5690443" y="4275237"/>
            <a:ext cx="3540919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5" name="Google Shape;1995;p61"/>
          <p:cNvSpPr/>
          <p:nvPr/>
        </p:nvSpPr>
        <p:spPr>
          <a:xfrm>
            <a:off x="5861893" y="3888581"/>
            <a:ext cx="3304246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none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6" name="Google Shape;1996;p61"/>
          <p:cNvSpPr/>
          <p:nvPr/>
        </p:nvSpPr>
        <p:spPr>
          <a:xfrm>
            <a:off x="9231362" y="4275237"/>
            <a:ext cx="3904208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7" name="Google Shape;1997;p61"/>
          <p:cNvSpPr/>
          <p:nvPr/>
        </p:nvSpPr>
        <p:spPr>
          <a:xfrm>
            <a:off x="9402812" y="3888581"/>
            <a:ext cx="3678434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32x (1 bit/dim)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8" name="Google Shape;1998;p61"/>
          <p:cNvSpPr/>
          <p:nvPr/>
        </p:nvSpPr>
        <p:spPr>
          <a:xfrm>
            <a:off x="13135570" y="4275237"/>
            <a:ext cx="429518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9" name="Google Shape;1999;p61"/>
          <p:cNvSpPr/>
          <p:nvPr/>
        </p:nvSpPr>
        <p:spPr>
          <a:xfrm>
            <a:off x="13307020" y="3888581"/>
            <a:ext cx="4081135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later since 1.31 · never off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0" name="Google Shape;2000;p61"/>
          <p:cNvSpPr/>
          <p:nvPr/>
        </p:nvSpPr>
        <p:spPr>
          <a:xfrm>
            <a:off x="857250" y="4738092"/>
            <a:ext cx="2124075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1" name="Google Shape;2001;p61"/>
          <p:cNvSpPr/>
          <p:nvPr/>
        </p:nvSpPr>
        <p:spPr>
          <a:xfrm>
            <a:off x="1028700" y="4351437"/>
            <a:ext cx="1857375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SQ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2" name="Google Shape;2002;p61"/>
          <p:cNvSpPr/>
          <p:nvPr/>
        </p:nvSpPr>
        <p:spPr>
          <a:xfrm>
            <a:off x="2981325" y="4738092"/>
            <a:ext cx="2709118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3" name="Google Shape;2003;p61"/>
          <p:cNvSpPr/>
          <p:nvPr/>
        </p:nvSpPr>
        <p:spPr>
          <a:xfrm>
            <a:off x="3152775" y="4351437"/>
            <a:ext cx="2447492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long-standing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4" name="Google Shape;2004;p61"/>
          <p:cNvSpPr/>
          <p:nvPr/>
        </p:nvSpPr>
        <p:spPr>
          <a:xfrm>
            <a:off x="5690443" y="4738092"/>
            <a:ext cx="3540919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5" name="Google Shape;2005;p61"/>
          <p:cNvSpPr/>
          <p:nvPr/>
        </p:nvSpPr>
        <p:spPr>
          <a:xfrm>
            <a:off x="5861893" y="4351437"/>
            <a:ext cx="3304246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trainingLimit 100k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6" name="Google Shape;2006;p61"/>
          <p:cNvSpPr/>
          <p:nvPr/>
        </p:nvSpPr>
        <p:spPr>
          <a:xfrm>
            <a:off x="9231362" y="4738092"/>
            <a:ext cx="3904208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7" name="Google Shape;2007;p61"/>
          <p:cNvSpPr/>
          <p:nvPr/>
        </p:nvSpPr>
        <p:spPr>
          <a:xfrm>
            <a:off x="9402812" y="4351437"/>
            <a:ext cx="3678434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4x (int8)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8" name="Google Shape;2008;p61"/>
          <p:cNvSpPr/>
          <p:nvPr/>
        </p:nvSpPr>
        <p:spPr>
          <a:xfrm>
            <a:off x="13135570" y="4738092"/>
            <a:ext cx="429518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9" name="Google Shape;2009;p61"/>
          <p:cNvSpPr/>
          <p:nvPr/>
        </p:nvSpPr>
        <p:spPr>
          <a:xfrm>
            <a:off x="13307020" y="4351437"/>
            <a:ext cx="4081135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later since 1.31 · never off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0" name="Google Shape;2010;p61"/>
          <p:cNvSpPr/>
          <p:nvPr/>
        </p:nvSpPr>
        <p:spPr>
          <a:xfrm>
            <a:off x="857250" y="5200948"/>
            <a:ext cx="2124075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1" name="Google Shape;2011;p61"/>
          <p:cNvSpPr/>
          <p:nvPr/>
        </p:nvSpPr>
        <p:spPr>
          <a:xfrm>
            <a:off x="1028700" y="4814292"/>
            <a:ext cx="1857375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HFresh RQ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2" name="Google Shape;2012;p61"/>
          <p:cNvSpPr/>
          <p:nvPr/>
        </p:nvSpPr>
        <p:spPr>
          <a:xfrm>
            <a:off x="2981325" y="5200948"/>
            <a:ext cx="2709118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3" name="Google Shape;2013;p61"/>
          <p:cNvSpPr/>
          <p:nvPr/>
        </p:nvSpPr>
        <p:spPr>
          <a:xfrm>
            <a:off x="3152775" y="4814292"/>
            <a:ext cx="2447492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v1.36 · GA 1.38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4" name="Google Shape;2014;p61"/>
          <p:cNvSpPr/>
          <p:nvPr/>
        </p:nvSpPr>
        <p:spPr>
          <a:xfrm>
            <a:off x="5690443" y="5200948"/>
            <a:ext cx="3540919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5" name="Google Shape;2015;p61"/>
          <p:cNvSpPr/>
          <p:nvPr/>
        </p:nvSpPr>
        <p:spPr>
          <a:xfrm>
            <a:off x="5861893" y="4814292"/>
            <a:ext cx="3304246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none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6" name="Google Shape;2016;p61"/>
          <p:cNvSpPr/>
          <p:nvPr/>
        </p:nvSpPr>
        <p:spPr>
          <a:xfrm>
            <a:off x="9231362" y="5200948"/>
            <a:ext cx="3904208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7" name="Google Shape;2017;p61"/>
          <p:cNvSpPr/>
          <p:nvPr/>
        </p:nvSpPr>
        <p:spPr>
          <a:xfrm>
            <a:off x="9402812" y="4814292"/>
            <a:ext cx="3678434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RQ-8 RAM + RQ-1 disk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8" name="Google Shape;2018;p61"/>
          <p:cNvSpPr/>
          <p:nvPr/>
        </p:nvSpPr>
        <p:spPr>
          <a:xfrm>
            <a:off x="13135570" y="5200948"/>
            <a:ext cx="429518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9" name="Google Shape;2019;p61"/>
          <p:cNvSpPr/>
          <p:nvPr/>
        </p:nvSpPr>
        <p:spPr>
          <a:xfrm>
            <a:off x="13307020" y="4814292"/>
            <a:ext cx="4081135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mandatory · built-in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0" name="Google Shape;2020;p61"/>
          <p:cNvSpPr/>
          <p:nvPr/>
        </p:nvSpPr>
        <p:spPr>
          <a:xfrm>
            <a:off x="857250" y="5386685"/>
            <a:ext cx="18230850" cy="3466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8B87B3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8B87B3"/>
                </a:solidFill>
                <a:latin typeface="Inter"/>
                <a:ea typeface="Inter"/>
                <a:cs typeface="Inter"/>
                <a:sym typeface="Inter"/>
              </a:rPr>
              <a:t>No maturity badge on RQ docs pages — absence of a badge is the finding, not proof of GA. Flat index supports BQ + RQ only (no PQ/SQ).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1" name="Google Shape;2021;p61"/>
          <p:cNvSpPr/>
          <p:nvPr/>
        </p:nvSpPr>
        <p:spPr>
          <a:xfrm>
            <a:off x="857250" y="5866656"/>
            <a:ext cx="8162925" cy="4001244"/>
          </a:xfrm>
          <a:prstGeom prst="roundRect">
            <a:avLst>
              <a:gd fmla="val 380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2" name="Google Shape;2022;p61"/>
          <p:cNvSpPr/>
          <p:nvPr/>
        </p:nvSpPr>
        <p:spPr>
          <a:xfrm>
            <a:off x="1123950" y="6076206"/>
            <a:ext cx="839247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Defaults &amp; rescoring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3" name="Google Shape;2023;p61"/>
          <p:cNvSpPr/>
          <p:nvPr/>
        </p:nvSpPr>
        <p:spPr>
          <a:xfrm>
            <a:off x="1123950" y="6457206"/>
            <a:ext cx="7858411" cy="1363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DEFAULT_QUANTIZATION defaults to none — explicit opt-in only SQ/RQ/BQ over-fetch, then re-score with uncompressed vectors (rescoreLimit -1) HFresh rq.rescoreLimit default 350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4" name="Google Shape;2024;p61"/>
          <p:cNvSpPr/>
          <p:nvPr/>
        </p:nvSpPr>
        <p:spPr>
          <a:xfrm>
            <a:off x="9267825" y="5866656"/>
            <a:ext cx="8162925" cy="4001244"/>
          </a:xfrm>
          <a:prstGeom prst="roundRect">
            <a:avLst>
              <a:gd fmla="val 3809" name="adj"/>
            </a:avLst>
          </a:prstGeom>
          <a:solidFill>
            <a:srgbClr val="FBE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5" name="Google Shape;2025;p61"/>
          <p:cNvSpPr/>
          <p:nvPr/>
        </p:nvSpPr>
        <p:spPr>
          <a:xfrm>
            <a:off x="9534525" y="6076206"/>
            <a:ext cx="839247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9340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Rules that bite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6" name="Google Shape;2026;p61"/>
          <p:cNvSpPr/>
          <p:nvPr/>
        </p:nvSpPr>
        <p:spPr>
          <a:xfrm>
            <a:off x="9534525" y="6457206"/>
            <a:ext cx="7858411" cy="16953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4A2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7A4A26"/>
                </a:solidFill>
                <a:latin typeface="Inter"/>
                <a:ea typeface="Inter"/>
                <a:cs typeface="Inter"/>
                <a:sym typeface="Inter"/>
              </a:rPr>
              <a:t>Once enabled, quantization can never be disabled on a collection PQ: dims must divide evenly by segments; AutoPQ needs ASYNC_INDEXING=true WCD default quantization not researched — verify on your deployment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B"/>
        </a:solidFill>
      </p:bgPr>
    </p:bg>
    <p:spTree>
      <p:nvGrpSpPr>
        <p:cNvPr id="203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" name="Google Shape;2032;p62"/>
          <p:cNvSpPr/>
          <p:nvPr/>
        </p:nvSpPr>
        <p:spPr>
          <a:xfrm>
            <a:off x="952500" y="533400"/>
            <a:ext cx="2043559" cy="381000"/>
          </a:xfrm>
          <a:prstGeom prst="roundRect">
            <a:avLst>
              <a:gd fmla="val 50000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3" name="Google Shape;2033;p62"/>
          <p:cNvSpPr/>
          <p:nvPr/>
        </p:nvSpPr>
        <p:spPr>
          <a:xfrm>
            <a:off x="1123950" y="609600"/>
            <a:ext cx="177685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APPENDIX A3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4" name="Google Shape;2034;p62"/>
          <p:cNvSpPr/>
          <p:nvPr/>
        </p:nvSpPr>
        <p:spPr>
          <a:xfrm>
            <a:off x="952500" y="990600"/>
            <a:ext cx="8120390" cy="520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241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450"/>
              <a:buFont typeface="Plus Jakarta Sans"/>
              <a:buNone/>
            </a:pPr>
            <a:r>
              <a:rPr b="1" i="0" lang="en-US" sz="34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Appendix — client patterns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5" name="Google Shape;2035;p62"/>
          <p:cNvSpPr/>
          <p:nvPr/>
        </p:nvSpPr>
        <p:spPr>
          <a:xfrm>
            <a:off x="952500" y="1548705"/>
            <a:ext cx="8120390" cy="3466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Appendix · reference, not taught. Python v4 · weaviate-client 4.23.0.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36" name="Google Shape;203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92550" y="533400"/>
            <a:ext cx="7429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7" name="Google Shape;2037;p62"/>
          <p:cNvSpPr/>
          <p:nvPr/>
        </p:nvSpPr>
        <p:spPr>
          <a:xfrm>
            <a:off x="952500" y="2104876"/>
            <a:ext cx="8077200" cy="3738563"/>
          </a:xfrm>
          <a:prstGeom prst="roundRect">
            <a:avLst>
              <a:gd fmla="val 40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8" name="Google Shape;2038;p62"/>
          <p:cNvSpPr/>
          <p:nvPr/>
        </p:nvSpPr>
        <p:spPr>
          <a:xfrm>
            <a:off x="1257300" y="2362051"/>
            <a:ext cx="123438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Lifecycle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9" name="Google Shape;2039;p62"/>
          <p:cNvSpPr/>
          <p:nvPr/>
        </p:nvSpPr>
        <p:spPr>
          <a:xfrm>
            <a:off x="7246888" y="2352526"/>
            <a:ext cx="1478012" cy="342900"/>
          </a:xfrm>
          <a:prstGeom prst="roundRect">
            <a:avLst>
              <a:gd fmla="val 50000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0" name="Google Shape;2040;p62"/>
          <p:cNvSpPr/>
          <p:nvPr/>
        </p:nvSpPr>
        <p:spPr>
          <a:xfrm>
            <a:off x="7380238" y="2409676"/>
            <a:ext cx="135911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v4 · 4.23.0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1" name="Google Shape;2041;p62"/>
          <p:cNvSpPr/>
          <p:nvPr/>
        </p:nvSpPr>
        <p:spPr>
          <a:xfrm>
            <a:off x="1257300" y="2790676"/>
            <a:ext cx="7691628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Explicit client.close() or a context manager — with weaviate.connect_to_local() as client. A closed client raises WeaviateClosedClientError; the batching object is not thread-safe.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2" name="Google Shape;2042;p62"/>
          <p:cNvSpPr/>
          <p:nvPr/>
        </p:nvSpPr>
        <p:spPr>
          <a:xfrm>
            <a:off x="9258300" y="2104876"/>
            <a:ext cx="8077200" cy="3738563"/>
          </a:xfrm>
          <a:prstGeom prst="roundRect">
            <a:avLst>
              <a:gd fmla="val 40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3" name="Google Shape;2043;p62"/>
          <p:cNvSpPr/>
          <p:nvPr/>
        </p:nvSpPr>
        <p:spPr>
          <a:xfrm>
            <a:off x="9563100" y="2362051"/>
            <a:ext cx="16948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Async client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4" name="Google Shape;2044;p62"/>
          <p:cNvSpPr/>
          <p:nvPr/>
        </p:nvSpPr>
        <p:spPr>
          <a:xfrm>
            <a:off x="15321260" y="2352526"/>
            <a:ext cx="1709440" cy="342900"/>
          </a:xfrm>
          <a:prstGeom prst="roundRect">
            <a:avLst>
              <a:gd fmla="val 50000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5" name="Google Shape;2045;p62"/>
          <p:cNvSpPr/>
          <p:nvPr/>
        </p:nvSpPr>
        <p:spPr>
          <a:xfrm>
            <a:off x="15454610" y="2409676"/>
            <a:ext cx="161368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stable 4.7.0+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6" name="Google Shape;2046;p62"/>
          <p:cNvSpPr/>
          <p:nvPr/>
        </p:nvSpPr>
        <p:spPr>
          <a:xfrm>
            <a:off x="9563100" y="2790676"/>
            <a:ext cx="7691628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WeaviateAsyncClient via use_async_with_* helpers; await connect() and close(). Batching supports server-side stream() only — use the sync client for client-side modes.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7" name="Google Shape;2047;p62"/>
          <p:cNvSpPr/>
          <p:nvPr/>
        </p:nvSpPr>
        <p:spPr>
          <a:xfrm>
            <a:off x="952500" y="6072039"/>
            <a:ext cx="8077200" cy="3738711"/>
          </a:xfrm>
          <a:prstGeom prst="roundRect">
            <a:avLst>
              <a:gd fmla="val 40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8" name="Google Shape;2048;p62"/>
          <p:cNvSpPr/>
          <p:nvPr/>
        </p:nvSpPr>
        <p:spPr>
          <a:xfrm>
            <a:off x="1257300" y="6329214"/>
            <a:ext cx="124331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Timeouts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9" name="Google Shape;2049;p62"/>
          <p:cNvSpPr/>
          <p:nvPr/>
        </p:nvSpPr>
        <p:spPr>
          <a:xfrm>
            <a:off x="7041059" y="6319689"/>
            <a:ext cx="1683841" cy="342900"/>
          </a:xfrm>
          <a:prstGeom prst="roundRect">
            <a:avLst>
              <a:gd fmla="val 50000" name="adj"/>
            </a:avLst>
          </a:prstGeom>
          <a:solidFill>
            <a:srgbClr val="FDF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0" name="Google Shape;2050;p62"/>
          <p:cNvSpPr/>
          <p:nvPr/>
        </p:nvSpPr>
        <p:spPr>
          <a:xfrm>
            <a:off x="7174409" y="6376839"/>
            <a:ext cx="158552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6B5E0E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6B5E0E"/>
                </a:solidFill>
                <a:latin typeface="Inter"/>
                <a:ea typeface="Inter"/>
                <a:cs typeface="Inter"/>
                <a:sym typeface="Inter"/>
              </a:rPr>
              <a:t>set explicitly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1" name="Google Shape;2051;p62"/>
          <p:cNvSpPr/>
          <p:nvPr/>
        </p:nvSpPr>
        <p:spPr>
          <a:xfrm>
            <a:off x="1257300" y="6757839"/>
            <a:ext cx="7691628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AdditionalConfig(timeout=Timeout(init=30, query=60, insert=120)). Raise query for RAG / generate calls. skip_init_checks=True is a troubleshooting tool, not a production setting.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2" name="Google Shape;2052;p62"/>
          <p:cNvSpPr/>
          <p:nvPr/>
        </p:nvSpPr>
        <p:spPr>
          <a:xfrm>
            <a:off x="9258300" y="6072039"/>
            <a:ext cx="8077200" cy="3738711"/>
          </a:xfrm>
          <a:prstGeom prst="roundRect">
            <a:avLst>
              <a:gd fmla="val 40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3" name="Google Shape;2053;p62"/>
          <p:cNvSpPr/>
          <p:nvPr/>
        </p:nvSpPr>
        <p:spPr>
          <a:xfrm>
            <a:off x="9563100" y="6329214"/>
            <a:ext cx="334870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Retries &amp; failed_objects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4" name="Google Shape;2054;p62"/>
          <p:cNvSpPr/>
          <p:nvPr/>
        </p:nvSpPr>
        <p:spPr>
          <a:xfrm>
            <a:off x="15453866" y="6319689"/>
            <a:ext cx="1576834" cy="342900"/>
          </a:xfrm>
          <a:prstGeom prst="roundRect">
            <a:avLst>
              <a:gd fmla="val 50000" name="adj"/>
            </a:avLst>
          </a:prstGeom>
          <a:solidFill>
            <a:srgbClr val="FDF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5" name="Google Shape;2055;p62"/>
          <p:cNvSpPr/>
          <p:nvPr/>
        </p:nvSpPr>
        <p:spPr>
          <a:xfrm>
            <a:off x="15587216" y="6376839"/>
            <a:ext cx="146781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6B5E0E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6B5E0E"/>
                </a:solidFill>
                <a:latin typeface="Inter"/>
                <a:ea typeface="Inter"/>
                <a:cs typeface="Inter"/>
                <a:sym typeface="Inter"/>
              </a:rPr>
              <a:t>user-driven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6" name="Google Shape;2056;p62"/>
          <p:cNvSpPr/>
          <p:nvPr/>
        </p:nvSpPr>
        <p:spPr>
          <a:xfrm>
            <a:off x="9563100" y="6757839"/>
            <a:ext cx="7691628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No documented automatic retry policy. Watch batch.number_errors in flight; copy failed_objects after exit (they reset on the next batch); re-add with generate_uuid5 IDs so retries are idempotent.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B"/>
        </a:solidFill>
      </p:bgPr>
    </p:bg>
    <p:spTree>
      <p:nvGrpSpPr>
        <p:cNvPr id="206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Google Shape;2062;p63"/>
          <p:cNvSpPr/>
          <p:nvPr/>
        </p:nvSpPr>
        <p:spPr>
          <a:xfrm>
            <a:off x="952500" y="533400"/>
            <a:ext cx="2053382" cy="381000"/>
          </a:xfrm>
          <a:prstGeom prst="roundRect">
            <a:avLst>
              <a:gd fmla="val 50000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3" name="Google Shape;2063;p63"/>
          <p:cNvSpPr/>
          <p:nvPr/>
        </p:nvSpPr>
        <p:spPr>
          <a:xfrm>
            <a:off x="1123950" y="609600"/>
            <a:ext cx="178668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APPENDIX A4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4" name="Google Shape;2064;p63"/>
          <p:cNvSpPr/>
          <p:nvPr/>
        </p:nvSpPr>
        <p:spPr>
          <a:xfrm>
            <a:off x="952500" y="990600"/>
            <a:ext cx="8404592" cy="520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241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450"/>
              <a:buFont typeface="Plus Jakarta Sans"/>
              <a:buNone/>
            </a:pPr>
            <a:r>
              <a:rPr b="1" i="0" lang="en-US" sz="34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Appendix — evaluating retrieval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5" name="Google Shape;2065;p63"/>
          <p:cNvSpPr/>
          <p:nvPr/>
        </p:nvSpPr>
        <p:spPr>
          <a:xfrm>
            <a:off x="952500" y="1548705"/>
            <a:ext cx="8404592" cy="3466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Appendix · reference, not taught. Recall@k is necessary, not sufficient.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66" name="Google Shape;2066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92550" y="533400"/>
            <a:ext cx="7429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7" name="Google Shape;2067;p63"/>
          <p:cNvSpPr/>
          <p:nvPr/>
        </p:nvSpPr>
        <p:spPr>
          <a:xfrm>
            <a:off x="952500" y="2123926"/>
            <a:ext cx="5283101" cy="7686824"/>
          </a:xfrm>
          <a:prstGeom prst="roundRect">
            <a:avLst>
              <a:gd fmla="val 288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8" name="Google Shape;2068;p63"/>
          <p:cNvSpPr/>
          <p:nvPr/>
        </p:nvSpPr>
        <p:spPr>
          <a:xfrm>
            <a:off x="1276350" y="2409676"/>
            <a:ext cx="509894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nDCG — rank position matters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9" name="Google Shape;2069;p63"/>
          <p:cNvSpPr/>
          <p:nvPr/>
        </p:nvSpPr>
        <p:spPr>
          <a:xfrm>
            <a:off x="1276350" y="2857351"/>
            <a:ext cx="4774463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Graded relevance discounted by rank — rewards putting the best result first. recall@k treats every hit inside the top k as equal, so it cannot see ordering wins.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0" name="Google Shape;2070;p63"/>
          <p:cNvSpPr/>
          <p:nvPr/>
        </p:nvSpPr>
        <p:spPr>
          <a:xfrm>
            <a:off x="6502301" y="2123926"/>
            <a:ext cx="5283250" cy="7686824"/>
          </a:xfrm>
          <a:prstGeom prst="roundRect">
            <a:avLst>
              <a:gd fmla="val 288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1" name="Google Shape;2071;p63"/>
          <p:cNvSpPr/>
          <p:nvPr/>
        </p:nvSpPr>
        <p:spPr>
          <a:xfrm>
            <a:off x="6826151" y="2409676"/>
            <a:ext cx="509910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Judgment lists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2" name="Google Shape;2072;p63"/>
          <p:cNvSpPr/>
          <p:nvPr/>
        </p:nvSpPr>
        <p:spPr>
          <a:xfrm>
            <a:off x="6826151" y="2857351"/>
            <a:ext cx="4774616" cy="1824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A maintained set of real queries with graded relevance labels. Re-run them on every config change so tuning decisions are measured against user intent, not felt.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3" name="Google Shape;2073;p63"/>
          <p:cNvSpPr/>
          <p:nvPr/>
        </p:nvSpPr>
        <p:spPr>
          <a:xfrm>
            <a:off x="12052250" y="2123926"/>
            <a:ext cx="5283250" cy="7686824"/>
          </a:xfrm>
          <a:prstGeom prst="roundRect">
            <a:avLst>
              <a:gd fmla="val 288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4" name="Google Shape;2074;p63"/>
          <p:cNvSpPr/>
          <p:nvPr/>
        </p:nvSpPr>
        <p:spPr>
          <a:xfrm>
            <a:off x="12376100" y="2409676"/>
            <a:ext cx="509910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When recall@k misleads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5" name="Google Shape;2075;p63"/>
          <p:cNvSpPr/>
          <p:nvPr/>
        </p:nvSpPr>
        <p:spPr>
          <a:xfrm>
            <a:off x="12376100" y="2857351"/>
            <a:ext cx="4774616" cy="1824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ANN recall@k scores overlap with exact-search ground truth — not usefulness. Perfect recall over a weak embedding or a mis-set alpha still returns confidently wrong answers.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B"/>
        </a:solidFill>
      </p:bgPr>
    </p:bg>
    <p:spTree>
      <p:nvGrpSpPr>
        <p:cNvPr id="2080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Google Shape;2081;p64"/>
          <p:cNvSpPr/>
          <p:nvPr/>
        </p:nvSpPr>
        <p:spPr>
          <a:xfrm>
            <a:off x="952500" y="533400"/>
            <a:ext cx="2044303" cy="381000"/>
          </a:xfrm>
          <a:prstGeom prst="roundRect">
            <a:avLst>
              <a:gd fmla="val 50000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2" name="Google Shape;2082;p64"/>
          <p:cNvSpPr/>
          <p:nvPr/>
        </p:nvSpPr>
        <p:spPr>
          <a:xfrm>
            <a:off x="1123950" y="609600"/>
            <a:ext cx="177760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APPENDIX A5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3" name="Google Shape;2083;p64"/>
          <p:cNvSpPr/>
          <p:nvPr/>
        </p:nvSpPr>
        <p:spPr>
          <a:xfrm>
            <a:off x="952500" y="990600"/>
            <a:ext cx="9663038" cy="520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241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450"/>
              <a:buFont typeface="Plus Jakarta Sans"/>
              <a:buNone/>
            </a:pPr>
            <a:r>
              <a:rPr b="1" i="0" lang="en-US" sz="34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Appendix — integration contracts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4" name="Google Shape;2084;p64"/>
          <p:cNvSpPr/>
          <p:nvPr/>
        </p:nvSpPr>
        <p:spPr>
          <a:xfrm>
            <a:off x="952500" y="1548705"/>
            <a:ext cx="9663038" cy="3466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Appendix · reference, not taught. What every caller of Weaviate owes production.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85" name="Google Shape;2085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92550" y="533400"/>
            <a:ext cx="7429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6" name="Google Shape;2086;p64"/>
          <p:cNvSpPr/>
          <p:nvPr/>
        </p:nvSpPr>
        <p:spPr>
          <a:xfrm>
            <a:off x="952500" y="2085826"/>
            <a:ext cx="16383000" cy="7187803"/>
          </a:xfrm>
          <a:prstGeom prst="roundRect">
            <a:avLst>
              <a:gd fmla="val 185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7" name="Google Shape;2087;p64"/>
          <p:cNvSpPr/>
          <p:nvPr/>
        </p:nvSpPr>
        <p:spPr>
          <a:xfrm>
            <a:off x="952500" y="2085826"/>
            <a:ext cx="3276600" cy="973038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8" name="Google Shape;2088;p64"/>
          <p:cNvSpPr/>
          <p:nvPr/>
        </p:nvSpPr>
        <p:spPr>
          <a:xfrm>
            <a:off x="1162050" y="2238226"/>
            <a:ext cx="2955798" cy="706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Contract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9" name="Google Shape;2089;p64"/>
          <p:cNvSpPr/>
          <p:nvPr/>
        </p:nvSpPr>
        <p:spPr>
          <a:xfrm>
            <a:off x="4229100" y="2085826"/>
            <a:ext cx="7208490" cy="973038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0" name="Google Shape;2090;p64"/>
          <p:cNvSpPr/>
          <p:nvPr/>
        </p:nvSpPr>
        <p:spPr>
          <a:xfrm>
            <a:off x="4438650" y="2238226"/>
            <a:ext cx="7005645" cy="706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Client lever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1" name="Google Shape;2091;p64"/>
          <p:cNvSpPr/>
          <p:nvPr/>
        </p:nvSpPr>
        <p:spPr>
          <a:xfrm>
            <a:off x="11437590" y="2085826"/>
            <a:ext cx="5897910" cy="973038"/>
          </a:xfrm>
          <a:prstGeom prst="rect">
            <a:avLst/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2" name="Google Shape;2092;p64"/>
          <p:cNvSpPr/>
          <p:nvPr/>
        </p:nvSpPr>
        <p:spPr>
          <a:xfrm>
            <a:off x="11647140" y="2238226"/>
            <a:ext cx="5655747" cy="706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Failure it prevents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3" name="Google Shape;2093;p64"/>
          <p:cNvSpPr/>
          <p:nvPr/>
        </p:nvSpPr>
        <p:spPr>
          <a:xfrm>
            <a:off x="952500" y="4492079"/>
            <a:ext cx="32766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4" name="Google Shape;2094;p64"/>
          <p:cNvSpPr/>
          <p:nvPr/>
        </p:nvSpPr>
        <p:spPr>
          <a:xfrm>
            <a:off x="1162050" y="3182689"/>
            <a:ext cx="2955798" cy="12236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Timeouts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5" name="Google Shape;2095;p64"/>
          <p:cNvSpPr/>
          <p:nvPr/>
        </p:nvSpPr>
        <p:spPr>
          <a:xfrm>
            <a:off x="4229100" y="4492079"/>
            <a:ext cx="720849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6" name="Google Shape;2096;p64"/>
          <p:cNvSpPr/>
          <p:nvPr/>
        </p:nvSpPr>
        <p:spPr>
          <a:xfrm>
            <a:off x="4438650" y="3182689"/>
            <a:ext cx="7005645" cy="12236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Courier New"/>
                <a:ea typeface="Courier New"/>
                <a:cs typeface="Courier New"/>
                <a:sym typeface="Courier New"/>
              </a:rPr>
              <a:t>Timeout(init=30, query=60, insert=120); raise query for RAG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7" name="Google Shape;2097;p64"/>
          <p:cNvSpPr/>
          <p:nvPr/>
        </p:nvSpPr>
        <p:spPr>
          <a:xfrm>
            <a:off x="11437590" y="4492079"/>
            <a:ext cx="589791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8" name="Google Shape;2098;p64"/>
          <p:cNvSpPr/>
          <p:nvPr/>
        </p:nvSpPr>
        <p:spPr>
          <a:xfrm>
            <a:off x="11647140" y="3182689"/>
            <a:ext cx="5655747" cy="12236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Hung callers queuing behind slow requests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9" name="Google Shape;2099;p64"/>
          <p:cNvSpPr/>
          <p:nvPr/>
        </p:nvSpPr>
        <p:spPr>
          <a:xfrm>
            <a:off x="952500" y="5425083"/>
            <a:ext cx="32766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0" name="Google Shape;2100;p64"/>
          <p:cNvSpPr/>
          <p:nvPr/>
        </p:nvSpPr>
        <p:spPr>
          <a:xfrm>
            <a:off x="1162050" y="4625429"/>
            <a:ext cx="2955798" cy="7139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Idempotency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1" name="Google Shape;2101;p64"/>
          <p:cNvSpPr/>
          <p:nvPr/>
        </p:nvSpPr>
        <p:spPr>
          <a:xfrm>
            <a:off x="4229100" y="5425083"/>
            <a:ext cx="720849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2" name="Google Shape;2102;p64"/>
          <p:cNvSpPr/>
          <p:nvPr/>
        </p:nvSpPr>
        <p:spPr>
          <a:xfrm>
            <a:off x="4438650" y="4625429"/>
            <a:ext cx="7005645" cy="7139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Courier New"/>
                <a:ea typeface="Courier New"/>
                <a:cs typeface="Courier New"/>
                <a:sym typeface="Courier New"/>
              </a:rPr>
              <a:t>Deterministic IDs via generate_uuid5(row)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3" name="Google Shape;2103;p64"/>
          <p:cNvSpPr/>
          <p:nvPr/>
        </p:nvSpPr>
        <p:spPr>
          <a:xfrm>
            <a:off x="11437590" y="5425083"/>
            <a:ext cx="589791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4" name="Google Shape;2104;p64"/>
          <p:cNvSpPr/>
          <p:nvPr/>
        </p:nvSpPr>
        <p:spPr>
          <a:xfrm>
            <a:off x="11647140" y="4625429"/>
            <a:ext cx="5655747" cy="7139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Duplicate objects after retried imports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5" name="Google Shape;2105;p64"/>
          <p:cNvSpPr/>
          <p:nvPr/>
        </p:nvSpPr>
        <p:spPr>
          <a:xfrm>
            <a:off x="952500" y="6358086"/>
            <a:ext cx="32766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6" name="Google Shape;2106;p64"/>
          <p:cNvSpPr/>
          <p:nvPr/>
        </p:nvSpPr>
        <p:spPr>
          <a:xfrm>
            <a:off x="1162050" y="5558433"/>
            <a:ext cx="2955798" cy="7139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Rate limits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7" name="Google Shape;2107;p64"/>
          <p:cNvSpPr/>
          <p:nvPr/>
        </p:nvSpPr>
        <p:spPr>
          <a:xfrm>
            <a:off x="4229100" y="6358086"/>
            <a:ext cx="720849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8" name="Google Shape;2108;p64"/>
          <p:cNvSpPr/>
          <p:nvPr/>
        </p:nvSpPr>
        <p:spPr>
          <a:xfrm>
            <a:off x="4438650" y="5558433"/>
            <a:ext cx="7005645" cy="7139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Courier New"/>
                <a:ea typeface="Courier New"/>
                <a:cs typeface="Courier New"/>
                <a:sym typeface="Courier New"/>
              </a:rPr>
              <a:t>batch.rate_limit(req/min=…)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9" name="Google Shape;2109;p64"/>
          <p:cNvSpPr/>
          <p:nvPr/>
        </p:nvSpPr>
        <p:spPr>
          <a:xfrm>
            <a:off x="11437590" y="6358086"/>
            <a:ext cx="589791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0" name="Google Shape;2110;p64"/>
          <p:cNvSpPr/>
          <p:nvPr/>
        </p:nvSpPr>
        <p:spPr>
          <a:xfrm>
            <a:off x="11647140" y="5558433"/>
            <a:ext cx="5655747" cy="7139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Vectorizer API quota blowouts mid-import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1" name="Google Shape;2111;p64"/>
          <p:cNvSpPr/>
          <p:nvPr/>
        </p:nvSpPr>
        <p:spPr>
          <a:xfrm>
            <a:off x="952500" y="7808416"/>
            <a:ext cx="32766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2" name="Google Shape;2112;p64"/>
          <p:cNvSpPr/>
          <p:nvPr/>
        </p:nvSpPr>
        <p:spPr>
          <a:xfrm>
            <a:off x="1162050" y="6491436"/>
            <a:ext cx="2955798" cy="12312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Circuit breaking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3" name="Google Shape;2113;p64"/>
          <p:cNvSpPr/>
          <p:nvPr/>
        </p:nvSpPr>
        <p:spPr>
          <a:xfrm>
            <a:off x="4229100" y="7808416"/>
            <a:ext cx="720849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4" name="Google Shape;2114;p64"/>
          <p:cNvSpPr/>
          <p:nvPr/>
        </p:nvSpPr>
        <p:spPr>
          <a:xfrm>
            <a:off x="4438650" y="6491436"/>
            <a:ext cx="7005645" cy="12312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Stop at a batch.number_errors threshold — the client has no auto-retry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5" name="Google Shape;2115;p64"/>
          <p:cNvSpPr/>
          <p:nvPr/>
        </p:nvSpPr>
        <p:spPr>
          <a:xfrm>
            <a:off x="11437590" y="7808416"/>
            <a:ext cx="589791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6" name="Google Shape;2116;p64"/>
          <p:cNvSpPr/>
          <p:nvPr/>
        </p:nvSpPr>
        <p:spPr>
          <a:xfrm>
            <a:off x="11647140" y="6491436"/>
            <a:ext cx="5655747" cy="12312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Retry storms against a degraded cluster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7" name="Google Shape;2117;p64"/>
          <p:cNvSpPr/>
          <p:nvPr/>
        </p:nvSpPr>
        <p:spPr>
          <a:xfrm>
            <a:off x="952500" y="9259342"/>
            <a:ext cx="327660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8" name="Google Shape;2118;p64"/>
          <p:cNvSpPr/>
          <p:nvPr/>
        </p:nvSpPr>
        <p:spPr>
          <a:xfrm>
            <a:off x="1162050" y="7941766"/>
            <a:ext cx="2955798" cy="1231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30C49"/>
                </a:solidFill>
                <a:latin typeface="Inter"/>
                <a:ea typeface="Inter"/>
                <a:cs typeface="Inter"/>
                <a:sym typeface="Inter"/>
              </a:rPr>
              <a:t>Tracing the boundary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9" name="Google Shape;2119;p64"/>
          <p:cNvSpPr/>
          <p:nvPr/>
        </p:nvSpPr>
        <p:spPr>
          <a:xfrm>
            <a:off x="4229100" y="9259342"/>
            <a:ext cx="720849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0" name="Google Shape;2120;p64"/>
          <p:cNvSpPr/>
          <p:nvPr/>
        </p:nvSpPr>
        <p:spPr>
          <a:xfrm>
            <a:off x="4438650" y="7941766"/>
            <a:ext cx="7005645" cy="1231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query_profile shows DB time only; module metrics carry provider time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1" name="Google Shape;2121;p64"/>
          <p:cNvSpPr/>
          <p:nvPr/>
        </p:nvSpPr>
        <p:spPr>
          <a:xfrm>
            <a:off x="11437590" y="9259342"/>
            <a:ext cx="5897910" cy="9525"/>
          </a:xfrm>
          <a:prstGeom prst="rect">
            <a:avLst/>
          </a:prstGeom>
          <a:solidFill>
            <a:srgbClr val="E6E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2" name="Google Shape;2122;p64"/>
          <p:cNvSpPr/>
          <p:nvPr/>
        </p:nvSpPr>
        <p:spPr>
          <a:xfrm>
            <a:off x="11647140" y="7941766"/>
            <a:ext cx="5655747" cy="1231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Blaming Weaviate for reranker / LLM latency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3" name="Google Shape;2123;p64"/>
          <p:cNvSpPr/>
          <p:nvPr/>
        </p:nvSpPr>
        <p:spPr>
          <a:xfrm>
            <a:off x="952500" y="9502229"/>
            <a:ext cx="18021300" cy="3466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8B87B3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8B87B3"/>
                </a:solidFill>
                <a:latin typeface="Inter"/>
                <a:ea typeface="Inter"/>
                <a:cs typeface="Inter"/>
                <a:sym typeface="Inter"/>
              </a:rPr>
              <a:t>Client 4.23.0 · server 1.39.x — no documented automatic retry policy in the v4 client (checked 2026-07-13).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B"/>
        </a:solidFill>
      </p:bgPr>
    </p:bg>
    <p:spTree>
      <p:nvGrpSpPr>
        <p:cNvPr id="2128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" name="Google Shape;2129;p65"/>
          <p:cNvSpPr/>
          <p:nvPr/>
        </p:nvSpPr>
        <p:spPr>
          <a:xfrm>
            <a:off x="952500" y="533400"/>
            <a:ext cx="2041624" cy="381000"/>
          </a:xfrm>
          <a:prstGeom prst="roundRect">
            <a:avLst>
              <a:gd fmla="val 50000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0" name="Google Shape;2130;p65"/>
          <p:cNvSpPr/>
          <p:nvPr/>
        </p:nvSpPr>
        <p:spPr>
          <a:xfrm>
            <a:off x="1123950" y="609600"/>
            <a:ext cx="177492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APPENDIX A6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1" name="Google Shape;2131;p65"/>
          <p:cNvSpPr/>
          <p:nvPr/>
        </p:nvSpPr>
        <p:spPr>
          <a:xfrm>
            <a:off x="952500" y="990600"/>
            <a:ext cx="8534251" cy="520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241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450"/>
              <a:buFont typeface="Plus Jakarta Sans"/>
              <a:buNone/>
            </a:pPr>
            <a:r>
              <a:rPr b="1" i="0" lang="en-US" sz="34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Appendix — agents &amp; MCP status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2" name="Google Shape;2132;p65"/>
          <p:cNvSpPr/>
          <p:nvPr/>
        </p:nvSpPr>
        <p:spPr>
          <a:xfrm>
            <a:off x="952500" y="1548705"/>
            <a:ext cx="8534251" cy="3466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Appendix · reference, not taught. WCD services — verify current status.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33" name="Google Shape;2133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92550" y="533400"/>
            <a:ext cx="7429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4" name="Google Shape;2134;p65"/>
          <p:cNvSpPr/>
          <p:nvPr/>
        </p:nvSpPr>
        <p:spPr>
          <a:xfrm>
            <a:off x="952500" y="2104876"/>
            <a:ext cx="8077200" cy="3738563"/>
          </a:xfrm>
          <a:prstGeom prst="roundRect">
            <a:avLst>
              <a:gd fmla="val 40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5" name="Google Shape;2135;p65"/>
          <p:cNvSpPr/>
          <p:nvPr/>
        </p:nvSpPr>
        <p:spPr>
          <a:xfrm>
            <a:off x="1257300" y="2362051"/>
            <a:ext cx="176726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Query Agent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6" name="Google Shape;2136;p65"/>
          <p:cNvSpPr/>
          <p:nvPr/>
        </p:nvSpPr>
        <p:spPr>
          <a:xfrm>
            <a:off x="6901607" y="2352526"/>
            <a:ext cx="1823293" cy="342900"/>
          </a:xfrm>
          <a:prstGeom prst="roundRect">
            <a:avLst>
              <a:gd fmla="val 50000" name="adj"/>
            </a:avLst>
          </a:prstGeom>
          <a:solidFill>
            <a:srgbClr val="FDF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7" name="Google Shape;2137;p65"/>
          <p:cNvSpPr/>
          <p:nvPr/>
        </p:nvSpPr>
        <p:spPr>
          <a:xfrm>
            <a:off x="7034957" y="2409676"/>
            <a:ext cx="173892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6B5E0E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6B5E0E"/>
                </a:solidFill>
                <a:latin typeface="Inter"/>
                <a:ea typeface="Inter"/>
                <a:cs typeface="Inter"/>
                <a:sym typeface="Inter"/>
              </a:rPr>
              <a:t>WCD — verify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8" name="Google Shape;2138;p65"/>
          <p:cNvSpPr/>
          <p:nvPr/>
        </p:nvSpPr>
        <p:spPr>
          <a:xfrm>
            <a:off x="1257300" y="2790676"/>
            <a:ext cx="7691628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Weaviate Cloud service, not part of the self-managed 1.38.3 server. Client extra: pip install "weaviate-client[agents]". Maturity and pricing not researched for this course — verify current status.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9" name="Google Shape;2139;p65"/>
          <p:cNvSpPr/>
          <p:nvPr/>
        </p:nvSpPr>
        <p:spPr>
          <a:xfrm>
            <a:off x="9258300" y="2104876"/>
            <a:ext cx="8077200" cy="3738563"/>
          </a:xfrm>
          <a:prstGeom prst="roundRect">
            <a:avLst>
              <a:gd fmla="val 40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0" name="Google Shape;2140;p65"/>
          <p:cNvSpPr/>
          <p:nvPr/>
        </p:nvSpPr>
        <p:spPr>
          <a:xfrm>
            <a:off x="9563100" y="2362051"/>
            <a:ext cx="301604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Personalization Agent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1" name="Google Shape;2141;p65"/>
          <p:cNvSpPr/>
          <p:nvPr/>
        </p:nvSpPr>
        <p:spPr>
          <a:xfrm>
            <a:off x="15207407" y="2352526"/>
            <a:ext cx="1823293" cy="342900"/>
          </a:xfrm>
          <a:prstGeom prst="roundRect">
            <a:avLst>
              <a:gd fmla="val 50000" name="adj"/>
            </a:avLst>
          </a:prstGeom>
          <a:solidFill>
            <a:srgbClr val="FDF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2" name="Google Shape;2142;p65"/>
          <p:cNvSpPr/>
          <p:nvPr/>
        </p:nvSpPr>
        <p:spPr>
          <a:xfrm>
            <a:off x="15340757" y="2409676"/>
            <a:ext cx="173892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6B5E0E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6B5E0E"/>
                </a:solidFill>
                <a:latin typeface="Inter"/>
                <a:ea typeface="Inter"/>
                <a:cs typeface="Inter"/>
                <a:sym typeface="Inter"/>
              </a:rPr>
              <a:t>WCD — verify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3" name="Google Shape;2143;p65"/>
          <p:cNvSpPr/>
          <p:nvPr/>
        </p:nvSpPr>
        <p:spPr>
          <a:xfrm>
            <a:off x="9563100" y="2790676"/>
            <a:ext cx="7691628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Weaviate Cloud service. No primary-source maturity claim captured in course research — do not assert status; verify against docs.weaviate.io/agents before relying on it.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4" name="Google Shape;2144;p65"/>
          <p:cNvSpPr/>
          <p:nvPr/>
        </p:nvSpPr>
        <p:spPr>
          <a:xfrm>
            <a:off x="952500" y="6072039"/>
            <a:ext cx="8077200" cy="3738711"/>
          </a:xfrm>
          <a:prstGeom prst="roundRect">
            <a:avLst>
              <a:gd fmla="val 40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5" name="Google Shape;2145;p65"/>
          <p:cNvSpPr/>
          <p:nvPr/>
        </p:nvSpPr>
        <p:spPr>
          <a:xfrm>
            <a:off x="1257300" y="6329214"/>
            <a:ext cx="103658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Engram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6" name="Google Shape;2146;p65"/>
          <p:cNvSpPr/>
          <p:nvPr/>
        </p:nvSpPr>
        <p:spPr>
          <a:xfrm>
            <a:off x="6901607" y="6319689"/>
            <a:ext cx="1823293" cy="342900"/>
          </a:xfrm>
          <a:prstGeom prst="roundRect">
            <a:avLst>
              <a:gd fmla="val 50000" name="adj"/>
            </a:avLst>
          </a:prstGeom>
          <a:solidFill>
            <a:srgbClr val="FDF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7" name="Google Shape;2147;p65"/>
          <p:cNvSpPr/>
          <p:nvPr/>
        </p:nvSpPr>
        <p:spPr>
          <a:xfrm>
            <a:off x="7034957" y="6376839"/>
            <a:ext cx="173892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6B5E0E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6B5E0E"/>
                </a:solidFill>
                <a:latin typeface="Inter"/>
                <a:ea typeface="Inter"/>
                <a:cs typeface="Inter"/>
                <a:sym typeface="Inter"/>
              </a:rPr>
              <a:t>WCD — verify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8" name="Google Shape;2148;p65"/>
          <p:cNvSpPr/>
          <p:nvPr/>
        </p:nvSpPr>
        <p:spPr>
          <a:xfrm>
            <a:off x="1257300" y="6757839"/>
            <a:ext cx="7691628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Weaviate Cloud memory service. Not researched in r1–r5 — no maturity asserted here. Deployment-specific: confirm availability and status with your Weaviate team.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9" name="Google Shape;2149;p65"/>
          <p:cNvSpPr/>
          <p:nvPr/>
        </p:nvSpPr>
        <p:spPr>
          <a:xfrm>
            <a:off x="9258300" y="6072039"/>
            <a:ext cx="8077200" cy="3738711"/>
          </a:xfrm>
          <a:prstGeom prst="roundRect">
            <a:avLst>
              <a:gd fmla="val 40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0" name="Google Shape;2150;p65"/>
          <p:cNvSpPr/>
          <p:nvPr/>
        </p:nvSpPr>
        <p:spPr>
          <a:xfrm>
            <a:off x="9563100" y="6329214"/>
            <a:ext cx="294958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MCP Server (built-in)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1" name="Google Shape;2151;p65"/>
          <p:cNvSpPr/>
          <p:nvPr/>
        </p:nvSpPr>
        <p:spPr>
          <a:xfrm>
            <a:off x="15595104" y="6319689"/>
            <a:ext cx="1435596" cy="342900"/>
          </a:xfrm>
          <a:prstGeom prst="roundRect">
            <a:avLst>
              <a:gd fmla="val 50000" name="adj"/>
            </a:avLst>
          </a:prstGeom>
          <a:solidFill>
            <a:srgbClr val="FBE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2" name="Google Shape;2152;p65"/>
          <p:cNvSpPr/>
          <p:nvPr/>
        </p:nvSpPr>
        <p:spPr>
          <a:xfrm>
            <a:off x="15728454" y="6376839"/>
            <a:ext cx="131245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93400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93400F"/>
                </a:solidFill>
                <a:latin typeface="Inter"/>
                <a:ea typeface="Inter"/>
                <a:cs typeface="Inter"/>
                <a:sym typeface="Inter"/>
              </a:rPr>
              <a:t>GA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3" name="Google Shape;2153;p65"/>
          <p:cNvSpPr/>
          <p:nvPr/>
        </p:nvSpPr>
        <p:spPr>
          <a:xfrm>
            <a:off x="9563100" y="6757839"/>
            <a:ext cx="7691628" cy="1363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Now GA — the docs have dropped the Preview badge; the 1.38 GitHub-notes vs blog discrepancy is historical (C-2 resolved). Enable: MCP_SERVER_ENABLED=true; Helm 17.8.0+ serves /v1/mcp.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B"/>
        </a:solidFill>
      </p:bgPr>
    </p:bg>
    <p:spTree>
      <p:nvGrpSpPr>
        <p:cNvPr id="2158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p66"/>
          <p:cNvSpPr/>
          <p:nvPr/>
        </p:nvSpPr>
        <p:spPr>
          <a:xfrm>
            <a:off x="952500" y="533400"/>
            <a:ext cx="2031653" cy="381000"/>
          </a:xfrm>
          <a:prstGeom prst="roundRect">
            <a:avLst>
              <a:gd fmla="val 50000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0" name="Google Shape;2160;p66"/>
          <p:cNvSpPr/>
          <p:nvPr/>
        </p:nvSpPr>
        <p:spPr>
          <a:xfrm>
            <a:off x="1123950" y="609600"/>
            <a:ext cx="176495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APPENDIX A7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1" name="Google Shape;2161;p66"/>
          <p:cNvSpPr/>
          <p:nvPr/>
        </p:nvSpPr>
        <p:spPr>
          <a:xfrm>
            <a:off x="952500" y="990600"/>
            <a:ext cx="12449235" cy="520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241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450"/>
              <a:buFont typeface="Plus Jakarta Sans"/>
              <a:buNone/>
            </a:pPr>
            <a:r>
              <a:rPr b="1" i="0" lang="en-US" sz="34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Appendix — 1.38/1.39 previews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2" name="Google Shape;2162;p66"/>
          <p:cNvSpPr/>
          <p:nvPr/>
        </p:nvSpPr>
        <p:spPr>
          <a:xfrm>
            <a:off x="952500" y="1548705"/>
            <a:ext cx="12449235" cy="3466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Appendix · reference, not taught. Preview features are excluded from the production core by course rule.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63" name="Google Shape;2163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92550" y="533400"/>
            <a:ext cx="7429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4" name="Google Shape;2164;p66"/>
          <p:cNvSpPr/>
          <p:nvPr/>
        </p:nvSpPr>
        <p:spPr>
          <a:xfrm>
            <a:off x="952500" y="2104876"/>
            <a:ext cx="8077200" cy="3738563"/>
          </a:xfrm>
          <a:prstGeom prst="roundRect">
            <a:avLst>
              <a:gd fmla="val 40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5" name="Google Shape;2165;p66"/>
          <p:cNvSpPr/>
          <p:nvPr/>
        </p:nvSpPr>
        <p:spPr>
          <a:xfrm>
            <a:off x="1257300" y="2362051"/>
            <a:ext cx="135110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Boost API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6" name="Google Shape;2166;p66"/>
          <p:cNvSpPr/>
          <p:nvPr/>
        </p:nvSpPr>
        <p:spPr>
          <a:xfrm>
            <a:off x="7563892" y="2352526"/>
            <a:ext cx="1161008" cy="342900"/>
          </a:xfrm>
          <a:prstGeom prst="roundRect">
            <a:avLst>
              <a:gd fmla="val 50000" name="adj"/>
            </a:avLst>
          </a:prstGeom>
          <a:solidFill>
            <a:srgbClr val="FDF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7" name="Google Shape;2167;p66"/>
          <p:cNvSpPr/>
          <p:nvPr/>
        </p:nvSpPr>
        <p:spPr>
          <a:xfrm>
            <a:off x="7697242" y="2409676"/>
            <a:ext cx="101040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8A5410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5410"/>
                </a:solidFill>
                <a:latin typeface="Inter"/>
                <a:ea typeface="Inter"/>
                <a:cs typeface="Inter"/>
                <a:sym typeface="Inter"/>
              </a:rPr>
              <a:t>Preview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8" name="Google Shape;2168;p66"/>
          <p:cNvSpPr/>
          <p:nvPr/>
        </p:nvSpPr>
        <p:spPr>
          <a:xfrm>
            <a:off x="1257300" y="2790676"/>
            <a:ext cx="7691628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"The Boost API is a preview feature, available over gRPC" — boost parameter on vector, bm25 and hybrid queries; needs client 4.22.0 + server 1.38.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9" name="Google Shape;2169;p66"/>
          <p:cNvSpPr/>
          <p:nvPr/>
        </p:nvSpPr>
        <p:spPr>
          <a:xfrm>
            <a:off x="9258300" y="2104876"/>
            <a:ext cx="8077200" cy="3738563"/>
          </a:xfrm>
          <a:prstGeom prst="roundRect">
            <a:avLst>
              <a:gd fmla="val 40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0" name="Google Shape;2170;p66"/>
          <p:cNvSpPr/>
          <p:nvPr/>
        </p:nvSpPr>
        <p:spPr>
          <a:xfrm>
            <a:off x="9563100" y="2362051"/>
            <a:ext cx="323558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Nested-object filtering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1" name="Google Shape;2171;p66"/>
          <p:cNvSpPr/>
          <p:nvPr/>
        </p:nvSpPr>
        <p:spPr>
          <a:xfrm>
            <a:off x="15869692" y="2352526"/>
            <a:ext cx="1161008" cy="342900"/>
          </a:xfrm>
          <a:prstGeom prst="roundRect">
            <a:avLst>
              <a:gd fmla="val 50000" name="adj"/>
            </a:avLst>
          </a:prstGeom>
          <a:solidFill>
            <a:srgbClr val="FDF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2" name="Google Shape;2172;p66"/>
          <p:cNvSpPr/>
          <p:nvPr/>
        </p:nvSpPr>
        <p:spPr>
          <a:xfrm>
            <a:off x="16003042" y="2409676"/>
            <a:ext cx="101040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8A5410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5410"/>
                </a:solidFill>
                <a:latin typeface="Inter"/>
                <a:ea typeface="Inter"/>
                <a:cs typeface="Inter"/>
                <a:sym typeface="Inter"/>
              </a:rPr>
              <a:t>Preview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3" name="Google Shape;2173;p66"/>
          <p:cNvSpPr/>
          <p:nvPr/>
        </p:nvSpPr>
        <p:spPr>
          <a:xfrm>
            <a:off x="9563100" y="2790676"/>
            <a:ext cx="7691628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Off by default behind the WEAVIATE_PREVIEW_NESTED_FILTERING flag; GitHub v1.38.0 notes list it as "Nested Object Filtering (Preview)".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4" name="Google Shape;2174;p66"/>
          <p:cNvSpPr/>
          <p:nvPr/>
        </p:nvSpPr>
        <p:spPr>
          <a:xfrm>
            <a:off x="952500" y="6072039"/>
            <a:ext cx="8077200" cy="3738711"/>
          </a:xfrm>
          <a:prstGeom prst="roundRect">
            <a:avLst>
              <a:gd fmla="val 40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5" name="Google Shape;2175;p66"/>
          <p:cNvSpPr/>
          <p:nvPr/>
        </p:nvSpPr>
        <p:spPr>
          <a:xfrm>
            <a:off x="1257300" y="6329214"/>
            <a:ext cx="180294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Namespaces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6" name="Google Shape;2176;p66"/>
          <p:cNvSpPr/>
          <p:nvPr/>
        </p:nvSpPr>
        <p:spPr>
          <a:xfrm>
            <a:off x="7563892" y="6319689"/>
            <a:ext cx="1161008" cy="342900"/>
          </a:xfrm>
          <a:prstGeom prst="roundRect">
            <a:avLst>
              <a:gd fmla="val 50000" name="adj"/>
            </a:avLst>
          </a:prstGeom>
          <a:solidFill>
            <a:srgbClr val="FDF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7" name="Google Shape;2177;p66"/>
          <p:cNvSpPr/>
          <p:nvPr/>
        </p:nvSpPr>
        <p:spPr>
          <a:xfrm>
            <a:off x="7697242" y="6376839"/>
            <a:ext cx="101040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8A5410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5410"/>
                </a:solidFill>
                <a:latin typeface="Inter"/>
                <a:ea typeface="Inter"/>
                <a:cs typeface="Inter"/>
                <a:sym typeface="Inter"/>
              </a:rPr>
              <a:t>Preview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8" name="Google Shape;2178;p66"/>
          <p:cNvSpPr/>
          <p:nvPr/>
        </p:nvSpPr>
        <p:spPr>
          <a:xfrm>
            <a:off x="1257300" y="6757839"/>
            <a:ext cx="7691628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Shipped in 1.39 — control-plane and data isolation between users sharing a cluster. Release-notes-only: no docs page, no maturity label — verify before design work.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9" name="Google Shape;2179;p66"/>
          <p:cNvSpPr/>
          <p:nvPr/>
        </p:nvSpPr>
        <p:spPr>
          <a:xfrm>
            <a:off x="9258300" y="6072039"/>
            <a:ext cx="8077200" cy="3738711"/>
          </a:xfrm>
          <a:prstGeom prst="roundRect">
            <a:avLst>
              <a:gd fmla="val 40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0" name="Google Shape;2180;p66"/>
          <p:cNvSpPr/>
          <p:nvPr/>
        </p:nvSpPr>
        <p:spPr>
          <a:xfrm>
            <a:off x="9563100" y="6329214"/>
            <a:ext cx="326014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Alter schema — reindex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1" name="Google Shape;2181;p66"/>
          <p:cNvSpPr/>
          <p:nvPr/>
        </p:nvSpPr>
        <p:spPr>
          <a:xfrm>
            <a:off x="15869692" y="6319689"/>
            <a:ext cx="1161008" cy="342900"/>
          </a:xfrm>
          <a:prstGeom prst="roundRect">
            <a:avLst>
              <a:gd fmla="val 50000" name="adj"/>
            </a:avLst>
          </a:prstGeom>
          <a:solidFill>
            <a:srgbClr val="FDF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2" name="Google Shape;2182;p66"/>
          <p:cNvSpPr/>
          <p:nvPr/>
        </p:nvSpPr>
        <p:spPr>
          <a:xfrm>
            <a:off x="16003042" y="6376839"/>
            <a:ext cx="101040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8A5410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5410"/>
                </a:solidFill>
                <a:latin typeface="Inter"/>
                <a:ea typeface="Inter"/>
                <a:cs typeface="Inter"/>
                <a:sym typeface="Inter"/>
              </a:rPr>
              <a:t>Preview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3" name="Google Shape;2183;p66"/>
          <p:cNvSpPr/>
          <p:nvPr/>
        </p:nvSpPr>
        <p:spPr>
          <a:xfrm>
            <a:off x="9563100" y="6757839"/>
            <a:ext cx="7691628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"Alter Schema - Reindex Property (Preview)" — still Preview in 1.39, alongside the new drop-vector-index. Not further documented — treat as a watch-list item, not a plan. RQ4 (1.39): release-notes mention only.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B"/>
        </a:solidFill>
      </p:bgPr>
    </p:bg>
    <p:spTree>
      <p:nvGrpSpPr>
        <p:cNvPr id="2188" name="Shape 2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9" name="Google Shape;2189;p67"/>
          <p:cNvSpPr/>
          <p:nvPr/>
        </p:nvSpPr>
        <p:spPr>
          <a:xfrm>
            <a:off x="952500" y="514350"/>
            <a:ext cx="2048321" cy="381000"/>
          </a:xfrm>
          <a:prstGeom prst="roundRect">
            <a:avLst>
              <a:gd fmla="val 50000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0" name="Google Shape;2190;p67"/>
          <p:cNvSpPr/>
          <p:nvPr/>
        </p:nvSpPr>
        <p:spPr>
          <a:xfrm>
            <a:off x="1123950" y="590550"/>
            <a:ext cx="178162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APPENDIX A8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1" name="Google Shape;2191;p67"/>
          <p:cNvSpPr/>
          <p:nvPr/>
        </p:nvSpPr>
        <p:spPr>
          <a:xfrm>
            <a:off x="952500" y="971550"/>
            <a:ext cx="16983864" cy="520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241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450"/>
              <a:buFont typeface="Plus Jakarta Sans"/>
              <a:buNone/>
            </a:pPr>
            <a:r>
              <a:rPr b="1" i="0" lang="en-US" sz="34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Appendix — lab environments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2" name="Google Shape;2192;p67"/>
          <p:cNvSpPr/>
          <p:nvPr/>
        </p:nvSpPr>
        <p:spPr>
          <a:xfrm>
            <a:off x="952500" y="1529655"/>
            <a:ext cx="16983864" cy="3466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Appendix · reference, not taught. Pins: VERSION_MATRIX.md, checked 2026-07-13 · self-study sandbox · kind/Helm reference · laptop fallback.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93" name="Google Shape;2193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92550" y="514350"/>
            <a:ext cx="7429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4" name="Google Shape;2194;p67"/>
          <p:cNvSpPr/>
          <p:nvPr/>
        </p:nvSpPr>
        <p:spPr>
          <a:xfrm>
            <a:off x="952500" y="2047726"/>
            <a:ext cx="5308550" cy="6528643"/>
          </a:xfrm>
          <a:prstGeom prst="roundRect">
            <a:avLst>
              <a:gd fmla="val 287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5" name="Google Shape;2195;p67"/>
          <p:cNvSpPr/>
          <p:nvPr/>
        </p:nvSpPr>
        <p:spPr>
          <a:xfrm>
            <a:off x="952500" y="2047726"/>
            <a:ext cx="5308550" cy="95250"/>
          </a:xfrm>
          <a:prstGeom prst="rect">
            <a:avLst/>
          </a:prstGeom>
          <a:solidFill>
            <a:srgbClr val="61BD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6" name="Google Shape;2196;p67"/>
          <p:cNvSpPr/>
          <p:nvPr/>
        </p:nvSpPr>
        <p:spPr>
          <a:xfrm>
            <a:off x="1238250" y="2390626"/>
            <a:ext cx="521075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Self-study: compose sandbox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7" name="Google Shape;2197;p67"/>
          <p:cNvSpPr/>
          <p:nvPr/>
        </p:nvSpPr>
        <p:spPr>
          <a:xfrm>
            <a:off x="1238250" y="2800201"/>
            <a:ext cx="521075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Not used in this delivery.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8" name="Google Shape;2198;p67"/>
          <p:cNvSpPr/>
          <p:nvPr/>
        </p:nvSpPr>
        <p:spPr>
          <a:xfrm>
            <a:off x="1238250" y="3171676"/>
            <a:ext cx="4879162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Live delivery: dedicated Weaviate Cloud cluster + instructor ops cluster. Sandbox: 3-node RAFT cluster, RF=3 Weaviate 1.39.x · client 4.23.0 Prometheus + Grafana pinned make doctor → up → seed → verify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9" name="Google Shape;2199;p67"/>
          <p:cNvSpPr/>
          <p:nvPr/>
        </p:nvSpPr>
        <p:spPr>
          <a:xfrm>
            <a:off x="6489650" y="2047726"/>
            <a:ext cx="5308699" cy="6528643"/>
          </a:xfrm>
          <a:prstGeom prst="roundRect">
            <a:avLst>
              <a:gd fmla="val 287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0" name="Google Shape;2200;p67"/>
          <p:cNvSpPr/>
          <p:nvPr/>
        </p:nvSpPr>
        <p:spPr>
          <a:xfrm>
            <a:off x="6489650" y="2047726"/>
            <a:ext cx="5308699" cy="95250"/>
          </a:xfrm>
          <a:prstGeom prst="rect">
            <a:avLst/>
          </a:prstGeom>
          <a:solidFill>
            <a:srgbClr val="E9E1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1" name="Google Shape;2201;p67"/>
          <p:cNvSpPr/>
          <p:nvPr/>
        </p:nvSpPr>
        <p:spPr>
          <a:xfrm>
            <a:off x="6775400" y="2390626"/>
            <a:ext cx="5210919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Self-study: kind + Helm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2" name="Google Shape;2202;p67"/>
          <p:cNvSpPr/>
          <p:nvPr/>
        </p:nvSpPr>
        <p:spPr>
          <a:xfrm>
            <a:off x="6775400" y="2800201"/>
            <a:ext cx="521091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Reference only — not used in class.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3" name="Google Shape;2203;p67"/>
          <p:cNvSpPr/>
          <p:nvPr/>
        </p:nvSpPr>
        <p:spPr>
          <a:xfrm>
            <a:off x="6775400" y="3171676"/>
            <a:ext cx="4879315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platform/k8s + helm chart 17.8.x Override image.tag=1.39.x (no 1.39 chart yet) kind on K8s 1.31.x node image kind ≠ multi-AZ: one host, one disk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4" name="Google Shape;2204;p67"/>
          <p:cNvSpPr/>
          <p:nvPr/>
        </p:nvSpPr>
        <p:spPr>
          <a:xfrm>
            <a:off x="12026950" y="2047726"/>
            <a:ext cx="5308550" cy="6528643"/>
          </a:xfrm>
          <a:prstGeom prst="roundRect">
            <a:avLst>
              <a:gd fmla="val 287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5" name="Google Shape;2205;p67"/>
          <p:cNvSpPr/>
          <p:nvPr/>
        </p:nvSpPr>
        <p:spPr>
          <a:xfrm>
            <a:off x="12026950" y="2047726"/>
            <a:ext cx="5308550" cy="95250"/>
          </a:xfrm>
          <a:prstGeom prst="rect">
            <a:avLst/>
          </a:prstGeom>
          <a:solidFill>
            <a:srgbClr val="0E6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6" name="Google Shape;2206;p67"/>
          <p:cNvSpPr/>
          <p:nvPr/>
        </p:nvSpPr>
        <p:spPr>
          <a:xfrm>
            <a:off x="12312700" y="2390626"/>
            <a:ext cx="521075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Laptop fallback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7" name="Google Shape;2207;p67"/>
          <p:cNvSpPr/>
          <p:nvPr/>
        </p:nvSpPr>
        <p:spPr>
          <a:xfrm>
            <a:off x="12312700" y="2800201"/>
            <a:ext cx="521075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Only if you must run locally.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8" name="Google Shape;2208;p67"/>
          <p:cNvSpPr/>
          <p:nvPr/>
        </p:nvSpPr>
        <p:spPr>
          <a:xfrm>
            <a:off x="12312700" y="3171676"/>
            <a:ext cx="4879162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8 GB+ RAM to Docker, 15 GB disk macOS: Docker Desktop ≥ 4.30 Linux: Engine 24+, compose v2 Windows: WSL2 only — repo inside WSL FS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9" name="Google Shape;2209;p67"/>
          <p:cNvSpPr/>
          <p:nvPr/>
        </p:nvSpPr>
        <p:spPr>
          <a:xfrm>
            <a:off x="952500" y="8785920"/>
            <a:ext cx="16383000" cy="1043880"/>
          </a:xfrm>
          <a:prstGeom prst="roundRect">
            <a:avLst>
              <a:gd fmla="val 1459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0" name="Google Shape;2210;p67"/>
          <p:cNvSpPr/>
          <p:nvPr/>
        </p:nvSpPr>
        <p:spPr>
          <a:xfrm>
            <a:off x="1238250" y="8976420"/>
            <a:ext cx="215689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0C8C5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this matters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1" name="Google Shape;2211;p67"/>
          <p:cNvSpPr/>
          <p:nvPr/>
        </p:nvSpPr>
        <p:spPr>
          <a:xfrm>
            <a:off x="3408611" y="8976420"/>
            <a:ext cx="14050374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All three nodes share one host, disk and kernel — quorum math and replication semantics are real; AZ resilience and latency absolutes are not. Mechanisms, metrics and decision methods transfer; hardware conclusions do not.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B"/>
        </a:solidFill>
      </p:bgPr>
    </p:bg>
    <p:spTree>
      <p:nvGrpSpPr>
        <p:cNvPr id="2216" name="Shape 2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7" name="Google Shape;2217;p68"/>
          <p:cNvSpPr/>
          <p:nvPr/>
        </p:nvSpPr>
        <p:spPr>
          <a:xfrm>
            <a:off x="952500" y="533400"/>
            <a:ext cx="2041624" cy="381000"/>
          </a:xfrm>
          <a:prstGeom prst="roundRect">
            <a:avLst>
              <a:gd fmla="val 50000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8" name="Google Shape;2218;p68"/>
          <p:cNvSpPr/>
          <p:nvPr/>
        </p:nvSpPr>
        <p:spPr>
          <a:xfrm>
            <a:off x="1123950" y="609600"/>
            <a:ext cx="177492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APPENDIX A9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9" name="Google Shape;2219;p68"/>
          <p:cNvSpPr/>
          <p:nvPr/>
        </p:nvSpPr>
        <p:spPr>
          <a:xfrm>
            <a:off x="952500" y="990600"/>
            <a:ext cx="9960665" cy="520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241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450"/>
              <a:buFont typeface="Plus Jakarta Sans"/>
              <a:buNone/>
            </a:pPr>
            <a:r>
              <a:rPr b="1" i="0" lang="en-US" sz="34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Appendix — FinOps pointers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0" name="Google Shape;2220;p68"/>
          <p:cNvSpPr/>
          <p:nvPr/>
        </p:nvSpPr>
        <p:spPr>
          <a:xfrm>
            <a:off x="952500" y="1548705"/>
            <a:ext cx="9960665" cy="3466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Appendix · reference, not taught. Cost levers to validate against your own workload.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21" name="Google Shape;2221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92550" y="533400"/>
            <a:ext cx="7429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2" name="Google Shape;2222;p68"/>
          <p:cNvSpPr/>
          <p:nvPr/>
        </p:nvSpPr>
        <p:spPr>
          <a:xfrm>
            <a:off x="952500" y="3329880"/>
            <a:ext cx="16383000" cy="1605855"/>
          </a:xfrm>
          <a:prstGeom prst="roundRect">
            <a:avLst>
              <a:gd fmla="val 949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3" name="Google Shape;2223;p68"/>
          <p:cNvSpPr/>
          <p:nvPr/>
        </p:nvSpPr>
        <p:spPr>
          <a:xfrm>
            <a:off x="1295400" y="3596580"/>
            <a:ext cx="111175" cy="1072455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E9E11E"/>
              </a:gs>
              <a:gs pos="100000">
                <a:srgbClr val="0C8C59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4" name="Google Shape;2224;p68"/>
          <p:cNvSpPr/>
          <p:nvPr/>
        </p:nvSpPr>
        <p:spPr>
          <a:xfrm>
            <a:off x="1654225" y="3596580"/>
            <a:ext cx="1687221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Memory is the bill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5" name="Google Shape;2225;p68"/>
          <p:cNvSpPr/>
          <p:nvPr/>
        </p:nvSpPr>
        <p:spPr>
          <a:xfrm>
            <a:off x="1654225" y="4006155"/>
            <a:ext cx="15798527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RAM ≈ 2× vector footprint, plus 8–10 B per graph edge; GOMEMLIMIT at 80–90% of node RAM. Estimates carry uncertainty ranges — never present sizing as a guarantee.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6" name="Google Shape;2226;p68"/>
          <p:cNvSpPr/>
          <p:nvPr/>
        </p:nvSpPr>
        <p:spPr>
          <a:xfrm>
            <a:off x="952500" y="5164336"/>
            <a:ext cx="16383000" cy="1605855"/>
          </a:xfrm>
          <a:prstGeom prst="roundRect">
            <a:avLst>
              <a:gd fmla="val 949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7" name="Google Shape;2227;p68"/>
          <p:cNvSpPr/>
          <p:nvPr/>
        </p:nvSpPr>
        <p:spPr>
          <a:xfrm>
            <a:off x="1295400" y="5431036"/>
            <a:ext cx="114151" cy="1072455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E9E11E"/>
              </a:gs>
              <a:gs pos="100000">
                <a:srgbClr val="0C8C59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8" name="Google Shape;2228;p68"/>
          <p:cNvSpPr/>
          <p:nvPr/>
        </p:nvSpPr>
        <p:spPr>
          <a:xfrm>
            <a:off x="1657201" y="5431036"/>
            <a:ext cx="1686893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Compression &amp; tiering are the levers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9" name="Google Shape;2229;p68"/>
          <p:cNvSpPr/>
          <p:nvPr/>
        </p:nvSpPr>
        <p:spPr>
          <a:xfrm>
            <a:off x="1657201" y="5840611"/>
            <a:ext cx="15795461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RQ-8 ≈ 4x and RQ-1 ≈ 32x memory cuts — nothing quantizes by default. HFresh keeps vectors on disk; offload-s3 parks cold tenants in object storage (AWS S3 only).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0" name="Google Shape;2230;p68"/>
          <p:cNvSpPr/>
          <p:nvPr/>
        </p:nvSpPr>
        <p:spPr>
          <a:xfrm>
            <a:off x="952500" y="6998791"/>
            <a:ext cx="16383000" cy="1605855"/>
          </a:xfrm>
          <a:prstGeom prst="roundRect">
            <a:avLst>
              <a:gd fmla="val 949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1" name="Google Shape;2231;p68"/>
          <p:cNvSpPr/>
          <p:nvPr/>
        </p:nvSpPr>
        <p:spPr>
          <a:xfrm>
            <a:off x="1295400" y="7265491"/>
            <a:ext cx="112365" cy="1072455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E9E11E"/>
              </a:gs>
              <a:gs pos="100000">
                <a:srgbClr val="0C8C59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2" name="Google Shape;2232;p68"/>
          <p:cNvSpPr/>
          <p:nvPr/>
        </p:nvSpPr>
        <p:spPr>
          <a:xfrm>
            <a:off x="1655415" y="7265491"/>
            <a:ext cx="1687090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Measure before you scale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3" name="Google Shape;2233;p68"/>
          <p:cNvSpPr/>
          <p:nvPr/>
        </p:nvSpPr>
        <p:spPr>
          <a:xfrm>
            <a:off x="1655415" y="7675066"/>
            <a:ext cx="15797300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Right-size from observed heap, queue depth and QPS — not folklore. Replication buys HA plus read throughput; adding nodes never rebalances existing shards by itself.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B"/>
        </a:solidFill>
      </p:bgPr>
    </p:bg>
    <p:spTree>
      <p:nvGrpSpPr>
        <p:cNvPr id="2238" name="Shape 2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Google Shape;2239;p69"/>
          <p:cNvSpPr/>
          <p:nvPr/>
        </p:nvSpPr>
        <p:spPr>
          <a:xfrm>
            <a:off x="952500" y="514350"/>
            <a:ext cx="2176760" cy="381000"/>
          </a:xfrm>
          <a:prstGeom prst="roundRect">
            <a:avLst>
              <a:gd fmla="val 50000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0" name="Google Shape;2240;p69"/>
          <p:cNvSpPr/>
          <p:nvPr/>
        </p:nvSpPr>
        <p:spPr>
          <a:xfrm>
            <a:off x="1123950" y="590550"/>
            <a:ext cx="191006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APPENDIX A10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1" name="Google Shape;2241;p69"/>
          <p:cNvSpPr/>
          <p:nvPr/>
        </p:nvSpPr>
        <p:spPr>
          <a:xfrm>
            <a:off x="952500" y="971550"/>
            <a:ext cx="12314500" cy="520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241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450"/>
              <a:buFont typeface="Plus Jakarta Sans"/>
              <a:buNone/>
            </a:pPr>
            <a:r>
              <a:rPr b="1" i="0" lang="en-US" sz="34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Appendix — upgrade detail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2" name="Google Shape;2242;p69"/>
          <p:cNvSpPr/>
          <p:nvPr/>
        </p:nvSpPr>
        <p:spPr>
          <a:xfrm>
            <a:off x="952500" y="1529655"/>
            <a:ext cx="12314500" cy="3466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Appendix · reference, not taught. Doctrine per docs.weaviate.io/deploy/migration, checked 2026-07-13.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43" name="Google Shape;224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92550" y="514350"/>
            <a:ext cx="7429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4" name="Google Shape;2244;p69"/>
          <p:cNvSpPr/>
          <p:nvPr/>
        </p:nvSpPr>
        <p:spPr>
          <a:xfrm>
            <a:off x="952500" y="2725192"/>
            <a:ext cx="16383000" cy="1468636"/>
          </a:xfrm>
          <a:prstGeom prst="roundRect">
            <a:avLst>
              <a:gd fmla="val 103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5" name="Google Shape;2245;p69"/>
          <p:cNvSpPr/>
          <p:nvPr/>
        </p:nvSpPr>
        <p:spPr>
          <a:xfrm>
            <a:off x="1257300" y="2953792"/>
            <a:ext cx="2495550" cy="400050"/>
          </a:xfrm>
          <a:prstGeom prst="roundRect">
            <a:avLst>
              <a:gd fmla="val 50000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6" name="Google Shape;2246;p69"/>
          <p:cNvSpPr/>
          <p:nvPr/>
        </p:nvSpPr>
        <p:spPr>
          <a:xfrm>
            <a:off x="1371600" y="3039517"/>
            <a:ext cx="2266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Doctrine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7" name="Google Shape;2247;p69"/>
          <p:cNvSpPr/>
          <p:nvPr/>
        </p:nvSpPr>
        <p:spPr>
          <a:xfrm>
            <a:off x="3981450" y="2953792"/>
            <a:ext cx="143541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One minor at a time, latest patch each hop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8" name="Google Shape;2248;p69"/>
          <p:cNvSpPr/>
          <p:nvPr/>
        </p:nvSpPr>
        <p:spPr>
          <a:xfrm>
            <a:off x="3981450" y="3325267"/>
            <a:ext cx="13440728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Never skip minors; backup before every hop. Support window = last three minors (1.37–1.39). Old-format backups are not restorable on 1.39 — take a fresh backup after upgrading. Zero-downtime rolling upgrades need RF ≥ 2 plus readiness probes.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9" name="Google Shape;2249;p69"/>
          <p:cNvSpPr/>
          <p:nvPr/>
        </p:nvSpPr>
        <p:spPr>
          <a:xfrm>
            <a:off x="952500" y="4384328"/>
            <a:ext cx="16383000" cy="1468636"/>
          </a:xfrm>
          <a:prstGeom prst="roundRect">
            <a:avLst>
              <a:gd fmla="val 103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0" name="Google Shape;2250;p69"/>
          <p:cNvSpPr/>
          <p:nvPr/>
        </p:nvSpPr>
        <p:spPr>
          <a:xfrm>
            <a:off x="1257300" y="4612928"/>
            <a:ext cx="2495550" cy="400050"/>
          </a:xfrm>
          <a:prstGeom prst="roundRect">
            <a:avLst>
              <a:gd fmla="val 50000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1" name="Google Shape;2251;p69"/>
          <p:cNvSpPr/>
          <p:nvPr/>
        </p:nvSpPr>
        <p:spPr>
          <a:xfrm>
            <a:off x="1371600" y="4698653"/>
            <a:ext cx="2266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BlockMax WAND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2" name="Google Shape;2252;p69"/>
          <p:cNvSpPr/>
          <p:nvPr/>
        </p:nvSpPr>
        <p:spPr>
          <a:xfrm>
            <a:off x="3981450" y="4612928"/>
            <a:ext cx="143541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3-stage online migration (pre-1.30 collections)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3" name="Google Shape;2253;p69"/>
          <p:cNvSpPr/>
          <p:nvPr/>
        </p:nvSpPr>
        <p:spPr>
          <a:xfrm>
            <a:off x="3981450" y="4984403"/>
            <a:ext cx="13440728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Stage 3 is irreversible and "can take hours for shards with millions of documents" — schedule the BM25 migration deliberately; don’t stumble into it mid-upgrade.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4" name="Google Shape;2254;p69"/>
          <p:cNvSpPr/>
          <p:nvPr/>
        </p:nvSpPr>
        <p:spPr>
          <a:xfrm>
            <a:off x="952500" y="6043464"/>
            <a:ext cx="16383000" cy="1468636"/>
          </a:xfrm>
          <a:prstGeom prst="roundRect">
            <a:avLst>
              <a:gd fmla="val 103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5" name="Google Shape;2255;p69"/>
          <p:cNvSpPr/>
          <p:nvPr/>
        </p:nvSpPr>
        <p:spPr>
          <a:xfrm>
            <a:off x="1257300" y="6272064"/>
            <a:ext cx="2495550" cy="400050"/>
          </a:xfrm>
          <a:prstGeom prst="roundRect">
            <a:avLst>
              <a:gd fmla="val 50000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6" name="Google Shape;2256;p69"/>
          <p:cNvSpPr/>
          <p:nvPr/>
        </p:nvSpPr>
        <p:spPr>
          <a:xfrm>
            <a:off x="1371600" y="6357789"/>
            <a:ext cx="2266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Downgrade floor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p69"/>
          <p:cNvSpPr/>
          <p:nvPr/>
        </p:nvSpPr>
        <p:spPr>
          <a:xfrm>
            <a:off x="3981450" y="6272064"/>
            <a:ext cx="143541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Multi-node floor: v1.27.26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8" name="Google Shape;2258;p69"/>
          <p:cNvSpPr/>
          <p:nvPr/>
        </p:nvSpPr>
        <p:spPr>
          <a:xfrm>
            <a:off x="3981450" y="6643539"/>
            <a:ext cx="13440728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Clusters on 1.28.13+ / 1.29.5+ / 1.30.2+ must never roll below v1.27.26 — the Raft snapshot storage change makes older versions unreadable.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9" name="Google Shape;2259;p69"/>
          <p:cNvSpPr/>
          <p:nvPr/>
        </p:nvSpPr>
        <p:spPr>
          <a:xfrm>
            <a:off x="952500" y="7702600"/>
            <a:ext cx="16383000" cy="1468636"/>
          </a:xfrm>
          <a:prstGeom prst="roundRect">
            <a:avLst>
              <a:gd fmla="val 103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0" name="Google Shape;2260;p69"/>
          <p:cNvSpPr/>
          <p:nvPr/>
        </p:nvSpPr>
        <p:spPr>
          <a:xfrm>
            <a:off x="1257300" y="7931200"/>
            <a:ext cx="2495550" cy="400050"/>
          </a:xfrm>
          <a:prstGeom prst="roundRect">
            <a:avLst>
              <a:gd fmla="val 50000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1" name="Google Shape;2261;p69"/>
          <p:cNvSpPr/>
          <p:nvPr/>
        </p:nvSpPr>
        <p:spPr>
          <a:xfrm>
            <a:off x="1371600" y="8016925"/>
            <a:ext cx="2266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Version skew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2" name="Google Shape;2262;p69"/>
          <p:cNvSpPr/>
          <p:nvPr/>
        </p:nvSpPr>
        <p:spPr>
          <a:xfrm>
            <a:off x="3981450" y="7931200"/>
            <a:ext cx="143541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Keep the rolling-upgrade window short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3" name="Google Shape;2263;p69"/>
          <p:cNvSpPr/>
          <p:nvPr/>
        </p:nvSpPr>
        <p:spPr>
          <a:xfrm>
            <a:off x="3981450" y="8302675"/>
            <a:ext cx="13440728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Node-to-node skew tolerance is undocumented — flagged. v1.37 moved replica traffic REST→gRPC (open inter-node gRPC ports first); v1.38 dropped per-collection async-replication settings.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B"/>
        </a:solidFill>
      </p:bgPr>
    </p:bg>
    <p:spTree>
      <p:nvGrpSpPr>
        <p:cNvPr id="2268" name="Shape 2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9" name="Google Shape;2269;p70"/>
          <p:cNvSpPr/>
          <p:nvPr/>
        </p:nvSpPr>
        <p:spPr>
          <a:xfrm>
            <a:off x="952500" y="533400"/>
            <a:ext cx="2106960" cy="381000"/>
          </a:xfrm>
          <a:prstGeom prst="roundRect">
            <a:avLst>
              <a:gd fmla="val 50000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0" name="Google Shape;2270;p70"/>
          <p:cNvSpPr/>
          <p:nvPr/>
        </p:nvSpPr>
        <p:spPr>
          <a:xfrm>
            <a:off x="1123950" y="609600"/>
            <a:ext cx="184026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APPENDIX A11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1" name="Google Shape;2271;p70"/>
          <p:cNvSpPr/>
          <p:nvPr/>
        </p:nvSpPr>
        <p:spPr>
          <a:xfrm>
            <a:off x="952500" y="990600"/>
            <a:ext cx="8644429" cy="520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241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450"/>
              <a:buFont typeface="Plus Jakarta Sans"/>
              <a:buNone/>
            </a:pPr>
            <a:r>
              <a:rPr b="1" i="0" lang="en-US" sz="34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Appendix — sources &amp; pins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2" name="Google Shape;2272;p70"/>
          <p:cNvSpPr/>
          <p:nvPr/>
        </p:nvSpPr>
        <p:spPr>
          <a:xfrm>
            <a:off x="952500" y="1548705"/>
            <a:ext cx="8644429" cy="3466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Version contract checked 2026-07-13 · Appendix · reference, not taught.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73" name="Google Shape;2273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92550" y="533400"/>
            <a:ext cx="7429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4" name="Google Shape;2274;p70"/>
          <p:cNvSpPr/>
          <p:nvPr/>
        </p:nvSpPr>
        <p:spPr>
          <a:xfrm>
            <a:off x="952500" y="2123926"/>
            <a:ext cx="8086725" cy="2422475"/>
          </a:xfrm>
          <a:prstGeom prst="roundRect">
            <a:avLst>
              <a:gd fmla="val 629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5" name="Google Shape;2275;p70"/>
          <p:cNvSpPr/>
          <p:nvPr/>
        </p:nvSpPr>
        <p:spPr>
          <a:xfrm>
            <a:off x="1238250" y="2352526"/>
            <a:ext cx="37341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851"/>
              </a:lnSpc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2850"/>
              <a:buFont typeface="Plus Jakarta Sans"/>
              <a:buNone/>
            </a:pPr>
            <a:r>
              <a:rPr b="1" i="0" lang="en-US" sz="2850" u="none" cap="none" strike="noStrike">
                <a:solidFill>
                  <a:srgbClr val="0C8C5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6" name="Google Shape;2276;p70"/>
          <p:cNvSpPr/>
          <p:nvPr/>
        </p:nvSpPr>
        <p:spPr>
          <a:xfrm>
            <a:off x="1764060" y="2352526"/>
            <a:ext cx="768835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Weaviate Database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7" name="Google Shape;2277;p70"/>
          <p:cNvSpPr/>
          <p:nvPr/>
        </p:nvSpPr>
        <p:spPr>
          <a:xfrm>
            <a:off x="1764060" y="2724001"/>
            <a:ext cx="7199098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v1.39.x (1.39.2 at check) — GitHub releases; support window 1.37–1.39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8" name="Google Shape;2278;p70"/>
          <p:cNvSpPr/>
          <p:nvPr/>
        </p:nvSpPr>
        <p:spPr>
          <a:xfrm>
            <a:off x="9248775" y="2123926"/>
            <a:ext cx="8086725" cy="2422475"/>
          </a:xfrm>
          <a:prstGeom prst="roundRect">
            <a:avLst>
              <a:gd fmla="val 629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9" name="Google Shape;2279;p70"/>
          <p:cNvSpPr/>
          <p:nvPr/>
        </p:nvSpPr>
        <p:spPr>
          <a:xfrm>
            <a:off x="9534525" y="2352526"/>
            <a:ext cx="43963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851"/>
              </a:lnSpc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2850"/>
              <a:buFont typeface="Plus Jakarta Sans"/>
              <a:buNone/>
            </a:pPr>
            <a:r>
              <a:rPr b="1" i="0" lang="en-US" sz="2850" u="none" cap="none" strike="noStrike">
                <a:solidFill>
                  <a:srgbClr val="0C8C5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0" name="Google Shape;2280;p70"/>
          <p:cNvSpPr/>
          <p:nvPr/>
        </p:nvSpPr>
        <p:spPr>
          <a:xfrm>
            <a:off x="10126563" y="2352526"/>
            <a:ext cx="761550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Python client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1" name="Google Shape;2281;p70"/>
          <p:cNvSpPr/>
          <p:nvPr/>
        </p:nvSpPr>
        <p:spPr>
          <a:xfrm>
            <a:off x="10126563" y="2724001"/>
            <a:ext cx="7130882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weaviate-client==4.23.0 — compat matrix 1.39.x ↔ 4.23.x; docs page one release stale (C-3)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2" name="Google Shape;2282;p70"/>
          <p:cNvSpPr/>
          <p:nvPr/>
        </p:nvSpPr>
        <p:spPr>
          <a:xfrm>
            <a:off x="952500" y="4755952"/>
            <a:ext cx="8086725" cy="2422624"/>
          </a:xfrm>
          <a:prstGeom prst="roundRect">
            <a:avLst>
              <a:gd fmla="val 629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3" name="Google Shape;2283;p70"/>
          <p:cNvSpPr/>
          <p:nvPr/>
        </p:nvSpPr>
        <p:spPr>
          <a:xfrm>
            <a:off x="1238250" y="4984552"/>
            <a:ext cx="44544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851"/>
              </a:lnSpc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2850"/>
              <a:buFont typeface="Plus Jakarta Sans"/>
              <a:buNone/>
            </a:pPr>
            <a:r>
              <a:rPr b="1" i="0" lang="en-US" sz="2850" u="none" cap="none" strike="noStrike">
                <a:solidFill>
                  <a:srgbClr val="0C8C5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4" name="Google Shape;2284;p70"/>
          <p:cNvSpPr/>
          <p:nvPr/>
        </p:nvSpPr>
        <p:spPr>
          <a:xfrm>
            <a:off x="1836093" y="4984552"/>
            <a:ext cx="726123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Helm chart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5" name="Google Shape;2285;p70"/>
          <p:cNvSpPr/>
          <p:nvPr/>
        </p:nvSpPr>
        <p:spPr>
          <a:xfrm>
            <a:off x="1836093" y="5356027"/>
            <a:ext cx="7261235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17.8.x — no 1.39 chart yet; labs override image.tag=1.39.x (C-6)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6" name="Google Shape;2286;p70"/>
          <p:cNvSpPr/>
          <p:nvPr/>
        </p:nvSpPr>
        <p:spPr>
          <a:xfrm>
            <a:off x="9248775" y="4755952"/>
            <a:ext cx="8086725" cy="2422624"/>
          </a:xfrm>
          <a:prstGeom prst="roundRect">
            <a:avLst>
              <a:gd fmla="val 629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7" name="Google Shape;2287;p70"/>
          <p:cNvSpPr/>
          <p:nvPr/>
        </p:nvSpPr>
        <p:spPr>
          <a:xfrm>
            <a:off x="9534525" y="4984552"/>
            <a:ext cx="4636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851"/>
              </a:lnSpc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2850"/>
              <a:buFont typeface="Plus Jakarta Sans"/>
              <a:buNone/>
            </a:pPr>
            <a:r>
              <a:rPr b="1" i="0" lang="en-US" sz="2850" u="none" cap="none" strike="noStrike">
                <a:solidFill>
                  <a:srgbClr val="0C8C5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8" name="Google Shape;2288;p70"/>
          <p:cNvSpPr/>
          <p:nvPr/>
        </p:nvSpPr>
        <p:spPr>
          <a:xfrm>
            <a:off x="10150525" y="4984552"/>
            <a:ext cx="758914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Lab platform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9" name="Google Shape;2289;p70"/>
          <p:cNvSpPr/>
          <p:nvPr/>
        </p:nvSpPr>
        <p:spPr>
          <a:xfrm>
            <a:off x="10150525" y="5356027"/>
            <a:ext cx="7106202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Python 3.12 · kind K8s 1.31.x · Prometheus / Grafana pinned in labs/platform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0" name="Google Shape;2290;p70"/>
          <p:cNvSpPr/>
          <p:nvPr/>
        </p:nvSpPr>
        <p:spPr>
          <a:xfrm>
            <a:off x="952500" y="7388126"/>
            <a:ext cx="8086725" cy="2422624"/>
          </a:xfrm>
          <a:prstGeom prst="roundRect">
            <a:avLst>
              <a:gd fmla="val 629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1" name="Google Shape;2291;p70"/>
          <p:cNvSpPr/>
          <p:nvPr/>
        </p:nvSpPr>
        <p:spPr>
          <a:xfrm>
            <a:off x="1238250" y="7616726"/>
            <a:ext cx="4461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851"/>
              </a:lnSpc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2850"/>
              <a:buFont typeface="Plus Jakarta Sans"/>
              <a:buNone/>
            </a:pPr>
            <a:r>
              <a:rPr b="1" i="0" lang="en-US" sz="2850" u="none" cap="none" strike="noStrike">
                <a:solidFill>
                  <a:srgbClr val="0C8C5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2" name="Google Shape;2292;p70"/>
          <p:cNvSpPr/>
          <p:nvPr/>
        </p:nvSpPr>
        <p:spPr>
          <a:xfrm>
            <a:off x="1836837" y="7616726"/>
            <a:ext cx="760830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Contradictions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3" name="Google Shape;2293;p70"/>
          <p:cNvSpPr/>
          <p:nvPr/>
        </p:nvSpPr>
        <p:spPr>
          <a:xfrm>
            <a:off x="1836837" y="7988201"/>
            <a:ext cx="7124137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C-1…C-8 preserved verbatim in VERSION_MATRIX.md — never papered over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4" name="Google Shape;2294;p70"/>
          <p:cNvSpPr/>
          <p:nvPr/>
        </p:nvSpPr>
        <p:spPr>
          <a:xfrm>
            <a:off x="9248775" y="7388126"/>
            <a:ext cx="8086725" cy="2422624"/>
          </a:xfrm>
          <a:prstGeom prst="roundRect">
            <a:avLst>
              <a:gd fmla="val 629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5" name="Google Shape;2295;p70"/>
          <p:cNvSpPr/>
          <p:nvPr/>
        </p:nvSpPr>
        <p:spPr>
          <a:xfrm>
            <a:off x="9534525" y="7616726"/>
            <a:ext cx="4426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851"/>
              </a:lnSpc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2850"/>
              <a:buFont typeface="Plus Jakarta Sans"/>
              <a:buNone/>
            </a:pPr>
            <a:r>
              <a:rPr b="1" i="0" lang="en-US" sz="2850" u="none" cap="none" strike="noStrike">
                <a:solidFill>
                  <a:srgbClr val="0C8C5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6" name="Google Shape;2296;p70"/>
          <p:cNvSpPr/>
          <p:nvPr/>
        </p:nvSpPr>
        <p:spPr>
          <a:xfrm>
            <a:off x="10129540" y="7616726"/>
            <a:ext cx="761223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Refresh path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7" name="Google Shape;2297;p70"/>
          <p:cNvSpPr/>
          <p:nvPr/>
        </p:nvSpPr>
        <p:spPr>
          <a:xfrm>
            <a:off x="10129540" y="7988201"/>
            <a:ext cx="7127816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Any re-pin runs maintenance/version-refresh-guide.md end-to-end before delivery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B"/>
        </a:solidFill>
      </p:bgPr>
    </p:bg>
    <p:spTree>
      <p:nvGrpSpPr>
        <p:cNvPr id="2302" name="Shape 2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p71"/>
          <p:cNvSpPr/>
          <p:nvPr/>
        </p:nvSpPr>
        <p:spPr>
          <a:xfrm>
            <a:off x="857250" y="323850"/>
            <a:ext cx="2151459" cy="381000"/>
          </a:xfrm>
          <a:prstGeom prst="roundRect">
            <a:avLst>
              <a:gd fmla="val 50000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4" name="Google Shape;2304;p71"/>
          <p:cNvSpPr/>
          <p:nvPr/>
        </p:nvSpPr>
        <p:spPr>
          <a:xfrm>
            <a:off x="1028700" y="400050"/>
            <a:ext cx="188475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APPENDIX A12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5" name="Google Shape;2305;p71"/>
          <p:cNvSpPr/>
          <p:nvPr/>
        </p:nvSpPr>
        <p:spPr>
          <a:xfrm>
            <a:off x="857250" y="781050"/>
            <a:ext cx="8726448" cy="4990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300"/>
              <a:buFont typeface="Plus Jakarta Sans"/>
              <a:buNone/>
            </a:pPr>
            <a:r>
              <a:rPr b="1" i="0" lang="en-US" sz="330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Appendix — glossary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6" name="Google Shape;2306;p71"/>
          <p:cNvSpPr/>
          <p:nvPr/>
        </p:nvSpPr>
        <p:spPr>
          <a:xfrm>
            <a:off x="857250" y="1318171"/>
            <a:ext cx="8726448" cy="3466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Appendix · reference, not taught. Terms as used in this course, at v1.38.3.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07" name="Google Shape;2307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87800" y="323850"/>
            <a:ext cx="7429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8" name="Google Shape;2308;p71"/>
          <p:cNvSpPr/>
          <p:nvPr/>
        </p:nvSpPr>
        <p:spPr>
          <a:xfrm>
            <a:off x="857250" y="1760041"/>
            <a:ext cx="8162925" cy="8241209"/>
          </a:xfrm>
          <a:prstGeom prst="roundRect">
            <a:avLst>
              <a:gd fmla="val 18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9" name="Google Shape;2309;p71"/>
          <p:cNvSpPr/>
          <p:nvPr/>
        </p:nvSpPr>
        <p:spPr>
          <a:xfrm>
            <a:off x="1143000" y="1988641"/>
            <a:ext cx="835056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0C8C5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&amp; indexing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0" name="Google Shape;2310;p71"/>
          <p:cNvSpPr/>
          <p:nvPr/>
        </p:nvSpPr>
        <p:spPr>
          <a:xfrm>
            <a:off x="1143000" y="2426791"/>
            <a:ext cx="7819168" cy="70827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897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HNSW </a:t>
            </a: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— default in-memory graph vector index </a:t>
            </a:r>
            <a:r>
              <a:rPr b="1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HFresh </a:t>
            </a: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— disk-based index; RQ-8 centroids in RAM, RQ-1 postings on disk (GA 1.38) </a:t>
            </a:r>
            <a:r>
              <a:rPr b="1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ef / efConstruction </a:t>
            </a: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— search-time vs build-time candidate breadth; build side is immutable </a:t>
            </a:r>
            <a:r>
              <a:rPr b="1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Quantization </a:t>
            </a: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— RQ / PQ / BQ / SQ compressed vectors; nothing enabled by default </a:t>
            </a:r>
            <a:r>
              <a:rPr b="1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Rescoring </a:t>
            </a: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— over-fetch compressed candidates, re-rank with full vectors </a:t>
            </a:r>
            <a:r>
              <a:rPr b="1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ACORN </a:t>
            </a: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— filter-aware HNSW traversal; default filterStrategy since 1.34 </a:t>
            </a:r>
            <a:r>
              <a:rPr b="1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Async indexing </a:t>
            </a: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— vector indexing via persistent queue; search visibility lags writes </a:t>
            </a:r>
            <a:r>
              <a:rPr b="1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Tombstone </a:t>
            </a: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— marker left by deletes; removed by background cleanup cycles </a:t>
            </a:r>
            <a:r>
              <a:rPr b="1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LSM store </a:t>
            </a: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— memtable + WAL flushed into segments, merged by compaction </a:t>
            </a:r>
            <a:r>
              <a:rPr b="1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Named vectors </a:t>
            </a: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— multiple vector spaces per collection; target_vector selects one </a:t>
            </a:r>
            <a:r>
              <a:rPr b="1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Alias </a:t>
            </a: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— atomic pointer to a collection; the zero-downtime migration lever </a:t>
            </a:r>
            <a:r>
              <a:rPr b="1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SSB </a:t>
            </a: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— server-side batching; the server paces the client (EMA backpressure)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1" name="Google Shape;2311;p71"/>
          <p:cNvSpPr/>
          <p:nvPr/>
        </p:nvSpPr>
        <p:spPr>
          <a:xfrm>
            <a:off x="9267825" y="1760041"/>
            <a:ext cx="8162925" cy="8241209"/>
          </a:xfrm>
          <a:prstGeom prst="roundRect">
            <a:avLst>
              <a:gd fmla="val 18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2" name="Google Shape;2312;p71"/>
          <p:cNvSpPr/>
          <p:nvPr/>
        </p:nvSpPr>
        <p:spPr>
          <a:xfrm>
            <a:off x="9553575" y="1988641"/>
            <a:ext cx="835056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8C59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0C8C5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Operations &amp; consistency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3" name="Google Shape;2313;p71"/>
          <p:cNvSpPr/>
          <p:nvPr/>
        </p:nvSpPr>
        <p:spPr>
          <a:xfrm>
            <a:off x="9553575" y="2426791"/>
            <a:ext cx="7819168" cy="64701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897"/>
              </a:lnSpc>
              <a:spcBef>
                <a:spcPts val="0"/>
              </a:spcBef>
              <a:spcAft>
                <a:spcPts val="0"/>
              </a:spcAft>
              <a:buClr>
                <a:srgbClr val="2F2B5E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Raft </a:t>
            </a: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— strongly consistent metadata plane; quorum of n/2+1 voters </a:t>
            </a:r>
            <a:r>
              <a:rPr b="1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Leaderless replication </a:t>
            </a: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— data plane; any node can coordinate a request </a:t>
            </a:r>
            <a:r>
              <a:rPr b="1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RF </a:t>
            </a: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— replicas per shard; 3 recommended; not mutable via collection update </a:t>
            </a:r>
            <a:r>
              <a:rPr b="1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ONE / QUORUM / ALL </a:t>
            </a: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— per-request consistency; strong when r + w &gt; n </a:t>
            </a:r>
            <a:r>
              <a:rPr b="1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Async replication </a:t>
            </a: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— hash-tree background sync; default-on for RF&gt;1 in 1.38 </a:t>
            </a:r>
            <a:r>
              <a:rPr b="1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Read repair </a:t>
            </a: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— reconciles object versions by ID at read — not ANN candidate merging </a:t>
            </a:r>
            <a:r>
              <a:rPr b="1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Shard </a:t>
            </a: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— data partition; count fixed at collection creation </a:t>
            </a:r>
            <a:r>
              <a:rPr b="1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Tenant </a:t>
            </a: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— one shard + index per tenant; ACTIVE / INACTIVE / OFFLOADED </a:t>
            </a:r>
            <a:r>
              <a:rPr b="1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Replica movement </a:t>
            </a: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— COPY / MOVE shard replicas between nodes; env-flag gated </a:t>
            </a:r>
            <a:r>
              <a:rPr b="1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RPO / RTO </a:t>
            </a: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— how much data loss vs how much downtime you can afford </a:t>
            </a:r>
            <a:r>
              <a:rPr b="1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Read-only mode </a:t>
            </a: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— writes refused at 90% disk (DISK_USE_READONLY_PERCENTAGE) </a:t>
            </a:r>
            <a:r>
              <a:rPr b="1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Golden signals </a:t>
            </a:r>
            <a:r>
              <a:rPr b="0" i="0" lang="en-US" sz="1800" u="none" cap="none" strike="noStrike">
                <a:solidFill>
                  <a:srgbClr val="2F2B5E"/>
                </a:solidFill>
                <a:latin typeface="Inter"/>
                <a:ea typeface="Inter"/>
                <a:cs typeface="Inter"/>
                <a:sym typeface="Inter"/>
              </a:rPr>
              <a:t>— latency · traffic · errors · saturation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B"/>
        </a:solidFill>
      </p:bgPr>
    </p:bg>
    <p:spTree>
      <p:nvGrpSpPr>
        <p:cNvPr id="2318" name="Shape 2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9" name="Google Shape;2319;p72"/>
          <p:cNvSpPr/>
          <p:nvPr/>
        </p:nvSpPr>
        <p:spPr>
          <a:xfrm>
            <a:off x="952500" y="495300"/>
            <a:ext cx="2154734" cy="381000"/>
          </a:xfrm>
          <a:prstGeom prst="roundRect">
            <a:avLst>
              <a:gd fmla="val 50000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0" name="Google Shape;2320;p72"/>
          <p:cNvSpPr/>
          <p:nvPr/>
        </p:nvSpPr>
        <p:spPr>
          <a:xfrm>
            <a:off x="1123950" y="571500"/>
            <a:ext cx="188803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APPENDIX A13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1" name="Google Shape;2321;p72"/>
          <p:cNvSpPr/>
          <p:nvPr/>
        </p:nvSpPr>
        <p:spPr>
          <a:xfrm>
            <a:off x="952500" y="952500"/>
            <a:ext cx="14068172" cy="520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241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450"/>
              <a:buFont typeface="Plus Jakarta Sans"/>
              <a:buNone/>
            </a:pPr>
            <a:r>
              <a:rPr b="1" i="0" lang="en-US" sz="34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Appendix — on-disk anatomy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2" name="Google Shape;2322;p72"/>
          <p:cNvSpPr/>
          <p:nvPr/>
        </p:nvSpPr>
        <p:spPr>
          <a:xfrm>
            <a:off x="952500" y="1510605"/>
            <a:ext cx="14068172" cy="3466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Appendix · reference, not taught — write path per shard; from the source course, re-verified against docs 2026-07-13.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23" name="Google Shape;2323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92550" y="495300"/>
            <a:ext cx="7429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4" name="Google Shape;2324;p72"/>
          <p:cNvSpPr/>
          <p:nvPr/>
        </p:nvSpPr>
        <p:spPr>
          <a:xfrm>
            <a:off x="952500" y="2028676"/>
            <a:ext cx="4536132" cy="1615083"/>
          </a:xfrm>
          <a:prstGeom prst="roundRect">
            <a:avLst>
              <a:gd fmla="val 8257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5" name="Google Shape;2325;p72"/>
          <p:cNvSpPr/>
          <p:nvPr/>
        </p:nvSpPr>
        <p:spPr>
          <a:xfrm>
            <a:off x="1181100" y="2516237"/>
            <a:ext cx="448682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Incoming write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6" name="Google Shape;2326;p72"/>
          <p:cNvSpPr/>
          <p:nvPr/>
        </p:nvSpPr>
        <p:spPr>
          <a:xfrm>
            <a:off x="1181100" y="2859137"/>
            <a:ext cx="4486826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C9C6E8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C9C6E8"/>
                </a:solidFill>
                <a:latin typeface="Inter"/>
                <a:ea typeface="Inter"/>
                <a:cs typeface="Inter"/>
                <a:sym typeface="Inter"/>
              </a:rPr>
              <a:t>object + vector, per shard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7" name="Google Shape;2327;p72"/>
          <p:cNvSpPr/>
          <p:nvPr/>
        </p:nvSpPr>
        <p:spPr>
          <a:xfrm>
            <a:off x="5602932" y="2798118"/>
            <a:ext cx="342900" cy="76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E9E11E"/>
              </a:gs>
              <a:gs pos="100000">
                <a:srgbClr val="0C8C59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8" name="Google Shape;2328;p72"/>
          <p:cNvSpPr/>
          <p:nvPr/>
        </p:nvSpPr>
        <p:spPr>
          <a:xfrm>
            <a:off x="6060132" y="2028676"/>
            <a:ext cx="4536132" cy="1615083"/>
          </a:xfrm>
          <a:prstGeom prst="roundRect">
            <a:avLst>
              <a:gd fmla="val 8257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9" name="Google Shape;2329;p72"/>
          <p:cNvSpPr/>
          <p:nvPr/>
        </p:nvSpPr>
        <p:spPr>
          <a:xfrm>
            <a:off x="6288732" y="2367707"/>
            <a:ext cx="448682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Memtable + WAL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0" name="Google Shape;2330;p72"/>
          <p:cNvSpPr/>
          <p:nvPr/>
        </p:nvSpPr>
        <p:spPr>
          <a:xfrm>
            <a:off x="6288732" y="2710607"/>
            <a:ext cx="4201300" cy="6322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C9C6E8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C9C6E8"/>
                </a:solidFill>
                <a:latin typeface="Inter"/>
                <a:ea typeface="Inter"/>
                <a:cs typeface="Inter"/>
                <a:sym typeface="Inter"/>
              </a:rPr>
              <a:t>append to the write-ahead log first, then flush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1" name="Google Shape;2331;p72"/>
          <p:cNvSpPr/>
          <p:nvPr/>
        </p:nvSpPr>
        <p:spPr>
          <a:xfrm>
            <a:off x="10710565" y="2798118"/>
            <a:ext cx="342900" cy="76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E9E11E"/>
              </a:gs>
              <a:gs pos="100000">
                <a:srgbClr val="0C8C59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2" name="Google Shape;2332;p72"/>
          <p:cNvSpPr/>
          <p:nvPr/>
        </p:nvSpPr>
        <p:spPr>
          <a:xfrm>
            <a:off x="11167765" y="2028676"/>
            <a:ext cx="6167735" cy="1615083"/>
          </a:xfrm>
          <a:prstGeom prst="roundRect">
            <a:avLst>
              <a:gd fmla="val 8257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3" name="Google Shape;2333;p72"/>
          <p:cNvSpPr/>
          <p:nvPr/>
        </p:nvSpPr>
        <p:spPr>
          <a:xfrm>
            <a:off x="11396365" y="2219176"/>
            <a:ext cx="628158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LSM object store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4" name="Google Shape;2334;p72"/>
          <p:cNvSpPr/>
          <p:nvPr/>
        </p:nvSpPr>
        <p:spPr>
          <a:xfrm>
            <a:off x="11396365" y="2562076"/>
            <a:ext cx="5881851" cy="9292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86"/>
              </a:lnSpc>
              <a:spcBef>
                <a:spcPts val="0"/>
              </a:spcBef>
              <a:spcAft>
                <a:spcPts val="0"/>
              </a:spcAft>
              <a:buClr>
                <a:srgbClr val="C9C6E8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C9C6E8"/>
                </a:solidFill>
                <a:latin typeface="Inter"/>
                <a:ea typeface="Inter"/>
                <a:cs typeface="Inter"/>
                <a:sym typeface="Inter"/>
              </a:rPr>
              <a:t>Flushed segments per bucket; background compaction merges them — watch lsm_active_segments and compaction metrics.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5" name="Google Shape;2335;p72"/>
          <p:cNvSpPr/>
          <p:nvPr/>
        </p:nvSpPr>
        <p:spPr>
          <a:xfrm>
            <a:off x="952500" y="3853309"/>
            <a:ext cx="8077200" cy="3991570"/>
          </a:xfrm>
          <a:prstGeom prst="roundRect">
            <a:avLst>
              <a:gd fmla="val 381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6" name="Google Shape;2336;p72"/>
          <p:cNvSpPr/>
          <p:nvPr/>
        </p:nvSpPr>
        <p:spPr>
          <a:xfrm>
            <a:off x="1238250" y="4081909"/>
            <a:ext cx="825627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Inverted index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7" name="Google Shape;2337;p72"/>
          <p:cNvSpPr/>
          <p:nvPr/>
        </p:nvSpPr>
        <p:spPr>
          <a:xfrm>
            <a:off x="1238250" y="4472434"/>
            <a:ext cx="7730871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Filterable / searchable properties as LSM buckets; BM25 uses BlockMax WAND (default since 1.30).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8" name="Google Shape;2338;p72"/>
          <p:cNvSpPr/>
          <p:nvPr/>
        </p:nvSpPr>
        <p:spPr>
          <a:xfrm>
            <a:off x="9258300" y="3853309"/>
            <a:ext cx="8077200" cy="3991570"/>
          </a:xfrm>
          <a:prstGeom prst="roundRect">
            <a:avLst>
              <a:gd fmla="val 381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9" name="Google Shape;2339;p72"/>
          <p:cNvSpPr/>
          <p:nvPr/>
        </p:nvSpPr>
        <p:spPr>
          <a:xfrm>
            <a:off x="9544050" y="4081909"/>
            <a:ext cx="825627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HNSW graph + commit log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0" name="Google Shape;2340;p72"/>
          <p:cNvSpPr/>
          <p:nvPr/>
        </p:nvSpPr>
        <p:spPr>
          <a:xfrm>
            <a:off x="9544050" y="4472434"/>
            <a:ext cx="7730871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Graph changes append to a commit log (WAL); snapshots — default-on since 1.36 — cut startup replay.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1" name="Google Shape;2341;p72"/>
          <p:cNvSpPr/>
          <p:nvPr/>
        </p:nvSpPr>
        <p:spPr>
          <a:xfrm>
            <a:off x="952500" y="8054429"/>
            <a:ext cx="16383000" cy="1794421"/>
          </a:xfrm>
          <a:prstGeom prst="roundRect">
            <a:avLst>
              <a:gd fmla="val 849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2" name="Google Shape;2342;p72"/>
          <p:cNvSpPr/>
          <p:nvPr/>
        </p:nvSpPr>
        <p:spPr>
          <a:xfrm>
            <a:off x="1238250" y="8263979"/>
            <a:ext cx="17392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What's on disk (per node)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3" name="Google Shape;2343;p72"/>
          <p:cNvSpPr/>
          <p:nvPr/>
        </p:nvSpPr>
        <p:spPr>
          <a:xfrm>
            <a:off x="1238250" y="8644979"/>
            <a:ext cx="16285845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raft/ — metadata plane state · per-shard lsm/ buckets (objects + inverted index) · vector-index commit logs and snapshots SSDs required, avoid NFS · node turns read-only at 90% disk (DISK_USE_READONLY_PERCENTAGE) </a:t>
            </a:r>
            <a:r>
              <a:rPr b="1" i="0" lang="en-US" sz="1800" u="none" cap="none" strike="noStrike">
                <a:solidFill>
                  <a:srgbClr val="0C8C59"/>
                </a:solidFill>
                <a:latin typeface="Inter"/>
                <a:ea typeface="Inter"/>
                <a:cs typeface="Inter"/>
                <a:sym typeface="Inter"/>
              </a:rPr>
              <a:t>Directory detail originates in the ~1.34-era source course — layout may vary; confirm on your version before writing runbooks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B"/>
        </a:solidFill>
      </p:bgPr>
    </p:bg>
    <p:spTree>
      <p:nvGrpSpPr>
        <p:cNvPr id="2348" name="Shape 2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9" name="Google Shape;2349;p73"/>
          <p:cNvSpPr/>
          <p:nvPr/>
        </p:nvSpPr>
        <p:spPr>
          <a:xfrm>
            <a:off x="952500" y="533400"/>
            <a:ext cx="2164407" cy="381000"/>
          </a:xfrm>
          <a:prstGeom prst="roundRect">
            <a:avLst>
              <a:gd fmla="val 50000" name="adj"/>
            </a:avLst>
          </a:prstGeom>
          <a:solidFill>
            <a:srgbClr val="130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0" name="Google Shape;2350;p73"/>
          <p:cNvSpPr/>
          <p:nvPr/>
        </p:nvSpPr>
        <p:spPr>
          <a:xfrm>
            <a:off x="1123950" y="609600"/>
            <a:ext cx="189770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6D53B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A6D5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APPENDIX A14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1" name="Google Shape;2351;p73"/>
          <p:cNvSpPr/>
          <p:nvPr/>
        </p:nvSpPr>
        <p:spPr>
          <a:xfrm>
            <a:off x="952500" y="990600"/>
            <a:ext cx="9678754" cy="520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241"/>
              </a:lnSpc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3450"/>
              <a:buFont typeface="Plus Jakarta Sans"/>
              <a:buNone/>
            </a:pPr>
            <a:r>
              <a:rPr b="1" i="0" lang="en-US" sz="3450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Appendix — pprof &amp; Go runtime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2" name="Google Shape;2352;p73"/>
          <p:cNvSpPr/>
          <p:nvPr/>
        </p:nvSpPr>
        <p:spPr>
          <a:xfrm>
            <a:off x="952500" y="1548705"/>
            <a:ext cx="9678754" cy="3466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724"/>
              </a:lnSpc>
              <a:spcBef>
                <a:spcPts val="0"/>
              </a:spcBef>
              <a:spcAft>
                <a:spcPts val="0"/>
              </a:spcAft>
              <a:buClr>
                <a:srgbClr val="55517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55517E"/>
                </a:solidFill>
                <a:latin typeface="Inter"/>
                <a:ea typeface="Inter"/>
                <a:cs typeface="Inter"/>
                <a:sym typeface="Inter"/>
              </a:rPr>
              <a:t>Appendix · reference, not taught. A support-escalation aid, not a daily dashboard.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53" name="Google Shape;2353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92550" y="533400"/>
            <a:ext cx="7429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4" name="Google Shape;2354;p73"/>
          <p:cNvSpPr/>
          <p:nvPr/>
        </p:nvSpPr>
        <p:spPr>
          <a:xfrm>
            <a:off x="952500" y="2104876"/>
            <a:ext cx="8077200" cy="3738563"/>
          </a:xfrm>
          <a:prstGeom prst="roundRect">
            <a:avLst>
              <a:gd fmla="val 40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5" name="Google Shape;2355;p73"/>
          <p:cNvSpPr/>
          <p:nvPr/>
        </p:nvSpPr>
        <p:spPr>
          <a:xfrm>
            <a:off x="1257300" y="2362051"/>
            <a:ext cx="146717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pprof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6" name="Google Shape;2356;p73"/>
          <p:cNvSpPr/>
          <p:nvPr/>
        </p:nvSpPr>
        <p:spPr>
          <a:xfrm>
            <a:off x="7223968" y="2352526"/>
            <a:ext cx="1500932" cy="342900"/>
          </a:xfrm>
          <a:prstGeom prst="roundRect">
            <a:avLst>
              <a:gd fmla="val 50000" name="adj"/>
            </a:avLst>
          </a:prstGeom>
          <a:solidFill>
            <a:srgbClr val="E7E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7" name="Google Shape;2357;p73"/>
          <p:cNvSpPr/>
          <p:nvPr/>
        </p:nvSpPr>
        <p:spPr>
          <a:xfrm>
            <a:off x="7357318" y="2409676"/>
            <a:ext cx="13843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1C4E93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C4E93"/>
                </a:solidFill>
                <a:latin typeface="Inter"/>
                <a:ea typeface="Inter"/>
                <a:cs typeface="Inter"/>
                <a:sym typeface="Inter"/>
              </a:rPr>
              <a:t>Go runtime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8" name="Google Shape;2358;p73"/>
          <p:cNvSpPr/>
          <p:nvPr/>
        </p:nvSpPr>
        <p:spPr>
          <a:xfrm>
            <a:off x="1257300" y="2790676"/>
            <a:ext cx="7691628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Weaviate is a Go binary: pprof exposes heap, CPU and goroutine profiles straight from the runtime — the deep evidence support asks for when metrics alone can’t explain memory or latency.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9" name="Google Shape;2359;p73"/>
          <p:cNvSpPr/>
          <p:nvPr/>
        </p:nvSpPr>
        <p:spPr>
          <a:xfrm>
            <a:off x="9258300" y="2104876"/>
            <a:ext cx="8077200" cy="3738563"/>
          </a:xfrm>
          <a:prstGeom prst="roundRect">
            <a:avLst>
              <a:gd fmla="val 40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0" name="Google Shape;2360;p73"/>
          <p:cNvSpPr/>
          <p:nvPr/>
        </p:nvSpPr>
        <p:spPr>
          <a:xfrm>
            <a:off x="9563100" y="2362051"/>
            <a:ext cx="143492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Enabling it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1" name="Google Shape;2361;p73"/>
          <p:cNvSpPr/>
          <p:nvPr/>
        </p:nvSpPr>
        <p:spPr>
          <a:xfrm>
            <a:off x="15596146" y="2352526"/>
            <a:ext cx="1434554" cy="342900"/>
          </a:xfrm>
          <a:prstGeom prst="roundRect">
            <a:avLst>
              <a:gd fmla="val 50000" name="adj"/>
            </a:avLst>
          </a:prstGeom>
          <a:solidFill>
            <a:srgbClr val="FDF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2" name="Google Shape;2362;p73"/>
          <p:cNvSpPr/>
          <p:nvPr/>
        </p:nvSpPr>
        <p:spPr>
          <a:xfrm>
            <a:off x="15729496" y="2409676"/>
            <a:ext cx="13113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6B5E0E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6B5E0E"/>
                </a:solidFill>
                <a:latin typeface="Inter"/>
                <a:ea typeface="Inter"/>
                <a:cs typeface="Inter"/>
                <a:sym typeface="Inter"/>
              </a:rPr>
              <a:t>verify first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3" name="Google Shape;2363;p73"/>
          <p:cNvSpPr/>
          <p:nvPr/>
        </p:nvSpPr>
        <p:spPr>
          <a:xfrm>
            <a:off x="9563100" y="2790676"/>
            <a:ext cx="7691628" cy="1363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Profiling is available unless GO_PROFILING_DISABLE is set — mind the polarity: the flag disables it (the source course printed it backwards). Confirm flag and port on your version before an incident. 1.39 requires DEBUG_ENDPOINTS_ENABLED=true for pprof.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4" name="Google Shape;2364;p73"/>
          <p:cNvSpPr/>
          <p:nvPr/>
        </p:nvSpPr>
        <p:spPr>
          <a:xfrm>
            <a:off x="952500" y="6072039"/>
            <a:ext cx="8077200" cy="3738711"/>
          </a:xfrm>
          <a:prstGeom prst="roundRect">
            <a:avLst>
              <a:gd fmla="val 40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5" name="Google Shape;2365;p73"/>
          <p:cNvSpPr/>
          <p:nvPr/>
        </p:nvSpPr>
        <p:spPr>
          <a:xfrm>
            <a:off x="1257300" y="6329214"/>
            <a:ext cx="224365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to capture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6" name="Google Shape;2366;p73"/>
          <p:cNvSpPr/>
          <p:nvPr/>
        </p:nvSpPr>
        <p:spPr>
          <a:xfrm>
            <a:off x="6919764" y="6319689"/>
            <a:ext cx="1805136" cy="342900"/>
          </a:xfrm>
          <a:prstGeom prst="roundRect">
            <a:avLst>
              <a:gd fmla="val 50000" name="adj"/>
            </a:avLst>
          </a:prstGeom>
          <a:solidFill>
            <a:srgbClr val="ED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7" name="Google Shape;2367;p73"/>
          <p:cNvSpPr/>
          <p:nvPr/>
        </p:nvSpPr>
        <p:spPr>
          <a:xfrm>
            <a:off x="7053114" y="6376839"/>
            <a:ext cx="1718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2B5E12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B5E12"/>
                </a:solidFill>
                <a:latin typeface="Inter"/>
                <a:ea typeface="Inter"/>
                <a:cs typeface="Inter"/>
                <a:sym typeface="Inter"/>
              </a:rPr>
              <a:t>evidence first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8" name="Google Shape;2368;p73"/>
          <p:cNvSpPr/>
          <p:nvPr/>
        </p:nvSpPr>
        <p:spPr>
          <a:xfrm>
            <a:off x="1257300" y="6757839"/>
            <a:ext cx="7691628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Heap profile during memory growth, CPU profile during latency spikes, goroutine dump on stalls — plus go_memstats_* metrics; those aren’t enumerated in docs, so verify on a live /metrics scrape.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9" name="Google Shape;2369;p73"/>
          <p:cNvSpPr/>
          <p:nvPr/>
        </p:nvSpPr>
        <p:spPr>
          <a:xfrm>
            <a:off x="9258300" y="6072039"/>
            <a:ext cx="8077200" cy="3738711"/>
          </a:xfrm>
          <a:prstGeom prst="roundRect">
            <a:avLst>
              <a:gd fmla="val 40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0" name="Google Shape;2370;p73"/>
          <p:cNvSpPr/>
          <p:nvPr/>
        </p:nvSpPr>
        <p:spPr>
          <a:xfrm>
            <a:off x="9563100" y="6329214"/>
            <a:ext cx="292093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0C49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130C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Handing it to support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1" name="Google Shape;2371;p73"/>
          <p:cNvSpPr/>
          <p:nvPr/>
        </p:nvSpPr>
        <p:spPr>
          <a:xfrm>
            <a:off x="15214402" y="6319689"/>
            <a:ext cx="1816298" cy="342900"/>
          </a:xfrm>
          <a:prstGeom prst="roundRect">
            <a:avLst>
              <a:gd fmla="val 50000" name="adj"/>
            </a:avLst>
          </a:prstGeom>
          <a:solidFill>
            <a:srgbClr val="FDF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2" name="Google Shape;2372;p73"/>
          <p:cNvSpPr/>
          <p:nvPr/>
        </p:nvSpPr>
        <p:spPr>
          <a:xfrm>
            <a:off x="15347752" y="6376839"/>
            <a:ext cx="173122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6B5E0E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6B5E0E"/>
                </a:solidFill>
                <a:latin typeface="Inter"/>
                <a:ea typeface="Inter"/>
                <a:cs typeface="Inter"/>
                <a:sym typeface="Inter"/>
              </a:rPr>
              <a:t>escalation aid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3" name="Google Shape;2373;p73"/>
          <p:cNvSpPr/>
          <p:nvPr/>
        </p:nvSpPr>
        <p:spPr>
          <a:xfrm>
            <a:off x="9563100" y="6757839"/>
            <a:ext cx="7691628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67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4A4675"/>
                </a:solidFill>
                <a:latin typeface="Inter"/>
                <a:ea typeface="Inter"/>
                <a:cs typeface="Inter"/>
                <a:sym typeface="Inter"/>
              </a:rPr>
              <a:t>Record timestamp, node, version and workload with each profile, and attach them to the escalation package. Profiles carry call stacks and allocation stats — review per your data policy before sharing.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